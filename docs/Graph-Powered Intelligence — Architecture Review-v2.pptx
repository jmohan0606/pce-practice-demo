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Two systems, one approach. The demo later is what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their pain, not our features. The last card sets up the two questions carried through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value pillars. Trust is visually separated because it is the one an ARB cares about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shifts. The two trigger models at the bottom are the architectural judgement call worth pausing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slide. Everything before is the problem; everything after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real questions from our use cases. Every red box states a documented PostgreSQL limitation, not an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case. The last line matters — we are not attacking PostgreSQL, we are scoping it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 and verifiable. The dates-as-text finding lands on proc_dt, which is how the whole platform attributes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is one-way; the platform reads and writes its own store. Memory and generated knowledge have no upstream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Pre-empting the four objections. Raising them ourselves is stronger than defending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cards. Vector storage and enterprise controls are here because the ARB will ask both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rows, every one chosen because it maps to something this workload actually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capabilities, then one worked example showing four of them composing into a single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regulator question on the left is the one that lands hardest with a bank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1,800x comparison answers "will this hold in production"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either on a vendor pricing page or one division away from it. The derivation is shown so it can be checked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levers. The architectural point at the bottom is the one that compounds.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2x2 is the whole point. Two systems, same shape, shared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GOES HERE. Show rule extraction from a document, then a complex conversational question with drill-down.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layers. The dark band at the bottom is deliberate — the graph is the foundation everything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agents. The boundary line at the bottom is the anti-hallucination argument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twice. The knowledge layer is outlined because that is where TigerGraph sits and where this approval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about what exists. The Now column is the credibility; the North Star column is the ambition.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Detailed AWS design is a separate session. This slide establishes that production was designed for, not retrofitted.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the missing resolver tier, not GraphQL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Shown if the ARB asks how context is assembled.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This is the slide that answers "how do you know the AI is not making numbers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1.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403C"/>
              </a:gs>
              <a:gs pos="62000">
                <a:srgbClr val="0B1622"/>
              </a:gs>
            </a:gsLst>
            <a:path path="circle">
              <a:fillToRect l="78000" t="28000" r="22000" b="72000"/>
            </a:path>
          </a:gradFill>
          <a:ln/>
        </p:spPr>
      </p:sp>
      <p:pic>
        <p:nvPicPr>
          <p:cNvPr id="3" name="Image 0" descr="Graph network motif">    </p:cNvPr>
          <p:cNvPicPr>
            <a:picLocks noChangeAspect="1"/>
          </p:cNvPicPr>
          <p:nvPr/>
        </p:nvPicPr>
        <p:blipFill>
          <a:blip r:embed="rId1"/>
          <a:srcRect l="0" r="0" t="0" b="0"/>
          <a:stretch/>
        </p:blipFill>
        <p:spPr>
          <a:xfrm>
            <a:off x="7493000" y="762000"/>
            <a:ext cx="3937000" cy="3937000"/>
          </a:xfrm>
          <a:prstGeom prst="rect">
            <a:avLst/>
          </a:prstGeom>
        </p:spPr>
      </p:pic>
      <p:sp>
        <p:nvSpPr>
          <p:cNvPr id="4" name="Text 1"/>
          <p:cNvSpPr/>
          <p:nvPr/>
        </p:nvSpPr>
        <p:spPr>
          <a:xfrm>
            <a:off x="812800" y="7620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0897A"/>
                </a:solidFill>
                <a:latin typeface="Space Grotesk" pitchFamily="34" charset="0"/>
                <a:ea typeface="Space Grotesk" pitchFamily="34" charset="-122"/>
                <a:cs typeface="Space Grotesk" pitchFamily="34" charset="-120"/>
              </a:rPr>
              <a:t>ARCHITECTURE REVIEW BOARD</a:t>
            </a:r>
            <a:endParaRPr lang="en-US" sz="1200" dirty="0"/>
          </a:p>
        </p:txBody>
      </p:sp>
      <p:sp>
        <p:nvSpPr>
          <p:cNvPr id="5" name="Text 2"/>
          <p:cNvSpPr/>
          <p:nvPr/>
        </p:nvSpPr>
        <p:spPr>
          <a:xfrm>
            <a:off x="812800" y="1153160"/>
            <a:ext cx="7063740" cy="1293336"/>
          </a:xfrm>
          <a:prstGeom prst="rect">
            <a:avLst/>
          </a:prstGeom>
          <a:noFill/>
          <a:ln/>
        </p:spPr>
        <p:txBody>
          <a:bodyPr wrap="square" lIns="0" tIns="0" rIns="0" bIns="0" rtlCol="0" anchor="t">
            <a:normAutofit/>
          </a:bodyPr>
          <a:lstStyle/>
          <a:p>
            <a:pPr algn="l" indent="0" marL="0">
              <a:lnSpc>
                <a:spcPts val="4992"/>
              </a:lnSpc>
              <a:buNone/>
            </a:pPr>
            <a:r>
              <a:rPr lang="en-US" sz="4800" b="1" dirty="0">
                <a:solidFill>
                  <a:srgbClr val="F5F8F9"/>
                </a:solidFill>
                <a:latin typeface="Space Grotesk" pitchFamily="34" charset="0"/>
                <a:ea typeface="Space Grotesk" pitchFamily="34" charset="-122"/>
                <a:cs typeface="Space Grotesk" pitchFamily="34" charset="-120"/>
              </a:rPr>
              <a:t>Graph-Powered Intelligence</a:t>
            </a:r>
            <a:endParaRPr lang="en-US" sz="4800" dirty="0"/>
          </a:p>
        </p:txBody>
      </p:sp>
      <p:sp>
        <p:nvSpPr>
          <p:cNvPr id="6" name="Text 3"/>
          <p:cNvSpPr/>
          <p:nvPr/>
        </p:nvSpPr>
        <p:spPr>
          <a:xfrm>
            <a:off x="812800" y="2598896"/>
            <a:ext cx="6540500" cy="755650"/>
          </a:xfrm>
          <a:prstGeom prst="rect">
            <a:avLst/>
          </a:prstGeom>
          <a:noFill/>
          <a:ln/>
        </p:spPr>
        <p:txBody>
          <a:bodyPr wrap="square" lIns="0" tIns="0" rIns="0" bIns="0" rtlCol="0" anchor="t">
            <a:normAutofit/>
          </a:bodyPr>
          <a:lstStyle/>
          <a:p>
            <a:pPr algn="l" indent="0" marL="0">
              <a:lnSpc>
                <a:spcPts val="2875"/>
              </a:lnSpc>
              <a:buNone/>
            </a:pPr>
            <a:r>
              <a:rPr lang="en-US" sz="2300" dirty="0">
                <a:solidFill>
                  <a:srgbClr val="9FB3BE"/>
                </a:solidFill>
                <a:latin typeface="Instrument Serif" pitchFamily="34" charset="0"/>
                <a:ea typeface="Instrument Serif" pitchFamily="34" charset="-122"/>
                <a:cs typeface="Instrument Serif" pitchFamily="34" charset="-120"/>
              </a:rPr>
              <a:t>Two systems. One architectural approach.</a:t>
            </a:r>
            <a:endParaRPr lang="en-US" sz="2300" dirty="0"/>
          </a:p>
          <a:p>
            <a:pPr algn="l" indent="0" marL="0">
              <a:lnSpc>
                <a:spcPts val="2875"/>
              </a:lnSpc>
              <a:buNone/>
            </a:pPr>
            <a:r>
              <a:rPr lang="en-US" sz="2300" dirty="0">
                <a:solidFill>
                  <a:srgbClr val="9FB3BE"/>
                </a:solidFill>
                <a:latin typeface="Instrument Serif" pitchFamily="34" charset="0"/>
                <a:ea typeface="Instrument Serif" pitchFamily="34" charset="-122"/>
                <a:cs typeface="Instrument Serif" pitchFamily="34" charset="-120"/>
              </a:rPr>
              <a:t>Built on TigerGraph.</a:t>
            </a:r>
            <a:endParaRPr lang="en-US" sz="2300" dirty="0"/>
          </a:p>
        </p:txBody>
      </p:sp>
      <p:sp>
        <p:nvSpPr>
          <p:cNvPr id="7" name="Text 4"/>
          <p:cNvSpPr/>
          <p:nvPr/>
        </p:nvSpPr>
        <p:spPr>
          <a:xfrm>
            <a:off x="815975" y="5553075"/>
            <a:ext cx="2092484" cy="412750"/>
          </a:xfrm>
          <a:prstGeom prst="roundRect">
            <a:avLst>
              <a:gd name="adj" fmla="val 50000"/>
            </a:avLst>
          </a:prstGeom>
          <a:solidFill>
            <a:srgbClr val="142639"/>
          </a:solidFill>
          <a:ln w="6350">
            <a:solidFill>
              <a:srgbClr val="1E6F63"/>
            </a:solidFill>
            <a:prstDash val="solid"/>
          </a:ln>
        </p:spPr>
        <p:txBody>
          <a:bodyPr wrap="none" lIns="0" tIns="0" rIns="0" bIns="0" rtlCol="0" anchor="ctr">
            <a:normAutofit/>
          </a:bodyPr>
          <a:lstStyle/>
          <a:p>
            <a:pPr algn="ctr" indent="0" marL="0">
              <a:lnSpc>
                <a:spcPts val="1820"/>
              </a:lnSpc>
              <a:buNone/>
            </a:pPr>
            <a:r>
              <a:rPr lang="en-US" sz="1300" dirty="0">
                <a:solidFill>
                  <a:srgbClr val="CFE3DC"/>
                </a:solidFill>
                <a:latin typeface="Inter" pitchFamily="34" charset="0"/>
                <a:ea typeface="Inter" pitchFamily="34" charset="-122"/>
                <a:cs typeface="Inter" pitchFamily="34" charset="-120"/>
              </a:rPr>
              <a:t>Practice Management</a:t>
            </a:r>
            <a:endParaRPr lang="en-US" sz="1300" dirty="0"/>
          </a:p>
        </p:txBody>
      </p:sp>
      <p:sp>
        <p:nvSpPr>
          <p:cNvPr id="8" name="Text 5"/>
          <p:cNvSpPr/>
          <p:nvPr/>
        </p:nvSpPr>
        <p:spPr>
          <a:xfrm>
            <a:off x="3041809" y="5553075"/>
            <a:ext cx="1054973" cy="412750"/>
          </a:xfrm>
          <a:prstGeom prst="roundRect">
            <a:avLst>
              <a:gd name="adj" fmla="val 50000"/>
            </a:avLst>
          </a:prstGeom>
          <a:solidFill>
            <a:srgbClr val="142639"/>
          </a:solidFill>
          <a:ln w="6350">
            <a:solidFill>
              <a:srgbClr val="1E6F63"/>
            </a:solidFill>
            <a:prstDash val="solid"/>
          </a:ln>
        </p:spPr>
        <p:txBody>
          <a:bodyPr wrap="none" lIns="0" tIns="0" rIns="0" bIns="0" rtlCol="0" anchor="ctr">
            <a:normAutofit/>
          </a:bodyPr>
          <a:lstStyle/>
          <a:p>
            <a:pPr algn="ctr" indent="0" marL="0">
              <a:lnSpc>
                <a:spcPts val="1820"/>
              </a:lnSpc>
              <a:buNone/>
            </a:pPr>
            <a:r>
              <a:rPr lang="en-US" sz="1300" dirty="0">
                <a:solidFill>
                  <a:srgbClr val="CFE3DC"/>
                </a:solidFill>
                <a:latin typeface="Inter" pitchFamily="34" charset="0"/>
                <a:ea typeface="Inter" pitchFamily="34" charset="-122"/>
                <a:cs typeface="Inter" pitchFamily="34" charset="-120"/>
              </a:rPr>
              <a:t>iPerform</a:t>
            </a:r>
            <a:endParaRPr lang="en-US" sz="1300" dirty="0"/>
          </a:p>
        </p:txBody>
      </p:sp>
      <p:sp>
        <p:nvSpPr>
          <p:cNvPr id="9" name="Text 6"/>
          <p:cNvSpPr/>
          <p:nvPr/>
        </p:nvSpPr>
        <p:spPr>
          <a:xfrm>
            <a:off x="4230132" y="5553075"/>
            <a:ext cx="3397647" cy="412750"/>
          </a:xfrm>
          <a:prstGeom prst="roundRect">
            <a:avLst>
              <a:gd name="adj" fmla="val 50000"/>
            </a:avLst>
          </a:prstGeom>
          <a:solidFill>
            <a:srgbClr val="2A1B0C"/>
          </a:solidFill>
          <a:ln w="6350">
            <a:solidFill>
              <a:srgbClr val="8A5518"/>
            </a:solidFill>
            <a:prstDash val="solid"/>
          </a:ln>
        </p:spPr>
        <p:txBody>
          <a:bodyPr wrap="none" lIns="0" tIns="0" rIns="0" bIns="0" rtlCol="0" anchor="ctr">
            <a:normAutofit/>
          </a:bodyPr>
          <a:lstStyle/>
          <a:p>
            <a:pPr algn="ctr" indent="0" marL="0">
              <a:lnSpc>
                <a:spcPts val="1820"/>
              </a:lnSpc>
              <a:buNone/>
            </a:pPr>
            <a:r>
              <a:rPr lang="en-US" sz="1300" dirty="0">
                <a:solidFill>
                  <a:srgbClr val="F0C99A"/>
                </a:solidFill>
                <a:latin typeface="Inter" pitchFamily="34" charset="0"/>
                <a:ea typeface="Inter" pitchFamily="34" charset="-122"/>
                <a:cs typeface="Inter" pitchFamily="34" charset="-120"/>
              </a:rPr>
              <a:t>40M vertices · 104M edges · live today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660400"/>
            <a:ext cx="10883392" cy="430530"/>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0B1622"/>
                </a:solidFill>
                <a:latin typeface="Space Grotesk" pitchFamily="34" charset="0"/>
                <a:ea typeface="Space Grotesk" pitchFamily="34" charset="-122"/>
                <a:cs typeface="Space Grotesk" pitchFamily="34" charset="-120"/>
              </a:rPr>
              <a:t>The problems we are solving</a:t>
            </a:r>
            <a:endParaRPr lang="en-US" sz="2900" dirty="0"/>
          </a:p>
        </p:txBody>
      </p:sp>
      <p:sp>
        <p:nvSpPr>
          <p:cNvPr id="3" name="Shape 1"/>
          <p:cNvSpPr/>
          <p:nvPr/>
        </p:nvSpPr>
        <p:spPr>
          <a:xfrm>
            <a:off x="815975" y="1233805"/>
            <a:ext cx="3439557" cy="1166019"/>
          </a:xfrm>
          <a:prstGeom prst="roundRect">
            <a:avLst>
              <a:gd name="adj" fmla="val 7352"/>
            </a:avLst>
          </a:prstGeom>
          <a:solidFill>
            <a:srgbClr val="FFFFFF"/>
          </a:solidFill>
          <a:ln w="6350">
            <a:solidFill>
              <a:srgbClr val="DFE6EA"/>
            </a:solidFill>
            <a:prstDash val="solid"/>
          </a:ln>
        </p:spPr>
      </p:sp>
      <p:pic>
        <p:nvPicPr>
          <p:cNvPr id="4" name="Image 0" descr="Lock">    </p:cNvPr>
          <p:cNvPicPr>
            <a:picLocks noChangeAspect="1"/>
          </p:cNvPicPr>
          <p:nvPr/>
        </p:nvPicPr>
        <p:blipFill>
          <a:blip r:embed="rId1"/>
          <a:srcRect l="0" r="0" t="0" b="0"/>
          <a:stretch/>
        </p:blipFill>
        <p:spPr>
          <a:xfrm>
            <a:off x="970280" y="1388110"/>
            <a:ext cx="190500" cy="190500"/>
          </a:xfrm>
          <a:prstGeom prst="rect">
            <a:avLst/>
          </a:prstGeom>
        </p:spPr>
      </p:pic>
      <p:sp>
        <p:nvSpPr>
          <p:cNvPr id="5" name="Text 2"/>
          <p:cNvSpPr/>
          <p:nvPr/>
        </p:nvSpPr>
        <p:spPr>
          <a:xfrm>
            <a:off x="1236980" y="1388428"/>
            <a:ext cx="1688465"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0B1622"/>
                </a:solidFill>
                <a:latin typeface="Space Grotesk" pitchFamily="34" charset="0"/>
                <a:ea typeface="Space Grotesk" pitchFamily="34" charset="-122"/>
                <a:cs typeface="Space Grotesk" pitchFamily="34" charset="-120"/>
              </a:rPr>
              <a:t>Logic locked in code</a:t>
            </a:r>
            <a:endParaRPr lang="en-US" sz="1300" dirty="0"/>
          </a:p>
        </p:txBody>
      </p:sp>
      <p:sp>
        <p:nvSpPr>
          <p:cNvPr id="6" name="Text 3"/>
          <p:cNvSpPr/>
          <p:nvPr/>
        </p:nvSpPr>
        <p:spPr>
          <a:xfrm>
            <a:off x="970280" y="1642110"/>
            <a:ext cx="3224875" cy="628809"/>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Rules hardcoded in SQL</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Only technology can change them</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Each change is a release</a:t>
            </a:r>
            <a:endParaRPr lang="en-US" sz="1200" dirty="0"/>
          </a:p>
        </p:txBody>
      </p:sp>
      <p:sp>
        <p:nvSpPr>
          <p:cNvPr id="7" name="Shape 4"/>
          <p:cNvSpPr/>
          <p:nvPr/>
        </p:nvSpPr>
        <p:spPr>
          <a:xfrm>
            <a:off x="4376182" y="1233805"/>
            <a:ext cx="3439557" cy="1166019"/>
          </a:xfrm>
          <a:prstGeom prst="roundRect">
            <a:avLst>
              <a:gd name="adj" fmla="val 7352"/>
            </a:avLst>
          </a:prstGeom>
          <a:solidFill>
            <a:srgbClr val="FFFFFF"/>
          </a:solidFill>
          <a:ln w="6350">
            <a:solidFill>
              <a:srgbClr val="DFE6EA"/>
            </a:solidFill>
            <a:prstDash val="solid"/>
          </a:ln>
        </p:spPr>
      </p:sp>
      <p:pic>
        <p:nvPicPr>
          <p:cNvPr id="8" name="Image 1" descr="Clock">    </p:cNvPr>
          <p:cNvPicPr>
            <a:picLocks noChangeAspect="1"/>
          </p:cNvPicPr>
          <p:nvPr/>
        </p:nvPicPr>
        <p:blipFill>
          <a:blip r:embed="rId2"/>
          <a:srcRect l="0" r="0" t="0" b="0"/>
          <a:stretch/>
        </p:blipFill>
        <p:spPr>
          <a:xfrm>
            <a:off x="4530487" y="1388110"/>
            <a:ext cx="190500" cy="190500"/>
          </a:xfrm>
          <a:prstGeom prst="rect">
            <a:avLst/>
          </a:prstGeom>
        </p:spPr>
      </p:pic>
      <p:sp>
        <p:nvSpPr>
          <p:cNvPr id="9" name="Text 5"/>
          <p:cNvSpPr/>
          <p:nvPr/>
        </p:nvSpPr>
        <p:spPr>
          <a:xfrm>
            <a:off x="4797187" y="1388428"/>
            <a:ext cx="1671399"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0B1622"/>
                </a:solidFill>
                <a:latin typeface="Space Grotesk" pitchFamily="34" charset="0"/>
                <a:ea typeface="Space Grotesk" pitchFamily="34" charset="-122"/>
                <a:cs typeface="Space Grotesk" pitchFamily="34" charset="-120"/>
              </a:rPr>
              <a:t>Inquiries take weeks</a:t>
            </a:r>
            <a:endParaRPr lang="en-US" sz="1300" dirty="0"/>
          </a:p>
        </p:txBody>
      </p:sp>
      <p:sp>
        <p:nvSpPr>
          <p:cNvPr id="10" name="Text 6"/>
          <p:cNvSpPr/>
          <p:nvPr/>
        </p:nvSpPr>
        <p:spPr>
          <a:xfrm>
            <a:off x="4530487" y="1642110"/>
            <a:ext cx="3224875" cy="628809"/>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Manual investigation</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Spans several systems</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Depends on who knows</a:t>
            </a:r>
            <a:endParaRPr lang="en-US" sz="1200" dirty="0"/>
          </a:p>
        </p:txBody>
      </p:sp>
      <p:sp>
        <p:nvSpPr>
          <p:cNvPr id="11" name="Shape 7"/>
          <p:cNvSpPr/>
          <p:nvPr/>
        </p:nvSpPr>
        <p:spPr>
          <a:xfrm>
            <a:off x="7936389" y="1233805"/>
            <a:ext cx="3439557" cy="1166019"/>
          </a:xfrm>
          <a:prstGeom prst="roundRect">
            <a:avLst>
              <a:gd name="adj" fmla="val 7352"/>
            </a:avLst>
          </a:prstGeom>
          <a:solidFill>
            <a:srgbClr val="FFFFFF"/>
          </a:solidFill>
          <a:ln w="6350">
            <a:solidFill>
              <a:srgbClr val="DFE6EA"/>
            </a:solidFill>
            <a:prstDash val="solid"/>
          </a:ln>
        </p:spPr>
      </p:sp>
      <p:pic>
        <p:nvPicPr>
          <p:cNvPr id="12" name="Image 2" descr="Chart">    </p:cNvPr>
          <p:cNvPicPr>
            <a:picLocks noChangeAspect="1"/>
          </p:cNvPicPr>
          <p:nvPr/>
        </p:nvPicPr>
        <p:blipFill>
          <a:blip r:embed="rId3"/>
          <a:srcRect l="0" r="0" t="0" b="0"/>
          <a:stretch/>
        </p:blipFill>
        <p:spPr>
          <a:xfrm>
            <a:off x="8090694" y="1388110"/>
            <a:ext cx="190500" cy="190500"/>
          </a:xfrm>
          <a:prstGeom prst="rect">
            <a:avLst/>
          </a:prstGeom>
        </p:spPr>
      </p:pic>
      <p:sp>
        <p:nvSpPr>
          <p:cNvPr id="13" name="Text 8"/>
          <p:cNvSpPr/>
          <p:nvPr/>
        </p:nvSpPr>
        <p:spPr>
          <a:xfrm>
            <a:off x="8357394" y="1388428"/>
            <a:ext cx="1871237"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0B1622"/>
                </a:solidFill>
                <a:latin typeface="Space Grotesk" pitchFamily="34" charset="0"/>
                <a:ea typeface="Space Grotesk" pitchFamily="34" charset="-122"/>
                <a:cs typeface="Space Grotesk" pitchFamily="34" charset="-120"/>
              </a:rPr>
              <a:t>Revenue not explained</a:t>
            </a:r>
            <a:endParaRPr lang="en-US" sz="1300" dirty="0"/>
          </a:p>
        </p:txBody>
      </p:sp>
      <p:sp>
        <p:nvSpPr>
          <p:cNvPr id="14" name="Text 9"/>
          <p:cNvSpPr/>
          <p:nvPr/>
        </p:nvSpPr>
        <p:spPr>
          <a:xfrm>
            <a:off x="8090694" y="1642110"/>
            <a:ext cx="3224875" cy="628809"/>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Dashboards show movement</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Not where money flowed</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Explained by hand, after</a:t>
            </a:r>
            <a:endParaRPr lang="en-US" sz="1200" dirty="0"/>
          </a:p>
        </p:txBody>
      </p:sp>
      <p:sp>
        <p:nvSpPr>
          <p:cNvPr id="15" name="Shape 10"/>
          <p:cNvSpPr/>
          <p:nvPr/>
        </p:nvSpPr>
        <p:spPr>
          <a:xfrm>
            <a:off x="815975" y="2520474"/>
            <a:ext cx="3439557" cy="1845627"/>
          </a:xfrm>
          <a:prstGeom prst="roundRect">
            <a:avLst>
              <a:gd name="adj" fmla="val 4645"/>
            </a:avLst>
          </a:prstGeom>
          <a:solidFill>
            <a:srgbClr val="FFFFFF"/>
          </a:solidFill>
          <a:ln w="6350">
            <a:solidFill>
              <a:srgbClr val="DFE6EA"/>
            </a:solidFill>
            <a:prstDash val="solid"/>
          </a:ln>
        </p:spPr>
      </p:sp>
      <p:pic>
        <p:nvPicPr>
          <p:cNvPr id="16" name="Image 3" descr="Users">    </p:cNvPr>
          <p:cNvPicPr>
            <a:picLocks noChangeAspect="1"/>
          </p:cNvPicPr>
          <p:nvPr/>
        </p:nvPicPr>
        <p:blipFill>
          <a:blip r:embed="rId4"/>
          <a:srcRect l="0" r="0" t="0" b="0"/>
          <a:stretch/>
        </p:blipFill>
        <p:spPr>
          <a:xfrm>
            <a:off x="970280" y="2674779"/>
            <a:ext cx="190500" cy="190500"/>
          </a:xfrm>
          <a:prstGeom prst="rect">
            <a:avLst/>
          </a:prstGeom>
        </p:spPr>
      </p:pic>
      <p:sp>
        <p:nvSpPr>
          <p:cNvPr id="17" name="Text 11"/>
          <p:cNvSpPr/>
          <p:nvPr/>
        </p:nvSpPr>
        <p:spPr>
          <a:xfrm>
            <a:off x="1236980" y="2675096"/>
            <a:ext cx="1610836"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0B1622"/>
                </a:solidFill>
                <a:latin typeface="Space Grotesk" pitchFamily="34" charset="0"/>
                <a:ea typeface="Space Grotesk" pitchFamily="34" charset="-122"/>
                <a:cs typeface="Space Grotesk" pitchFamily="34" charset="-120"/>
              </a:rPr>
              <a:t>Users under-served</a:t>
            </a:r>
            <a:endParaRPr lang="en-US" sz="1300" dirty="0"/>
          </a:p>
        </p:txBody>
      </p:sp>
      <p:sp>
        <p:nvSpPr>
          <p:cNvPr id="18" name="Text 12"/>
          <p:cNvSpPr/>
          <p:nvPr/>
        </p:nvSpPr>
        <p:spPr>
          <a:xfrm>
            <a:off x="970280" y="2928779"/>
            <a:ext cx="3224875" cy="829945"/>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Advisors, MDWs, DDWs, RDWs</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No peer comparison</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No next best action</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Opportunities unsurfaced</a:t>
            </a:r>
            <a:endParaRPr lang="en-US" sz="1200" dirty="0"/>
          </a:p>
        </p:txBody>
      </p:sp>
      <p:sp>
        <p:nvSpPr>
          <p:cNvPr id="19" name="Shape 13"/>
          <p:cNvSpPr/>
          <p:nvPr/>
        </p:nvSpPr>
        <p:spPr>
          <a:xfrm>
            <a:off x="4376182" y="2520474"/>
            <a:ext cx="3439557" cy="1845627"/>
          </a:xfrm>
          <a:prstGeom prst="roundRect">
            <a:avLst>
              <a:gd name="adj" fmla="val 4645"/>
            </a:avLst>
          </a:prstGeom>
          <a:solidFill>
            <a:srgbClr val="FFFFFF"/>
          </a:solidFill>
          <a:ln w="6350">
            <a:solidFill>
              <a:srgbClr val="DFE6EA"/>
            </a:solidFill>
            <a:prstDash val="solid"/>
          </a:ln>
        </p:spPr>
      </p:sp>
      <p:pic>
        <p:nvPicPr>
          <p:cNvPr id="20" name="Image 4" descr="Search">    </p:cNvPr>
          <p:cNvPicPr>
            <a:picLocks noChangeAspect="1"/>
          </p:cNvPicPr>
          <p:nvPr/>
        </p:nvPicPr>
        <p:blipFill>
          <a:blip r:embed="rId5"/>
          <a:srcRect l="0" r="0" t="0" b="0"/>
          <a:stretch/>
        </p:blipFill>
        <p:spPr>
          <a:xfrm>
            <a:off x="4530487" y="2674779"/>
            <a:ext cx="190500" cy="190500"/>
          </a:xfrm>
          <a:prstGeom prst="rect">
            <a:avLst/>
          </a:prstGeom>
        </p:spPr>
      </p:pic>
      <p:sp>
        <p:nvSpPr>
          <p:cNvPr id="21" name="Text 14"/>
          <p:cNvSpPr/>
          <p:nvPr/>
        </p:nvSpPr>
        <p:spPr>
          <a:xfrm>
            <a:off x="4797187" y="2675096"/>
            <a:ext cx="2016273"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0B1622"/>
                </a:solidFill>
                <a:latin typeface="Space Grotesk" pitchFamily="34" charset="0"/>
                <a:ea typeface="Space Grotesk" pitchFamily="34" charset="-122"/>
                <a:cs typeface="Space Grotesk" pitchFamily="34" charset="-120"/>
              </a:rPr>
              <a:t>Questions unanswerable</a:t>
            </a:r>
            <a:endParaRPr lang="en-US" sz="1300" dirty="0"/>
          </a:p>
        </p:txBody>
      </p:sp>
      <p:sp>
        <p:nvSpPr>
          <p:cNvPr id="22" name="Text 15"/>
          <p:cNvSpPr/>
          <p:nvPr/>
        </p:nvSpPr>
        <p:spPr>
          <a:xfrm>
            <a:off x="4530487" y="2928779"/>
            <a:ext cx="3224875" cy="628809"/>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Real questions span time</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And relationships</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Rows cannot answer them</a:t>
            </a:r>
            <a:endParaRPr lang="en-US" sz="1200" dirty="0"/>
          </a:p>
        </p:txBody>
      </p:sp>
      <p:sp>
        <p:nvSpPr>
          <p:cNvPr id="23" name="Shape 16"/>
          <p:cNvSpPr/>
          <p:nvPr/>
        </p:nvSpPr>
        <p:spPr>
          <a:xfrm>
            <a:off x="7933214" y="2517299"/>
            <a:ext cx="3445907" cy="1851977"/>
          </a:xfrm>
          <a:prstGeom prst="roundRect">
            <a:avLst>
              <a:gd name="adj" fmla="val 4800"/>
            </a:avLst>
          </a:prstGeom>
          <a:solidFill>
            <a:srgbClr val="0B1622"/>
          </a:solidFill>
          <a:ln/>
        </p:spPr>
      </p:sp>
      <p:sp>
        <p:nvSpPr>
          <p:cNvPr id="24" name="Text 17"/>
          <p:cNvSpPr/>
          <p:nvPr/>
        </p:nvSpPr>
        <p:spPr>
          <a:xfrm>
            <a:off x="8085614" y="2669699"/>
            <a:ext cx="32353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0897A"/>
                </a:solidFill>
                <a:latin typeface="Space Grotesk" pitchFamily="34" charset="0"/>
                <a:ea typeface="Space Grotesk" pitchFamily="34" charset="-122"/>
                <a:cs typeface="Space Grotesk" pitchFamily="34" charset="-120"/>
              </a:rPr>
              <a:t>TWO QUESTIONS WE CARRY</a:t>
            </a:r>
            <a:endParaRPr lang="en-US" sz="1200" dirty="0"/>
          </a:p>
        </p:txBody>
      </p:sp>
      <p:sp>
        <p:nvSpPr>
          <p:cNvPr id="25" name="Text 18"/>
          <p:cNvSpPr/>
          <p:nvPr/>
        </p:nvSpPr>
        <p:spPr>
          <a:xfrm>
            <a:off x="8085614" y="2946559"/>
            <a:ext cx="3235340" cy="427673"/>
          </a:xfrm>
          <a:prstGeom prst="rect">
            <a:avLst/>
          </a:prstGeom>
          <a:noFill/>
          <a:ln/>
        </p:spPr>
        <p:txBody>
          <a:bodyPr wrap="square" lIns="0" tIns="0" rIns="0" bIns="0" rtlCol="0" anchor="t">
            <a:normAutofit/>
          </a:bodyPr>
          <a:lstStyle/>
          <a:p>
            <a:pPr algn="l" indent="0" marL="0">
              <a:lnSpc>
                <a:spcPts val="1584"/>
              </a:lnSpc>
              <a:buNone/>
            </a:pPr>
            <a:r>
              <a:rPr lang="en-US" sz="1200" b="1" dirty="0">
                <a:solidFill>
                  <a:srgbClr val="CFE3DC"/>
                </a:solidFill>
                <a:latin typeface="Inter" pitchFamily="34" charset="0"/>
                <a:ea typeface="Inter" pitchFamily="34" charset="-122"/>
                <a:cs typeface="Inter" pitchFamily="34" charset="-120"/>
              </a:rPr>
              <a:t>Simple.</a:t>
            </a:r>
            <a:r>
              <a:rPr lang="en-US" sz="1200" dirty="0">
                <a:solidFill>
                  <a:srgbClr val="CFE3DC"/>
                </a:solidFill>
                <a:latin typeface="Inter" pitchFamily="34" charset="0"/>
                <a:ea typeface="Inter" pitchFamily="34" charset="-122"/>
                <a:cs typeface="Inter" pitchFamily="34" charset="-120"/>
              </a:rPr>
              <a:t> How did my revenue change last month, and why?</a:t>
            </a:r>
            <a:endParaRPr lang="en-US" sz="1200" dirty="0"/>
          </a:p>
        </p:txBody>
      </p:sp>
      <p:sp>
        <p:nvSpPr>
          <p:cNvPr id="26" name="Text 19"/>
          <p:cNvSpPr/>
          <p:nvPr/>
        </p:nvSpPr>
        <p:spPr>
          <a:xfrm>
            <a:off x="8085614" y="3412331"/>
            <a:ext cx="3235340" cy="829945"/>
          </a:xfrm>
          <a:prstGeom prst="rect">
            <a:avLst/>
          </a:prstGeom>
          <a:noFill/>
          <a:ln/>
        </p:spPr>
        <p:txBody>
          <a:bodyPr wrap="square" lIns="0" tIns="0" rIns="0" bIns="0" rtlCol="0" anchor="t">
            <a:normAutofit/>
          </a:bodyPr>
          <a:lstStyle/>
          <a:p>
            <a:pPr algn="l" indent="0" marL="0">
              <a:lnSpc>
                <a:spcPts val="1584"/>
              </a:lnSpc>
              <a:buNone/>
            </a:pPr>
            <a:r>
              <a:rPr lang="en-US" sz="1200" b="1" dirty="0">
                <a:solidFill>
                  <a:srgbClr val="CFE3DC"/>
                </a:solidFill>
                <a:latin typeface="Inter" pitchFamily="34" charset="0"/>
                <a:ea typeface="Inter" pitchFamily="34" charset="-122"/>
                <a:cs typeface="Inter" pitchFamily="34" charset="-120"/>
              </a:rPr>
              <a:t>Complex.</a:t>
            </a:r>
            <a:r>
              <a:rPr lang="en-US" sz="1200" dirty="0">
                <a:solidFill>
                  <a:srgbClr val="CFE3DC"/>
                </a:solidFill>
                <a:latin typeface="Inter" pitchFamily="34" charset="0"/>
                <a:ea typeface="Inter" pitchFamily="34" charset="-122"/>
                <a:cs typeface="Inter" pitchFamily="34" charset="-120"/>
              </a:rPr>
              <a:t> Which households hold this product, were recommended it while their goal was conservative, and by which advisor?</a:t>
            </a:r>
            <a:endParaRPr lang="en-US" sz="1200" dirty="0"/>
          </a:p>
        </p:txBody>
      </p:sp>
      <p:sp>
        <p:nvSpPr>
          <p:cNvPr id="27" name="Text 20"/>
          <p:cNvSpPr/>
          <p:nvPr/>
        </p:nvSpPr>
        <p:spPr>
          <a:xfrm>
            <a:off x="812800" y="62280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897A"/>
                </a:solidFill>
                <a:latin typeface="Space Grotesk" pitchFamily="34" charset="0"/>
                <a:ea typeface="Space Grotesk" pitchFamily="34" charset="-122"/>
                <a:cs typeface="Space Grotesk" pitchFamily="34" charset="-120"/>
              </a:rPr>
              <a:t>Every one of these is a relationship problem. That is what determines the architecture.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1622"/>
                </a:solidFill>
                <a:latin typeface="Space Grotesk" pitchFamily="34" charset="0"/>
                <a:ea typeface="Space Grotesk" pitchFamily="34" charset="-122"/>
                <a:cs typeface="Space Grotesk" pitchFamily="34" charset="-120"/>
              </a:rPr>
              <a:t>The value we deliver</a:t>
            </a:r>
            <a:endParaRPr lang="en-US" sz="3200" dirty="0"/>
          </a:p>
        </p:txBody>
      </p:sp>
      <p:sp>
        <p:nvSpPr>
          <p:cNvPr id="3" name="Shape 1"/>
          <p:cNvSpPr/>
          <p:nvPr/>
        </p:nvSpPr>
        <p:spPr>
          <a:xfrm>
            <a:off x="812800" y="1475741"/>
            <a:ext cx="2021840" cy="2468880"/>
          </a:xfrm>
          <a:prstGeom prst="roundRect">
            <a:avLst>
              <a:gd name="adj" fmla="val 4397"/>
            </a:avLst>
          </a:prstGeom>
          <a:solidFill>
            <a:srgbClr val="F5F8F9"/>
          </a:solidFill>
          <a:ln/>
        </p:spPr>
      </p:sp>
      <p:pic>
        <p:nvPicPr>
          <p:cNvPr id="4" name="Image 0" descr="Lightning">    </p:cNvPr>
          <p:cNvPicPr>
            <a:picLocks noChangeAspect="1"/>
          </p:cNvPicPr>
          <p:nvPr/>
        </p:nvPicPr>
        <p:blipFill>
          <a:blip r:embed="rId1"/>
          <a:srcRect l="0" r="0" t="0" b="0"/>
          <a:stretch/>
        </p:blipFill>
        <p:spPr>
          <a:xfrm>
            <a:off x="990600" y="1653541"/>
            <a:ext cx="228600" cy="228600"/>
          </a:xfrm>
          <a:prstGeom prst="rect">
            <a:avLst/>
          </a:prstGeom>
        </p:spPr>
      </p:pic>
      <p:sp>
        <p:nvSpPr>
          <p:cNvPr id="5" name="Text 2"/>
          <p:cNvSpPr/>
          <p:nvPr/>
        </p:nvSpPr>
        <p:spPr>
          <a:xfrm>
            <a:off x="990600" y="1971041"/>
            <a:ext cx="17170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Speed to market</a:t>
            </a:r>
            <a:endParaRPr lang="en-US" sz="1400" dirty="0"/>
          </a:p>
        </p:txBody>
      </p:sp>
      <p:sp>
        <p:nvSpPr>
          <p:cNvPr id="6" name="Text 3"/>
          <p:cNvSpPr/>
          <p:nvPr/>
        </p:nvSpPr>
        <p:spPr>
          <a:xfrm>
            <a:off x="990600" y="2273300"/>
            <a:ext cx="1717040" cy="1092200"/>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Document to executable in days</a:t>
            </a:r>
            <a:endParaRPr lang="en-US" sz="1200" dirty="0"/>
          </a:p>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Business authors in plain language</a:t>
            </a:r>
            <a:endParaRPr lang="en-US" sz="1200" dirty="0"/>
          </a:p>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No release cycle</a:t>
            </a:r>
            <a:endParaRPr lang="en-US" sz="1200" dirty="0"/>
          </a:p>
        </p:txBody>
      </p:sp>
      <p:sp>
        <p:nvSpPr>
          <p:cNvPr id="7" name="Shape 4"/>
          <p:cNvSpPr/>
          <p:nvPr/>
        </p:nvSpPr>
        <p:spPr>
          <a:xfrm>
            <a:off x="2948940" y="1475741"/>
            <a:ext cx="2021840" cy="2468880"/>
          </a:xfrm>
          <a:prstGeom prst="roundRect">
            <a:avLst>
              <a:gd name="adj" fmla="val 4397"/>
            </a:avLst>
          </a:prstGeom>
          <a:solidFill>
            <a:srgbClr val="F5F8F9"/>
          </a:solidFill>
          <a:ln/>
        </p:spPr>
      </p:sp>
      <p:pic>
        <p:nvPicPr>
          <p:cNvPr id="8" name="Image 1" descr="Clock">    </p:cNvPr>
          <p:cNvPicPr>
            <a:picLocks noChangeAspect="1"/>
          </p:cNvPicPr>
          <p:nvPr/>
        </p:nvPicPr>
        <p:blipFill>
          <a:blip r:embed="rId2"/>
          <a:srcRect l="0" r="0" t="0" b="0"/>
          <a:stretch/>
        </p:blipFill>
        <p:spPr>
          <a:xfrm>
            <a:off x="3126740" y="1653541"/>
            <a:ext cx="228600" cy="228600"/>
          </a:xfrm>
          <a:prstGeom prst="rect">
            <a:avLst/>
          </a:prstGeom>
        </p:spPr>
      </p:pic>
      <p:sp>
        <p:nvSpPr>
          <p:cNvPr id="9" name="Text 5"/>
          <p:cNvSpPr/>
          <p:nvPr/>
        </p:nvSpPr>
        <p:spPr>
          <a:xfrm>
            <a:off x="3126740" y="1971041"/>
            <a:ext cx="17170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Time to resolution</a:t>
            </a:r>
            <a:endParaRPr lang="en-US" sz="1400" dirty="0"/>
          </a:p>
        </p:txBody>
      </p:sp>
      <p:sp>
        <p:nvSpPr>
          <p:cNvPr id="10" name="Text 6"/>
          <p:cNvSpPr/>
          <p:nvPr/>
        </p:nvSpPr>
        <p:spPr>
          <a:xfrm>
            <a:off x="3126740" y="2273300"/>
            <a:ext cx="1717040" cy="878840"/>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Ask, do not query</a:t>
            </a:r>
            <a:endParaRPr lang="en-US" sz="1200" dirty="0"/>
          </a:p>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Answers with evidence attached</a:t>
            </a:r>
            <a:endParaRPr lang="en-US" sz="1200" dirty="0"/>
          </a:p>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Minutes, not weeks</a:t>
            </a:r>
            <a:endParaRPr lang="en-US" sz="1200" dirty="0"/>
          </a:p>
        </p:txBody>
      </p:sp>
      <p:sp>
        <p:nvSpPr>
          <p:cNvPr id="11" name="Shape 7"/>
          <p:cNvSpPr/>
          <p:nvPr/>
        </p:nvSpPr>
        <p:spPr>
          <a:xfrm>
            <a:off x="5085080" y="1475741"/>
            <a:ext cx="2021840" cy="2468880"/>
          </a:xfrm>
          <a:prstGeom prst="roundRect">
            <a:avLst>
              <a:gd name="adj" fmla="val 4397"/>
            </a:avLst>
          </a:prstGeom>
          <a:solidFill>
            <a:srgbClr val="F5F8F9"/>
          </a:solidFill>
          <a:ln/>
        </p:spPr>
      </p:sp>
      <p:pic>
        <p:nvPicPr>
          <p:cNvPr id="12" name="Image 2" descr="Users">    </p:cNvPr>
          <p:cNvPicPr>
            <a:picLocks noChangeAspect="1"/>
          </p:cNvPicPr>
          <p:nvPr/>
        </p:nvPicPr>
        <p:blipFill>
          <a:blip r:embed="rId3"/>
          <a:srcRect l="0" r="0" t="0" b="0"/>
          <a:stretch/>
        </p:blipFill>
        <p:spPr>
          <a:xfrm>
            <a:off x="5262880" y="1653541"/>
            <a:ext cx="228600" cy="228600"/>
          </a:xfrm>
          <a:prstGeom prst="rect">
            <a:avLst/>
          </a:prstGeom>
        </p:spPr>
      </p:pic>
      <p:sp>
        <p:nvSpPr>
          <p:cNvPr id="13" name="Text 8"/>
          <p:cNvSpPr/>
          <p:nvPr/>
        </p:nvSpPr>
        <p:spPr>
          <a:xfrm>
            <a:off x="5262880" y="1971041"/>
            <a:ext cx="17170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Productivity</a:t>
            </a:r>
            <a:endParaRPr lang="en-US" sz="1400" dirty="0"/>
          </a:p>
        </p:txBody>
      </p:sp>
      <p:sp>
        <p:nvSpPr>
          <p:cNvPr id="14" name="Text 9"/>
          <p:cNvSpPr/>
          <p:nvPr/>
        </p:nvSpPr>
        <p:spPr>
          <a:xfrm>
            <a:off x="5262880" y="2273300"/>
            <a:ext cx="1717040" cy="1305560"/>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Movement explained monthly</a:t>
            </a:r>
            <a:endParaRPr lang="en-US" sz="1200" dirty="0"/>
          </a:p>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Coaching on own numbers</a:t>
            </a:r>
            <a:endParaRPr lang="en-US" sz="1200" dirty="0"/>
          </a:p>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Acting, not searching</a:t>
            </a:r>
            <a:endParaRPr lang="en-US" sz="1200" dirty="0"/>
          </a:p>
        </p:txBody>
      </p:sp>
      <p:sp>
        <p:nvSpPr>
          <p:cNvPr id="15" name="Shape 10"/>
          <p:cNvSpPr/>
          <p:nvPr/>
        </p:nvSpPr>
        <p:spPr>
          <a:xfrm>
            <a:off x="7221220" y="1475741"/>
            <a:ext cx="2021840" cy="2468880"/>
          </a:xfrm>
          <a:prstGeom prst="roundRect">
            <a:avLst>
              <a:gd name="adj" fmla="val 4397"/>
            </a:avLst>
          </a:prstGeom>
          <a:solidFill>
            <a:srgbClr val="F5F8F9"/>
          </a:solidFill>
          <a:ln/>
        </p:spPr>
      </p:sp>
      <p:pic>
        <p:nvPicPr>
          <p:cNvPr id="16" name="Image 3" descr="Activity">    </p:cNvPr>
          <p:cNvPicPr>
            <a:picLocks noChangeAspect="1"/>
          </p:cNvPicPr>
          <p:nvPr/>
        </p:nvPicPr>
        <p:blipFill>
          <a:blip r:embed="rId4"/>
          <a:srcRect l="0" r="0" t="0" b="0"/>
          <a:stretch/>
        </p:blipFill>
        <p:spPr>
          <a:xfrm>
            <a:off x="7399020" y="1653541"/>
            <a:ext cx="228600" cy="228600"/>
          </a:xfrm>
          <a:prstGeom prst="rect">
            <a:avLst/>
          </a:prstGeom>
        </p:spPr>
      </p:pic>
      <p:sp>
        <p:nvSpPr>
          <p:cNvPr id="17" name="Text 11"/>
          <p:cNvSpPr/>
          <p:nvPr/>
        </p:nvSpPr>
        <p:spPr>
          <a:xfrm>
            <a:off x="7399020" y="1971041"/>
            <a:ext cx="1717040"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Revenue and control</a:t>
            </a:r>
            <a:endParaRPr lang="en-US" sz="1400" dirty="0"/>
          </a:p>
        </p:txBody>
      </p:sp>
      <p:sp>
        <p:nvSpPr>
          <p:cNvPr id="18" name="Text 12"/>
          <p:cNvSpPr/>
          <p:nvPr/>
        </p:nvSpPr>
        <p:spPr>
          <a:xfrm>
            <a:off x="7399020" y="2486661"/>
            <a:ext cx="1717040" cy="1305560"/>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Opportunities surfaced</a:t>
            </a:r>
            <a:endParaRPr lang="en-US" sz="1200" dirty="0"/>
          </a:p>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Exceptions caught pre-payout</a:t>
            </a:r>
            <a:endParaRPr lang="en-US" sz="1200" dirty="0"/>
          </a:p>
          <a:p>
            <a:pPr algn="l" marL="182880" indent="-148844">
              <a:lnSpc>
                <a:spcPts val="1680"/>
              </a:lnSpc>
              <a:buSzPct val="100000"/>
              <a:buChar char="•"/>
            </a:pPr>
            <a:r>
              <a:rPr lang="en-US" sz="1200" dirty="0">
                <a:solidFill>
                  <a:srgbClr val="5C6B7A"/>
                </a:solidFill>
                <a:latin typeface="Inter" pitchFamily="34" charset="0"/>
                <a:ea typeface="Inter" pitchFamily="34" charset="-122"/>
                <a:cs typeface="Inter" pitchFamily="34" charset="-120"/>
              </a:rPr>
              <a:t>One consistent reading</a:t>
            </a:r>
            <a:endParaRPr lang="en-US" sz="1200" dirty="0"/>
          </a:p>
        </p:txBody>
      </p:sp>
      <p:sp>
        <p:nvSpPr>
          <p:cNvPr id="19" name="Shape 13"/>
          <p:cNvSpPr/>
          <p:nvPr/>
        </p:nvSpPr>
        <p:spPr>
          <a:xfrm>
            <a:off x="9360535" y="1478916"/>
            <a:ext cx="2015490" cy="2462530"/>
          </a:xfrm>
          <a:prstGeom prst="roundRect">
            <a:avLst>
              <a:gd name="adj" fmla="val 4253"/>
            </a:avLst>
          </a:prstGeom>
          <a:solidFill>
            <a:srgbClr val="E4F1EE"/>
          </a:solidFill>
          <a:ln w="6350">
            <a:solidFill>
              <a:srgbClr val="10897A"/>
            </a:solidFill>
            <a:prstDash val="solid"/>
          </a:ln>
        </p:spPr>
      </p:sp>
      <p:pic>
        <p:nvPicPr>
          <p:cNvPr id="20" name="Image 4" descr="Verified">    </p:cNvPr>
          <p:cNvPicPr>
            <a:picLocks noChangeAspect="1"/>
          </p:cNvPicPr>
          <p:nvPr/>
        </p:nvPicPr>
        <p:blipFill>
          <a:blip r:embed="rId5"/>
          <a:srcRect l="0" r="0" t="0" b="0"/>
          <a:stretch/>
        </p:blipFill>
        <p:spPr>
          <a:xfrm>
            <a:off x="9540240" y="1658620"/>
            <a:ext cx="228600" cy="228600"/>
          </a:xfrm>
          <a:prstGeom prst="rect">
            <a:avLst/>
          </a:prstGeom>
        </p:spPr>
      </p:pic>
      <p:sp>
        <p:nvSpPr>
          <p:cNvPr id="21" name="Text 14"/>
          <p:cNvSpPr/>
          <p:nvPr/>
        </p:nvSpPr>
        <p:spPr>
          <a:xfrm>
            <a:off x="9540240" y="1976120"/>
            <a:ext cx="170688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4F46"/>
                </a:solidFill>
                <a:latin typeface="Space Grotesk" pitchFamily="34" charset="0"/>
                <a:ea typeface="Space Grotesk" pitchFamily="34" charset="-122"/>
                <a:cs typeface="Space Grotesk" pitchFamily="34" charset="-120"/>
              </a:rPr>
              <a:t>Trust</a:t>
            </a:r>
            <a:endParaRPr lang="en-US" sz="1400" dirty="0"/>
          </a:p>
        </p:txBody>
      </p:sp>
      <p:sp>
        <p:nvSpPr>
          <p:cNvPr id="22" name="Text 15"/>
          <p:cNvSpPr/>
          <p:nvPr/>
        </p:nvSpPr>
        <p:spPr>
          <a:xfrm>
            <a:off x="9540240" y="2278380"/>
            <a:ext cx="1706880" cy="1092200"/>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2F5C55"/>
                </a:solidFill>
                <a:latin typeface="Inter" pitchFamily="34" charset="0"/>
                <a:ea typeface="Inter" pitchFamily="34" charset="-122"/>
                <a:cs typeface="Inter" pitchFamily="34" charset="-120"/>
              </a:rPr>
              <a:t>Every number from the graph</a:t>
            </a:r>
            <a:endParaRPr lang="en-US" sz="1200" dirty="0"/>
          </a:p>
          <a:p>
            <a:pPr algn="l" marL="182880" indent="-148844">
              <a:lnSpc>
                <a:spcPts val="1680"/>
              </a:lnSpc>
              <a:buSzPct val="100000"/>
              <a:buChar char="•"/>
            </a:pPr>
            <a:r>
              <a:rPr lang="en-US" sz="1200" dirty="0">
                <a:solidFill>
                  <a:srgbClr val="2F5C55"/>
                </a:solidFill>
                <a:latin typeface="Inter" pitchFamily="34" charset="0"/>
                <a:ea typeface="Inter" pitchFamily="34" charset="-122"/>
                <a:cs typeface="Inter" pitchFamily="34" charset="-120"/>
              </a:rPr>
              <a:t>Every claim cited</a:t>
            </a:r>
            <a:endParaRPr lang="en-US" sz="1200" dirty="0"/>
          </a:p>
          <a:p>
            <a:pPr algn="l" marL="182880" indent="-148844">
              <a:lnSpc>
                <a:spcPts val="1680"/>
              </a:lnSpc>
              <a:buSzPct val="100000"/>
              <a:buChar char="•"/>
            </a:pPr>
            <a:r>
              <a:rPr lang="en-US" sz="1200" dirty="0">
                <a:solidFill>
                  <a:srgbClr val="2F5C55"/>
                </a:solidFill>
                <a:latin typeface="Inter" pitchFamily="34" charset="0"/>
                <a:ea typeface="Inter" pitchFamily="34" charset="-122"/>
                <a:cs typeface="Inter" pitchFamily="34" charset="-120"/>
              </a:rPr>
              <a:t>Every run replayable</a:t>
            </a:r>
            <a:endParaRPr lang="en-US" sz="1200" dirty="0"/>
          </a:p>
        </p:txBody>
      </p:sp>
      <p:sp>
        <p:nvSpPr>
          <p:cNvPr id="23" name="Shape 16"/>
          <p:cNvSpPr/>
          <p:nvPr/>
        </p:nvSpPr>
        <p:spPr>
          <a:xfrm>
            <a:off x="812800" y="4160520"/>
            <a:ext cx="10566400" cy="1212850"/>
          </a:xfrm>
          <a:prstGeom prst="roundRect">
            <a:avLst>
              <a:gd name="adj" fmla="val 7330"/>
            </a:avLst>
          </a:prstGeom>
          <a:solidFill>
            <a:srgbClr val="0B1622"/>
          </a:solidFill>
          <a:ln/>
        </p:spPr>
      </p:sp>
      <p:pic>
        <p:nvPicPr>
          <p:cNvPr id="24" name="Image 5" descr="rect">    </p:cNvPr>
          <p:cNvPicPr>
            <a:picLocks noChangeAspect="1"/>
          </p:cNvPicPr>
          <p:nvPr/>
        </p:nvPicPr>
        <p:blipFill>
          <a:blip r:embed="rId6"/>
          <a:srcRect l="0" r="0" t="0" b="0"/>
          <a:stretch/>
        </p:blipFill>
        <p:spPr>
          <a:xfrm>
            <a:off x="1092200" y="4525645"/>
            <a:ext cx="50800" cy="482600"/>
          </a:xfrm>
          <a:prstGeom prst="rect">
            <a:avLst/>
          </a:prstGeom>
        </p:spPr>
      </p:pic>
      <p:sp>
        <p:nvSpPr>
          <p:cNvPr id="25" name="Text 17"/>
          <p:cNvSpPr/>
          <p:nvPr/>
        </p:nvSpPr>
        <p:spPr>
          <a:xfrm>
            <a:off x="1371600" y="4401820"/>
            <a:ext cx="3875246" cy="755650"/>
          </a:xfrm>
          <a:prstGeom prst="rect">
            <a:avLst/>
          </a:prstGeom>
          <a:noFill/>
          <a:ln/>
        </p:spPr>
        <p:txBody>
          <a:bodyPr wrap="square" lIns="0" tIns="0" rIns="0" bIns="0" rtlCol="0" anchor="t">
            <a:normAutofit/>
          </a:bodyPr>
          <a:lstStyle/>
          <a:p>
            <a:pPr algn="l" indent="0" marL="0">
              <a:lnSpc>
                <a:spcPts val="2875"/>
              </a:lnSpc>
              <a:buNone/>
            </a:pPr>
            <a:r>
              <a:rPr lang="en-US" sz="2300" dirty="0">
                <a:solidFill>
                  <a:srgbClr val="F5F8F9"/>
                </a:solidFill>
                <a:latin typeface="Instrument Serif" pitchFamily="34" charset="0"/>
                <a:ea typeface="Instrument Serif" pitchFamily="34" charset="-122"/>
                <a:cs typeface="Instrument Serif" pitchFamily="34" charset="-120"/>
              </a:rPr>
              <a:t>The value is not that it is intelligent.</a:t>
            </a:r>
            <a:endParaRPr lang="en-US" sz="2300" dirty="0"/>
          </a:p>
          <a:p>
            <a:pPr algn="l" indent="0" marL="0">
              <a:lnSpc>
                <a:spcPts val="2875"/>
              </a:lnSpc>
              <a:buNone/>
            </a:pPr>
            <a:r>
              <a:rPr lang="en-US" sz="2300" dirty="0">
                <a:solidFill>
                  <a:srgbClr val="F5F8F9"/>
                </a:solidFill>
                <a:latin typeface="Instrument Serif" pitchFamily="34" charset="0"/>
                <a:ea typeface="Instrument Serif" pitchFamily="34" charset="-122"/>
                <a:cs typeface="Instrument Serif" pitchFamily="34" charset="-120"/>
              </a:rPr>
              <a:t>It is that it is intelligent </a:t>
            </a:r>
            <a:r>
              <a:rPr lang="en-US" sz="2300" i="1" dirty="0">
                <a:solidFill>
                  <a:srgbClr val="F5F8F9"/>
                </a:solidFill>
                <a:latin typeface="Instrument Serif" pitchFamily="34" charset="0"/>
                <a:ea typeface="Instrument Serif" pitchFamily="34" charset="-122"/>
                <a:cs typeface="Instrument Serif" pitchFamily="34" charset="-120"/>
              </a:rPr>
              <a:t>and provable</a:t>
            </a:r>
            <a:r>
              <a:rPr lang="en-US" sz="2300" dirty="0">
                <a:solidFill>
                  <a:srgbClr val="F5F8F9"/>
                </a:solidFill>
                <a:latin typeface="Instrument Serif" pitchFamily="34" charset="0"/>
                <a:ea typeface="Instrument Serif" pitchFamily="34" charset="-122"/>
                <a:cs typeface="Instrument Serif" pitchFamily="34" charset="-120"/>
              </a:rPr>
              <a:t>.</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660400"/>
            <a:ext cx="10883392" cy="430530"/>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0B1622"/>
                </a:solidFill>
                <a:latin typeface="Space Grotesk" pitchFamily="34" charset="0"/>
                <a:ea typeface="Space Grotesk" pitchFamily="34" charset="-122"/>
                <a:cs typeface="Space Grotesk" pitchFamily="34" charset="-120"/>
              </a:rPr>
              <a:t>How we solve it</a:t>
            </a:r>
            <a:endParaRPr lang="en-US" sz="2900" dirty="0"/>
          </a:p>
        </p:txBody>
      </p:sp>
      <p:sp>
        <p:nvSpPr>
          <p:cNvPr id="3" name="Shape 1"/>
          <p:cNvSpPr/>
          <p:nvPr/>
        </p:nvSpPr>
        <p:spPr>
          <a:xfrm>
            <a:off x="815975" y="1208405"/>
            <a:ext cx="5219700" cy="1687195"/>
          </a:xfrm>
          <a:prstGeom prst="roundRect">
            <a:avLst>
              <a:gd name="adj" fmla="val 5081"/>
            </a:avLst>
          </a:prstGeom>
          <a:solidFill>
            <a:srgbClr val="FFFFFF"/>
          </a:solidFill>
          <a:ln w="6350">
            <a:solidFill>
              <a:srgbClr val="DFE6EA"/>
            </a:solidFill>
            <a:prstDash val="solid"/>
          </a:ln>
        </p:spPr>
      </p:sp>
      <p:pic>
        <p:nvPicPr>
          <p:cNvPr id="4" name="Image 0" descr="ellipse">    </p:cNvPr>
          <p:cNvPicPr>
            <a:picLocks noChangeAspect="1"/>
          </p:cNvPicPr>
          <p:nvPr/>
        </p:nvPicPr>
        <p:blipFill>
          <a:blip r:embed="rId1"/>
          <a:srcRect l="0" r="0" t="0" b="0"/>
          <a:stretch/>
        </p:blipFill>
        <p:spPr>
          <a:xfrm>
            <a:off x="982980" y="1367791"/>
            <a:ext cx="203200" cy="203200"/>
          </a:xfrm>
          <a:prstGeom prst="rect">
            <a:avLst/>
          </a:prstGeom>
        </p:spPr>
      </p:pic>
      <p:sp>
        <p:nvSpPr>
          <p:cNvPr id="5" name="Text 2"/>
          <p:cNvSpPr/>
          <p:nvPr/>
        </p:nvSpPr>
        <p:spPr>
          <a:xfrm>
            <a:off x="1262380" y="1362711"/>
            <a:ext cx="294592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Rules move from code to content</a:t>
            </a:r>
            <a:endParaRPr lang="en-US" sz="1400" dirty="0"/>
          </a:p>
        </p:txBody>
      </p:sp>
      <p:sp>
        <p:nvSpPr>
          <p:cNvPr id="6" name="Text 3"/>
          <p:cNvSpPr/>
          <p:nvPr/>
        </p:nvSpPr>
        <p:spPr>
          <a:xfrm>
            <a:off x="982980" y="1639570"/>
            <a:ext cx="5032261" cy="637858"/>
          </a:xfrm>
          <a:prstGeom prst="rect">
            <a:avLst/>
          </a:prstGeom>
          <a:noFill/>
          <a:ln/>
        </p:spPr>
        <p:txBody>
          <a:bodyPr wrap="square" lIns="0" tIns="0" rIns="0" bIns="0" rtlCol="0" anchor="t">
            <a:normAutofit/>
          </a:bodyPr>
          <a:lstStyle/>
          <a:p>
            <a:pPr algn="l" marL="182880" indent="-148844">
              <a:lnSpc>
                <a:spcPts val="1608"/>
              </a:lnSpc>
              <a:buSzPct val="100000"/>
              <a:buChar char="•"/>
            </a:pPr>
            <a:r>
              <a:rPr lang="en-US" sz="1200" b="1" dirty="0">
                <a:solidFill>
                  <a:srgbClr val="5C6B7A"/>
                </a:solidFill>
                <a:latin typeface="Inter" pitchFamily="34" charset="0"/>
                <a:ea typeface="Inter" pitchFamily="34" charset="-122"/>
                <a:cs typeface="Inter" pitchFamily="34" charset="-120"/>
              </a:rPr>
              <a:t>From documents</a:t>
            </a:r>
            <a:r>
              <a:rPr lang="en-US" sz="1200" dirty="0">
                <a:solidFill>
                  <a:srgbClr val="5C6B7A"/>
                </a:solidFill>
                <a:latin typeface="Inter" pitchFamily="34" charset="0"/>
                <a:ea typeface="Inter" pitchFamily="34" charset="-122"/>
                <a:cs typeface="Inter" pitchFamily="34" charset="-120"/>
              </a:rPr>
              <a:t> — extracted with citations to the passage</a:t>
            </a:r>
            <a:endParaRPr lang="en-US" sz="1200" dirty="0"/>
          </a:p>
          <a:p>
            <a:pPr algn="l" marL="182880" indent="-148844">
              <a:lnSpc>
                <a:spcPts val="1608"/>
              </a:lnSpc>
              <a:buSzPct val="100000"/>
              <a:buChar char="•"/>
            </a:pPr>
            <a:r>
              <a:rPr lang="en-US" sz="1200" b="1" dirty="0">
                <a:solidFill>
                  <a:srgbClr val="5C6B7A"/>
                </a:solidFill>
                <a:latin typeface="Inter" pitchFamily="34" charset="0"/>
                <a:ea typeface="Inter" pitchFamily="34" charset="-122"/>
                <a:cs typeface="Inter" pitchFamily="34" charset="-120"/>
              </a:rPr>
              <a:t>From natural language</a:t>
            </a:r>
            <a:r>
              <a:rPr lang="en-US" sz="1200" dirty="0">
                <a:solidFill>
                  <a:srgbClr val="5C6B7A"/>
                </a:solidFill>
                <a:latin typeface="Inter" pitchFamily="34" charset="0"/>
                <a:ea typeface="Inter" pitchFamily="34" charset="-122"/>
                <a:cs typeface="Inter" pitchFamily="34" charset="-120"/>
              </a:rPr>
              <a:t> — a sentence, compiled into a query</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Authored by </a:t>
            </a:r>
            <a:r>
              <a:rPr lang="en-US" sz="1200" b="1" dirty="0">
                <a:solidFill>
                  <a:srgbClr val="5C6B7A"/>
                </a:solidFill>
                <a:latin typeface="Inter" pitchFamily="34" charset="0"/>
                <a:ea typeface="Inter" pitchFamily="34" charset="-122"/>
                <a:cs typeface="Inter" pitchFamily="34" charset="-120"/>
              </a:rPr>
              <a:t>business or technology</a:t>
            </a:r>
            <a:r>
              <a:rPr lang="en-US" sz="1200" dirty="0">
                <a:solidFill>
                  <a:srgbClr val="5C6B7A"/>
                </a:solidFill>
                <a:latin typeface="Inter" pitchFamily="34" charset="0"/>
                <a:ea typeface="Inter" pitchFamily="34" charset="-122"/>
                <a:cs typeface="Inter" pitchFamily="34" charset="-120"/>
              </a:rPr>
              <a:t>; neither writes SQL</a:t>
            </a:r>
            <a:endParaRPr lang="en-US" sz="1200" dirty="0"/>
          </a:p>
        </p:txBody>
      </p:sp>
      <p:sp>
        <p:nvSpPr>
          <p:cNvPr id="7" name="Shape 4"/>
          <p:cNvSpPr/>
          <p:nvPr/>
        </p:nvSpPr>
        <p:spPr>
          <a:xfrm>
            <a:off x="6156325" y="1208405"/>
            <a:ext cx="5219700" cy="1687195"/>
          </a:xfrm>
          <a:prstGeom prst="roundRect">
            <a:avLst>
              <a:gd name="adj" fmla="val 5081"/>
            </a:avLst>
          </a:prstGeom>
          <a:solidFill>
            <a:srgbClr val="FFFFFF"/>
          </a:solidFill>
          <a:ln w="6350">
            <a:solidFill>
              <a:srgbClr val="DFE6EA"/>
            </a:solidFill>
            <a:prstDash val="solid"/>
          </a:ln>
        </p:spPr>
      </p:sp>
      <p:pic>
        <p:nvPicPr>
          <p:cNvPr id="8" name="Image 1" descr="ellipse">    </p:cNvPr>
          <p:cNvPicPr>
            <a:picLocks noChangeAspect="1"/>
          </p:cNvPicPr>
          <p:nvPr/>
        </p:nvPicPr>
        <p:blipFill>
          <a:blip r:embed="rId2"/>
          <a:srcRect l="0" r="0" t="0" b="0"/>
          <a:stretch/>
        </p:blipFill>
        <p:spPr>
          <a:xfrm>
            <a:off x="6323330" y="1367791"/>
            <a:ext cx="203200" cy="203200"/>
          </a:xfrm>
          <a:prstGeom prst="rect">
            <a:avLst/>
          </a:prstGeom>
        </p:spPr>
      </p:pic>
      <p:sp>
        <p:nvSpPr>
          <p:cNvPr id="9" name="Text 5"/>
          <p:cNvSpPr/>
          <p:nvPr/>
        </p:nvSpPr>
        <p:spPr>
          <a:xfrm>
            <a:off x="6602730" y="1362711"/>
            <a:ext cx="308106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Exceptions and Variances are rules</a:t>
            </a:r>
            <a:endParaRPr lang="en-US" sz="1400" dirty="0"/>
          </a:p>
        </p:txBody>
      </p:sp>
      <p:sp>
        <p:nvSpPr>
          <p:cNvPr id="10" name="Text 6"/>
          <p:cNvSpPr/>
          <p:nvPr/>
        </p:nvSpPr>
        <p:spPr>
          <a:xfrm>
            <a:off x="6323330" y="1639570"/>
            <a:ext cx="886619" cy="289560"/>
          </a:xfrm>
          <a:prstGeom prst="roundRect">
            <a:avLst>
              <a:gd name="adj" fmla="val 17544"/>
            </a:avLst>
          </a:prstGeom>
          <a:solidFill>
            <a:srgbClr val="10897A"/>
          </a:solidFill>
          <a:ln/>
        </p:spPr>
        <p:txBody>
          <a:bodyPr wrap="none" lIns="0" tIns="0" rIns="0" bIns="0" rtlCol="0" anchor="ctr">
            <a:normAutofit/>
          </a:bodyPr>
          <a:lstStyle/>
          <a:p>
            <a:pPr algn="ctr" indent="0" marL="0">
              <a:lnSpc>
                <a:spcPts val="1680"/>
              </a:lnSpc>
              <a:buNone/>
            </a:pPr>
            <a:r>
              <a:rPr lang="en-US" sz="1200" dirty="0">
                <a:solidFill>
                  <a:srgbClr val="FFFFFF"/>
                </a:solidFill>
                <a:latin typeface="Inter" pitchFamily="34" charset="0"/>
                <a:ea typeface="Inter" pitchFamily="34" charset="-122"/>
                <a:cs typeface="Inter" pitchFamily="34" charset="-120"/>
              </a:rPr>
              <a:t>Exception</a:t>
            </a:r>
            <a:endParaRPr lang="en-US" sz="1200" dirty="0"/>
          </a:p>
        </p:txBody>
      </p:sp>
      <p:sp>
        <p:nvSpPr>
          <p:cNvPr id="11" name="Text 7"/>
          <p:cNvSpPr/>
          <p:nvPr/>
        </p:nvSpPr>
        <p:spPr>
          <a:xfrm>
            <a:off x="7260749" y="1639570"/>
            <a:ext cx="808117" cy="289560"/>
          </a:xfrm>
          <a:prstGeom prst="roundRect">
            <a:avLst>
              <a:gd name="adj" fmla="val 17544"/>
            </a:avLst>
          </a:prstGeom>
          <a:solidFill>
            <a:srgbClr val="10897A"/>
          </a:solidFill>
          <a:ln/>
        </p:spPr>
        <p:txBody>
          <a:bodyPr wrap="none" lIns="0" tIns="0" rIns="0" bIns="0" rtlCol="0" anchor="ctr">
            <a:normAutofit/>
          </a:bodyPr>
          <a:lstStyle/>
          <a:p>
            <a:pPr algn="ctr" indent="0" marL="0">
              <a:lnSpc>
                <a:spcPts val="1680"/>
              </a:lnSpc>
              <a:buNone/>
            </a:pPr>
            <a:r>
              <a:rPr lang="en-US" sz="1200" dirty="0">
                <a:solidFill>
                  <a:srgbClr val="FFFFFF"/>
                </a:solidFill>
                <a:latin typeface="Inter" pitchFamily="34" charset="0"/>
                <a:ea typeface="Inter" pitchFamily="34" charset="-122"/>
                <a:cs typeface="Inter" pitchFamily="34" charset="-120"/>
              </a:rPr>
              <a:t>Variance</a:t>
            </a:r>
            <a:endParaRPr lang="en-US" sz="1200" dirty="0"/>
          </a:p>
        </p:txBody>
      </p:sp>
      <p:sp>
        <p:nvSpPr>
          <p:cNvPr id="12" name="Text 8"/>
          <p:cNvSpPr/>
          <p:nvPr/>
        </p:nvSpPr>
        <p:spPr>
          <a:xfrm>
            <a:off x="8119666" y="1639570"/>
            <a:ext cx="1045845" cy="289560"/>
          </a:xfrm>
          <a:prstGeom prst="roundRect">
            <a:avLst>
              <a:gd name="adj" fmla="val 17544"/>
            </a:avLst>
          </a:prstGeom>
          <a:solidFill>
            <a:srgbClr val="F5F8F9"/>
          </a:solidFill>
          <a:ln/>
        </p:spPr>
        <p:txBody>
          <a:bodyPr wrap="none" lIns="0" tIns="0" rIns="0" bIns="0" rtlCol="0" anchor="ctr">
            <a:normAutofit/>
          </a:bodyPr>
          <a:lstStyle/>
          <a:p>
            <a:pPr algn="ctr" indent="0" marL="0">
              <a:lnSpc>
                <a:spcPts val="1680"/>
              </a:lnSpc>
              <a:buNone/>
            </a:pPr>
            <a:r>
              <a:rPr lang="en-US" sz="1200" dirty="0">
                <a:solidFill>
                  <a:srgbClr val="5C6B7A"/>
                </a:solidFill>
                <a:latin typeface="Inter" pitchFamily="34" charset="0"/>
                <a:ea typeface="Inter" pitchFamily="34" charset="-122"/>
                <a:cs typeface="Inter" pitchFamily="34" charset="-120"/>
              </a:rPr>
              <a:t>Threshold ±</a:t>
            </a:r>
            <a:endParaRPr lang="en-US" sz="1200" dirty="0"/>
          </a:p>
        </p:txBody>
      </p:sp>
      <p:sp>
        <p:nvSpPr>
          <p:cNvPr id="13" name="Text 9"/>
          <p:cNvSpPr/>
          <p:nvPr/>
        </p:nvSpPr>
        <p:spPr>
          <a:xfrm>
            <a:off x="9216311" y="1639570"/>
            <a:ext cx="1101249" cy="289560"/>
          </a:xfrm>
          <a:prstGeom prst="roundRect">
            <a:avLst>
              <a:gd name="adj" fmla="val 17544"/>
            </a:avLst>
          </a:prstGeom>
          <a:solidFill>
            <a:srgbClr val="F5F8F9"/>
          </a:solidFill>
          <a:ln/>
        </p:spPr>
        <p:txBody>
          <a:bodyPr wrap="none" lIns="0" tIns="0" rIns="0" bIns="0" rtlCol="0" anchor="ctr">
            <a:normAutofit/>
          </a:bodyPr>
          <a:lstStyle/>
          <a:p>
            <a:pPr algn="ctr" indent="0" marL="0">
              <a:lnSpc>
                <a:spcPts val="1680"/>
              </a:lnSpc>
              <a:buNone/>
            </a:pPr>
            <a:r>
              <a:rPr lang="en-US" sz="1200" dirty="0">
                <a:solidFill>
                  <a:srgbClr val="5C6B7A"/>
                </a:solidFill>
                <a:latin typeface="Inter" pitchFamily="34" charset="0"/>
                <a:ea typeface="Inter" pitchFamily="34" charset="-122"/>
                <a:cs typeface="Inter" pitchFamily="34" charset="-120"/>
              </a:rPr>
              <a:t>Denominator</a:t>
            </a:r>
            <a:endParaRPr lang="en-US" sz="1200" dirty="0"/>
          </a:p>
        </p:txBody>
      </p:sp>
      <p:sp>
        <p:nvSpPr>
          <p:cNvPr id="14" name="Text 10"/>
          <p:cNvSpPr/>
          <p:nvPr/>
        </p:nvSpPr>
        <p:spPr>
          <a:xfrm>
            <a:off x="6323330" y="1979930"/>
            <a:ext cx="1742758" cy="289560"/>
          </a:xfrm>
          <a:prstGeom prst="roundRect">
            <a:avLst>
              <a:gd name="adj" fmla="val 17544"/>
            </a:avLst>
          </a:prstGeom>
          <a:solidFill>
            <a:srgbClr val="F5F8F9"/>
          </a:solidFill>
          <a:ln/>
        </p:spPr>
        <p:txBody>
          <a:bodyPr wrap="none" lIns="0" tIns="0" rIns="0" bIns="0" rtlCol="0" anchor="ctr">
            <a:normAutofit/>
          </a:bodyPr>
          <a:lstStyle/>
          <a:p>
            <a:pPr algn="ctr" indent="0" marL="0">
              <a:lnSpc>
                <a:spcPts val="1680"/>
              </a:lnSpc>
              <a:buNone/>
            </a:pPr>
            <a:r>
              <a:rPr lang="en-US" sz="1200" dirty="0">
                <a:solidFill>
                  <a:srgbClr val="5C6B7A"/>
                </a:solidFill>
                <a:latin typeface="Inter" pitchFamily="34" charset="0"/>
                <a:ea typeface="Inter" pitchFamily="34" charset="-122"/>
                <a:cs typeface="Inter" pitchFamily="34" charset="-120"/>
              </a:rPr>
              <a:t>Revenue · NNM · NCF</a:t>
            </a:r>
            <a:endParaRPr lang="en-US" sz="1200" dirty="0"/>
          </a:p>
        </p:txBody>
      </p:sp>
      <p:sp>
        <p:nvSpPr>
          <p:cNvPr id="15" name="Text 11"/>
          <p:cNvSpPr/>
          <p:nvPr/>
        </p:nvSpPr>
        <p:spPr>
          <a:xfrm>
            <a:off x="8116888" y="1979930"/>
            <a:ext cx="1114901" cy="289560"/>
          </a:xfrm>
          <a:prstGeom prst="roundRect">
            <a:avLst>
              <a:gd name="adj" fmla="val 17544"/>
            </a:avLst>
          </a:prstGeom>
          <a:solidFill>
            <a:srgbClr val="F5F8F9"/>
          </a:solidFill>
          <a:ln/>
        </p:spPr>
        <p:txBody>
          <a:bodyPr wrap="none" lIns="0" tIns="0" rIns="0" bIns="0" rtlCol="0" anchor="ctr">
            <a:normAutofit/>
          </a:bodyPr>
          <a:lstStyle/>
          <a:p>
            <a:pPr algn="ctr" indent="0" marL="0">
              <a:lnSpc>
                <a:spcPts val="1680"/>
              </a:lnSpc>
              <a:buNone/>
            </a:pPr>
            <a:r>
              <a:rPr lang="en-US" sz="1200" dirty="0">
                <a:solidFill>
                  <a:srgbClr val="5C6B7A"/>
                </a:solidFill>
                <a:latin typeface="Inter" pitchFamily="34" charset="0"/>
                <a:ea typeface="Inter" pitchFamily="34" charset="-122"/>
                <a:cs typeface="Inter" pitchFamily="34" charset="-120"/>
              </a:rPr>
              <a:t>Reason code</a:t>
            </a:r>
            <a:endParaRPr lang="en-US" sz="1200" dirty="0"/>
          </a:p>
        </p:txBody>
      </p:sp>
      <p:sp>
        <p:nvSpPr>
          <p:cNvPr id="16" name="Text 12"/>
          <p:cNvSpPr/>
          <p:nvPr/>
        </p:nvSpPr>
        <p:spPr>
          <a:xfrm>
            <a:off x="9282589" y="1979930"/>
            <a:ext cx="561419" cy="289560"/>
          </a:xfrm>
          <a:prstGeom prst="roundRect">
            <a:avLst>
              <a:gd name="adj" fmla="val 17544"/>
            </a:avLst>
          </a:prstGeom>
          <a:solidFill>
            <a:srgbClr val="F5F8F9"/>
          </a:solidFill>
          <a:ln/>
        </p:spPr>
        <p:txBody>
          <a:bodyPr wrap="none" lIns="0" tIns="0" rIns="0" bIns="0" rtlCol="0" anchor="ctr">
            <a:normAutofit/>
          </a:bodyPr>
          <a:lstStyle/>
          <a:p>
            <a:pPr algn="ctr" indent="0" marL="0">
              <a:lnSpc>
                <a:spcPts val="1680"/>
              </a:lnSpc>
              <a:buNone/>
            </a:pPr>
            <a:r>
              <a:rPr lang="en-US" sz="1200" dirty="0">
                <a:solidFill>
                  <a:srgbClr val="5C6B7A"/>
                </a:solidFill>
                <a:latin typeface="Inter" pitchFamily="34" charset="0"/>
                <a:ea typeface="Inter" pitchFamily="34" charset="-122"/>
                <a:cs typeface="Inter" pitchFamily="34" charset="-120"/>
              </a:rPr>
              <a:t>Grain</a:t>
            </a:r>
            <a:endParaRPr lang="en-US" sz="1200" dirty="0"/>
          </a:p>
        </p:txBody>
      </p:sp>
      <p:sp>
        <p:nvSpPr>
          <p:cNvPr id="17" name="Text 13"/>
          <p:cNvSpPr/>
          <p:nvPr/>
        </p:nvSpPr>
        <p:spPr>
          <a:xfrm>
            <a:off x="6323330" y="2332991"/>
            <a:ext cx="5032261" cy="433705"/>
          </a:xfrm>
          <a:prstGeom prst="rect">
            <a:avLst/>
          </a:prstGeom>
          <a:noFill/>
          <a:ln/>
        </p:spPr>
        <p:txBody>
          <a:bodyPr wrap="square" lIns="0" tIns="0" rIns="0" bIns="0" rtlCol="0" anchor="t">
            <a:normAutofit/>
          </a:bodyPr>
          <a:lstStyle/>
          <a:p>
            <a:pPr algn="l" indent="0" marL="0">
              <a:lnSpc>
                <a:spcPts val="1608"/>
              </a:lnSpc>
              <a:buNone/>
            </a:pPr>
            <a:r>
              <a:rPr lang="en-US" sz="1200" dirty="0">
                <a:solidFill>
                  <a:srgbClr val="5C6B7A"/>
                </a:solidFill>
                <a:latin typeface="Inter" pitchFamily="34" charset="0"/>
                <a:ea typeface="Inter" pitchFamily="34" charset="-122"/>
                <a:cs typeface="Inter" pitchFamily="34" charset="-120"/>
              </a:rPr>
              <a:t>Two types; everything else configured by the author. A new exception is a rule someone </a:t>
            </a:r>
            <a:r>
              <a:rPr lang="en-US" sz="1200" b="1" dirty="0">
                <a:solidFill>
                  <a:srgbClr val="5C6B7A"/>
                </a:solidFill>
                <a:latin typeface="Inter" pitchFamily="34" charset="0"/>
                <a:ea typeface="Inter" pitchFamily="34" charset="-122"/>
                <a:cs typeface="Inter" pitchFamily="34" charset="-120"/>
              </a:rPr>
              <a:t>writes</a:t>
            </a:r>
            <a:r>
              <a:rPr lang="en-US" sz="1200" dirty="0">
                <a:solidFill>
                  <a:srgbClr val="5C6B7A"/>
                </a:solidFill>
                <a:latin typeface="Inter" pitchFamily="34" charset="0"/>
                <a:ea typeface="Inter" pitchFamily="34" charset="-122"/>
                <a:cs typeface="Inter" pitchFamily="34" charset="-120"/>
              </a:rPr>
              <a:t>, not a release.</a:t>
            </a:r>
            <a:endParaRPr lang="en-US" sz="1200" dirty="0"/>
          </a:p>
        </p:txBody>
      </p:sp>
      <p:sp>
        <p:nvSpPr>
          <p:cNvPr id="18" name="Shape 14"/>
          <p:cNvSpPr/>
          <p:nvPr/>
        </p:nvSpPr>
        <p:spPr>
          <a:xfrm>
            <a:off x="815975" y="3016250"/>
            <a:ext cx="5219700" cy="1197928"/>
          </a:xfrm>
          <a:prstGeom prst="roundRect">
            <a:avLst>
              <a:gd name="adj" fmla="val 7156"/>
            </a:avLst>
          </a:prstGeom>
          <a:solidFill>
            <a:srgbClr val="FFFFFF"/>
          </a:solidFill>
          <a:ln w="6350">
            <a:solidFill>
              <a:srgbClr val="DFE6EA"/>
            </a:solidFill>
            <a:prstDash val="solid"/>
          </a:ln>
        </p:spPr>
      </p:sp>
      <p:pic>
        <p:nvPicPr>
          <p:cNvPr id="19" name="Image 2" descr="ellipse">    </p:cNvPr>
          <p:cNvPicPr>
            <a:picLocks noChangeAspect="1"/>
          </p:cNvPicPr>
          <p:nvPr/>
        </p:nvPicPr>
        <p:blipFill>
          <a:blip r:embed="rId3"/>
          <a:srcRect l="0" r="0" t="0" b="0"/>
          <a:stretch/>
        </p:blipFill>
        <p:spPr>
          <a:xfrm>
            <a:off x="982980" y="3175636"/>
            <a:ext cx="203200" cy="203200"/>
          </a:xfrm>
          <a:prstGeom prst="rect">
            <a:avLst/>
          </a:prstGeom>
        </p:spPr>
      </p:pic>
      <p:sp>
        <p:nvSpPr>
          <p:cNvPr id="20" name="Text 15"/>
          <p:cNvSpPr/>
          <p:nvPr/>
        </p:nvSpPr>
        <p:spPr>
          <a:xfrm>
            <a:off x="1262380" y="3170555"/>
            <a:ext cx="292507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Computation moves to the graph</a:t>
            </a:r>
            <a:endParaRPr lang="en-US" sz="1400" dirty="0"/>
          </a:p>
        </p:txBody>
      </p:sp>
      <p:sp>
        <p:nvSpPr>
          <p:cNvPr id="21" name="Text 16"/>
          <p:cNvSpPr/>
          <p:nvPr/>
        </p:nvSpPr>
        <p:spPr>
          <a:xfrm>
            <a:off x="982980" y="3447416"/>
            <a:ext cx="5032261" cy="637858"/>
          </a:xfrm>
          <a:prstGeom prst="rect">
            <a:avLst/>
          </a:prstGeom>
          <a:noFill/>
          <a:ln/>
        </p:spPr>
        <p:txBody>
          <a:bodyPr wrap="square" lIns="0" tIns="0" rIns="0" bIns="0" rtlCol="0" anchor="t">
            <a:normAutofit/>
          </a:bodyPr>
          <a:lstStyle/>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Aggregation, filtering, ranking, traversal and as-of state run in the database</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The application receives results, not raw data</a:t>
            </a:r>
            <a:endParaRPr lang="en-US" sz="1200" dirty="0"/>
          </a:p>
        </p:txBody>
      </p:sp>
      <p:sp>
        <p:nvSpPr>
          <p:cNvPr id="22" name="Shape 17"/>
          <p:cNvSpPr/>
          <p:nvPr/>
        </p:nvSpPr>
        <p:spPr>
          <a:xfrm>
            <a:off x="6156325" y="3016250"/>
            <a:ext cx="5219700" cy="1197928"/>
          </a:xfrm>
          <a:prstGeom prst="roundRect">
            <a:avLst>
              <a:gd name="adj" fmla="val 7156"/>
            </a:avLst>
          </a:prstGeom>
          <a:solidFill>
            <a:srgbClr val="FFFFFF"/>
          </a:solidFill>
          <a:ln w="6350">
            <a:solidFill>
              <a:srgbClr val="DFE6EA"/>
            </a:solidFill>
            <a:prstDash val="solid"/>
          </a:ln>
        </p:spPr>
      </p:sp>
      <p:pic>
        <p:nvPicPr>
          <p:cNvPr id="23" name="Image 3" descr="ellipse">    </p:cNvPr>
          <p:cNvPicPr>
            <a:picLocks noChangeAspect="1"/>
          </p:cNvPicPr>
          <p:nvPr/>
        </p:nvPicPr>
        <p:blipFill>
          <a:blip r:embed="rId4"/>
          <a:srcRect l="0" r="0" t="0" b="0"/>
          <a:stretch/>
        </p:blipFill>
        <p:spPr>
          <a:xfrm>
            <a:off x="6323330" y="3175636"/>
            <a:ext cx="203200" cy="203200"/>
          </a:xfrm>
          <a:prstGeom prst="rect">
            <a:avLst/>
          </a:prstGeom>
        </p:spPr>
      </p:pic>
      <p:sp>
        <p:nvSpPr>
          <p:cNvPr id="24" name="Text 18"/>
          <p:cNvSpPr/>
          <p:nvPr/>
        </p:nvSpPr>
        <p:spPr>
          <a:xfrm>
            <a:off x="6602730" y="3170555"/>
            <a:ext cx="26964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Answers move to conversation</a:t>
            </a:r>
            <a:endParaRPr lang="en-US" sz="1400" dirty="0"/>
          </a:p>
        </p:txBody>
      </p:sp>
      <p:sp>
        <p:nvSpPr>
          <p:cNvPr id="25" name="Text 19"/>
          <p:cNvSpPr/>
          <p:nvPr/>
        </p:nvSpPr>
        <p:spPr>
          <a:xfrm>
            <a:off x="6323330" y="3447416"/>
            <a:ext cx="5032261" cy="637858"/>
          </a:xfrm>
          <a:prstGeom prst="rect">
            <a:avLst/>
          </a:prstGeom>
          <a:noFill/>
          <a:ln/>
        </p:spPr>
        <p:txBody>
          <a:bodyPr wrap="square" lIns="0" tIns="0" rIns="0" bIns="0" rtlCol="0" anchor="t">
            <a:normAutofit/>
          </a:bodyPr>
          <a:lstStyle/>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Technology and business stop writing queries to investigate</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They ask; the agent traverses and assembles the evidence</a:t>
            </a:r>
            <a:endParaRPr lang="en-US" sz="1200" dirty="0"/>
          </a:p>
          <a:p>
            <a:pPr algn="l" marL="182880" indent="-148844">
              <a:lnSpc>
                <a:spcPts val="1608"/>
              </a:lnSpc>
              <a:buSzPct val="100000"/>
              <a:buChar char="•"/>
            </a:pPr>
            <a:r>
              <a:rPr lang="en-US" sz="1200" b="1" dirty="0">
                <a:solidFill>
                  <a:srgbClr val="5C6B7A"/>
                </a:solidFill>
                <a:latin typeface="Inter" pitchFamily="34" charset="0"/>
                <a:ea typeface="Inter" pitchFamily="34" charset="-122"/>
                <a:cs typeface="Inter" pitchFamily="34" charset="-120"/>
              </a:rPr>
              <a:t>Minutes instead of days or weeks</a:t>
            </a:r>
            <a:endParaRPr lang="en-US" sz="1200" dirty="0"/>
          </a:p>
        </p:txBody>
      </p:sp>
      <p:sp>
        <p:nvSpPr>
          <p:cNvPr id="26" name="Shape 20"/>
          <p:cNvSpPr/>
          <p:nvPr/>
        </p:nvSpPr>
        <p:spPr>
          <a:xfrm>
            <a:off x="812800" y="4357053"/>
            <a:ext cx="5226050" cy="681672"/>
          </a:xfrm>
          <a:prstGeom prst="roundRect">
            <a:avLst>
              <a:gd name="adj" fmla="val 13041"/>
            </a:avLst>
          </a:prstGeom>
          <a:solidFill>
            <a:srgbClr val="0B1622"/>
          </a:solidFill>
          <a:ln/>
        </p:spPr>
      </p:sp>
      <p:pic>
        <p:nvPicPr>
          <p:cNvPr id="27" name="Image 4" descr="Lightning">    </p:cNvPr>
          <p:cNvPicPr>
            <a:picLocks noChangeAspect="1"/>
          </p:cNvPicPr>
          <p:nvPr/>
        </p:nvPicPr>
        <p:blipFill>
          <a:blip r:embed="rId5"/>
          <a:srcRect l="0" r="0" t="0" b="0"/>
          <a:stretch/>
        </p:blipFill>
        <p:spPr>
          <a:xfrm>
            <a:off x="990600" y="4583588"/>
            <a:ext cx="228600" cy="228600"/>
          </a:xfrm>
          <a:prstGeom prst="rect">
            <a:avLst/>
          </a:prstGeom>
        </p:spPr>
      </p:pic>
      <p:sp>
        <p:nvSpPr>
          <p:cNvPr id="28" name="Text 21"/>
          <p:cNvSpPr/>
          <p:nvPr/>
        </p:nvSpPr>
        <p:spPr>
          <a:xfrm>
            <a:off x="1346200" y="4496753"/>
            <a:ext cx="4650296" cy="427673"/>
          </a:xfrm>
          <a:prstGeom prst="rect">
            <a:avLst/>
          </a:prstGeom>
          <a:noFill/>
          <a:ln/>
        </p:spPr>
        <p:txBody>
          <a:bodyPr wrap="square" lIns="0" tIns="0" rIns="0" bIns="0" rtlCol="0" anchor="t">
            <a:normAutofit/>
          </a:bodyPr>
          <a:lstStyle/>
          <a:p>
            <a:pPr algn="l" indent="0" marL="0">
              <a:lnSpc>
                <a:spcPts val="1584"/>
              </a:lnSpc>
              <a:buNone/>
            </a:pPr>
            <a:r>
              <a:rPr lang="en-US" sz="1200" b="1" dirty="0">
                <a:solidFill>
                  <a:srgbClr val="CFE3DC"/>
                </a:solidFill>
                <a:latin typeface="Inter" pitchFamily="34" charset="0"/>
                <a:ea typeface="Inter" pitchFamily="34" charset="-122"/>
                <a:cs typeface="Inter" pitchFamily="34" charset="-120"/>
              </a:rPr>
              <a:t>Insights, drivers, opportunities</a:t>
            </a:r>
            <a:r>
              <a:rPr lang="en-US" sz="1200" dirty="0">
                <a:solidFill>
                  <a:srgbClr val="CFE3DC"/>
                </a:solidFill>
                <a:latin typeface="Inter" pitchFamily="34" charset="0"/>
                <a:ea typeface="Inter" pitchFamily="34" charset="-122"/>
                <a:cs typeface="Inter" pitchFamily="34" charset="-120"/>
              </a:rPr>
              <a:t> — source data completes, generation fires. </a:t>
            </a:r>
            <a:r>
              <a:rPr lang="en-US" sz="1200" dirty="0">
                <a:solidFill>
                  <a:srgbClr val="6FD3C0"/>
                </a:solidFill>
                <a:latin typeface="Inter" pitchFamily="34" charset="0"/>
                <a:ea typeface="Inter" pitchFamily="34" charset="-122"/>
                <a:cs typeface="Inter" pitchFamily="34" charset="-120"/>
              </a:rPr>
              <a:t>No human involvement.</a:t>
            </a:r>
            <a:endParaRPr lang="en-US" sz="1200" dirty="0"/>
          </a:p>
        </p:txBody>
      </p:sp>
      <p:sp>
        <p:nvSpPr>
          <p:cNvPr id="29" name="Shape 22"/>
          <p:cNvSpPr/>
          <p:nvPr/>
        </p:nvSpPr>
        <p:spPr>
          <a:xfrm>
            <a:off x="6153150" y="4357053"/>
            <a:ext cx="5226050" cy="681672"/>
          </a:xfrm>
          <a:prstGeom prst="roundRect">
            <a:avLst>
              <a:gd name="adj" fmla="val 13041"/>
            </a:avLst>
          </a:prstGeom>
          <a:solidFill>
            <a:srgbClr val="2A1B0C"/>
          </a:solidFill>
          <a:ln/>
        </p:spPr>
      </p:sp>
      <p:pic>
        <p:nvPicPr>
          <p:cNvPr id="30" name="Image 5" descr="Check">    </p:cNvPr>
          <p:cNvPicPr>
            <a:picLocks noChangeAspect="1"/>
          </p:cNvPicPr>
          <p:nvPr/>
        </p:nvPicPr>
        <p:blipFill>
          <a:blip r:embed="rId6"/>
          <a:srcRect l="0" r="0" t="0" b="0"/>
          <a:stretch/>
        </p:blipFill>
        <p:spPr>
          <a:xfrm>
            <a:off x="6330950" y="4583588"/>
            <a:ext cx="228600" cy="228600"/>
          </a:xfrm>
          <a:prstGeom prst="rect">
            <a:avLst/>
          </a:prstGeom>
        </p:spPr>
      </p:pic>
      <p:sp>
        <p:nvSpPr>
          <p:cNvPr id="31" name="Text 23"/>
          <p:cNvSpPr/>
          <p:nvPr/>
        </p:nvSpPr>
        <p:spPr>
          <a:xfrm>
            <a:off x="6686550" y="4496753"/>
            <a:ext cx="4650296" cy="427673"/>
          </a:xfrm>
          <a:prstGeom prst="rect">
            <a:avLst/>
          </a:prstGeom>
          <a:noFill/>
          <a:ln/>
        </p:spPr>
        <p:txBody>
          <a:bodyPr wrap="square" lIns="0" tIns="0" rIns="0" bIns="0" rtlCol="0" anchor="t">
            <a:normAutofit/>
          </a:bodyPr>
          <a:lstStyle/>
          <a:p>
            <a:pPr algn="l" indent="0" marL="0">
              <a:lnSpc>
                <a:spcPts val="1584"/>
              </a:lnSpc>
              <a:buNone/>
            </a:pPr>
            <a:r>
              <a:rPr lang="en-US" sz="1200" b="1" dirty="0">
                <a:solidFill>
                  <a:srgbClr val="E8D6C0"/>
                </a:solidFill>
                <a:latin typeface="Inter" pitchFamily="34" charset="0"/>
                <a:ea typeface="Inter" pitchFamily="34" charset="-122"/>
                <a:cs typeface="Inter" pitchFamily="34" charset="-120"/>
              </a:rPr>
              <a:t>Rules</a:t>
            </a:r>
            <a:r>
              <a:rPr lang="en-US" sz="1200" dirty="0">
                <a:solidFill>
                  <a:srgbClr val="E8D6C0"/>
                </a:solidFill>
                <a:latin typeface="Inter" pitchFamily="34" charset="0"/>
                <a:ea typeface="Inter" pitchFamily="34" charset="-122"/>
                <a:cs typeface="Inter" pitchFamily="34" charset="-120"/>
              </a:rPr>
              <a:t> — document uploaded or rule written. </a:t>
            </a:r>
            <a:r>
              <a:rPr lang="en-US" sz="1200" dirty="0">
                <a:solidFill>
                  <a:srgbClr val="F0C99A"/>
                </a:solidFill>
                <a:latin typeface="Inter" pitchFamily="34" charset="0"/>
                <a:ea typeface="Inter" pitchFamily="34" charset="-122"/>
                <a:cs typeface="Inter" pitchFamily="34" charset="-120"/>
              </a:rPr>
              <a:t>Reviewed, then approved before publish.</a:t>
            </a:r>
            <a:endParaRPr lang="en-US" sz="1200" dirty="0"/>
          </a:p>
        </p:txBody>
      </p:sp>
      <p:sp>
        <p:nvSpPr>
          <p:cNvPr id="32" name="Text 24"/>
          <p:cNvSpPr/>
          <p:nvPr/>
        </p:nvSpPr>
        <p:spPr>
          <a:xfrm>
            <a:off x="812800" y="62280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897A"/>
                </a:solidFill>
                <a:latin typeface="Space Grotesk" pitchFamily="34" charset="0"/>
                <a:ea typeface="Space Grotesk" pitchFamily="34" charset="-122"/>
                <a:cs typeface="Space Grotesk" pitchFamily="34" charset="-120"/>
              </a:rPr>
              <a:t>Autonomous where the input is data. Gated where the output changes how people get paid.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62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403C"/>
              </a:gs>
              <a:gs pos="58000">
                <a:srgbClr val="0B1622"/>
              </a:gs>
            </a:gsLst>
            <a:path path="circle">
              <a:fillToRect l="88000" t="12000" r="12000" b="88000"/>
            </a:path>
          </a:gradFill>
          <a:ln/>
        </p:spPr>
      </p:sp>
      <p:sp>
        <p:nvSpPr>
          <p:cNvPr id="3" name="Text 1"/>
          <p:cNvSpPr/>
          <p:nvPr/>
        </p:nvSpPr>
        <p:spPr>
          <a:xfrm>
            <a:off x="812800" y="60960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5F8F9"/>
                </a:solidFill>
                <a:latin typeface="Space Grotesk" pitchFamily="34" charset="0"/>
                <a:ea typeface="Space Grotesk" pitchFamily="34" charset="-122"/>
                <a:cs typeface="Space Grotesk" pitchFamily="34" charset="-120"/>
              </a:rPr>
              <a:t>Why a graph</a:t>
            </a:r>
            <a:endParaRPr lang="en-US" sz="2800" dirty="0"/>
          </a:p>
        </p:txBody>
      </p:sp>
      <p:sp>
        <p:nvSpPr>
          <p:cNvPr id="4" name="Shape 2"/>
          <p:cNvSpPr/>
          <p:nvPr/>
        </p:nvSpPr>
        <p:spPr>
          <a:xfrm>
            <a:off x="812800" y="1153161"/>
            <a:ext cx="5213350" cy="1910080"/>
          </a:xfrm>
          <a:prstGeom prst="roundRect">
            <a:avLst>
              <a:gd name="adj" fmla="val 4654"/>
            </a:avLst>
          </a:prstGeom>
          <a:solidFill>
            <a:srgbClr val="142639"/>
          </a:solidFill>
          <a:ln/>
        </p:spPr>
      </p:sp>
      <p:sp>
        <p:nvSpPr>
          <p:cNvPr id="5" name="Shape 3"/>
          <p:cNvSpPr/>
          <p:nvPr/>
        </p:nvSpPr>
        <p:spPr>
          <a:xfrm>
            <a:off x="812800" y="1153161"/>
            <a:ext cx="5213350" cy="1910080"/>
          </a:xfrm>
          <a:custGeom>
            <a:avLst/>
            <a:gdLst/>
            <a:ahLst/>
            <a:cxnLst/>
            <a:rect l="l" t="t" r="r" b="b"/>
            <a:pathLst>
              <a:path w="5213350" h="1910080">
                <a:moveTo>
                  <a:pt x="88900" y="1910080"/>
                </a:moveTo>
                <a:lnTo>
                  <a:pt x="88900" y="1910080"/>
                </a:lnTo>
                <a:arcTo hR="88900" wR="88900" stAng="5400000" swAng="5400000"/>
                <a:lnTo>
                  <a:pt x="0" y="88900"/>
                </a:lnTo>
                <a:arcTo hR="88900" wR="88900" stAng="10800000" swAng="5400000"/>
                <a:lnTo>
                  <a:pt x="88900" y="0"/>
                </a:lnTo>
                <a:arcTo hR="88900" wR="57150" stAng="16200000" swAng="-5400000"/>
                <a:lnTo>
                  <a:pt x="31750" y="1821180"/>
                </a:lnTo>
                <a:arcTo hR="88900" wR="57150" stAng="10800000" swAng="-5400000"/>
                <a:close/>
              </a:path>
            </a:pathLst>
          </a:custGeom>
          <a:solidFill>
            <a:srgbClr val="10897A"/>
          </a:solidFill>
          <a:ln/>
        </p:spPr>
      </p:sp>
      <p:sp>
        <p:nvSpPr>
          <p:cNvPr id="6" name="Text 4"/>
          <p:cNvSpPr/>
          <p:nvPr/>
        </p:nvSpPr>
        <p:spPr>
          <a:xfrm>
            <a:off x="1021080" y="1318261"/>
            <a:ext cx="497208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3C0"/>
                </a:solidFill>
                <a:latin typeface="Space Grotesk" pitchFamily="34" charset="0"/>
                <a:ea typeface="Space Grotesk" pitchFamily="34" charset="-122"/>
                <a:cs typeface="Space Grotesk" pitchFamily="34" charset="-120"/>
              </a:rPr>
              <a:t>SIMPLE</a:t>
            </a:r>
            <a:endParaRPr lang="en-US" sz="1200" dirty="0"/>
          </a:p>
        </p:txBody>
      </p:sp>
      <p:sp>
        <p:nvSpPr>
          <p:cNvPr id="7" name="Text 5"/>
          <p:cNvSpPr/>
          <p:nvPr/>
        </p:nvSpPr>
        <p:spPr>
          <a:xfrm>
            <a:off x="1021080" y="1607821"/>
            <a:ext cx="4972088" cy="276860"/>
          </a:xfrm>
          <a:prstGeom prst="rect">
            <a:avLst/>
          </a:prstGeom>
          <a:noFill/>
          <a:ln/>
        </p:spPr>
        <p:txBody>
          <a:bodyPr wrap="square" lIns="0" tIns="0" rIns="0" bIns="0" rtlCol="0" anchor="t">
            <a:normAutofit/>
          </a:bodyPr>
          <a:lstStyle/>
          <a:p>
            <a:pPr algn="l" indent="0" marL="0">
              <a:lnSpc>
                <a:spcPts val="1980"/>
              </a:lnSpc>
              <a:buNone/>
            </a:pPr>
            <a:r>
              <a:rPr lang="en-US" sz="1650" dirty="0">
                <a:solidFill>
                  <a:srgbClr val="F5F8F9"/>
                </a:solidFill>
                <a:latin typeface="Instrument Serif" pitchFamily="34" charset="0"/>
                <a:ea typeface="Instrument Serif" pitchFamily="34" charset="-122"/>
                <a:cs typeface="Instrument Serif" pitchFamily="34" charset="-120"/>
              </a:rPr>
              <a:t>How did my revenue change last month, and why?</a:t>
            </a:r>
            <a:endParaRPr lang="en-US" sz="1650" dirty="0"/>
          </a:p>
        </p:txBody>
      </p:sp>
      <p:sp>
        <p:nvSpPr>
          <p:cNvPr id="8" name="Text 6"/>
          <p:cNvSpPr/>
          <p:nvPr/>
        </p:nvSpPr>
        <p:spPr>
          <a:xfrm>
            <a:off x="1021080" y="1935482"/>
            <a:ext cx="4972088"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9FB3BE"/>
                </a:solidFill>
                <a:latin typeface="Inter" pitchFamily="34" charset="0"/>
                <a:ea typeface="Inter" pitchFamily="34" charset="-122"/>
                <a:cs typeface="Inter" pitchFamily="34" charset="-120"/>
              </a:rPr>
              <a:t>Aggregate against last month, decompose into volume and deal size, attribute across products, identify which accounts arrived, left or transferred.</a:t>
            </a:r>
            <a:endParaRPr lang="en-US" sz="1250" dirty="0"/>
          </a:p>
        </p:txBody>
      </p:sp>
      <p:sp>
        <p:nvSpPr>
          <p:cNvPr id="9" name="Text 7"/>
          <p:cNvSpPr/>
          <p:nvPr/>
        </p:nvSpPr>
        <p:spPr>
          <a:xfrm>
            <a:off x="1021080" y="2630807"/>
            <a:ext cx="497208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6FD3C0"/>
                </a:solidFill>
                <a:latin typeface="Inter" pitchFamily="34" charset="0"/>
                <a:ea typeface="Inter" pitchFamily="34" charset="-122"/>
                <a:cs typeface="Inter" pitchFamily="34" charset="-120"/>
              </a:rPr>
              <a:t>Four aggregations and a set comparison.</a:t>
            </a:r>
            <a:endParaRPr lang="en-US" sz="1250" dirty="0"/>
          </a:p>
        </p:txBody>
      </p:sp>
      <p:sp>
        <p:nvSpPr>
          <p:cNvPr id="10" name="Shape 8"/>
          <p:cNvSpPr/>
          <p:nvPr/>
        </p:nvSpPr>
        <p:spPr>
          <a:xfrm>
            <a:off x="6165850" y="1153161"/>
            <a:ext cx="5213350" cy="1910080"/>
          </a:xfrm>
          <a:prstGeom prst="roundRect">
            <a:avLst>
              <a:gd name="adj" fmla="val 4654"/>
            </a:avLst>
          </a:prstGeom>
          <a:solidFill>
            <a:srgbClr val="2A1B0C"/>
          </a:solidFill>
          <a:ln/>
        </p:spPr>
      </p:sp>
      <p:sp>
        <p:nvSpPr>
          <p:cNvPr id="11" name="Shape 9"/>
          <p:cNvSpPr/>
          <p:nvPr/>
        </p:nvSpPr>
        <p:spPr>
          <a:xfrm>
            <a:off x="6165850" y="1153161"/>
            <a:ext cx="5213350" cy="1910080"/>
          </a:xfrm>
          <a:custGeom>
            <a:avLst/>
            <a:gdLst/>
            <a:ahLst/>
            <a:cxnLst/>
            <a:rect l="l" t="t" r="r" b="b"/>
            <a:pathLst>
              <a:path w="5213350" h="1910080">
                <a:moveTo>
                  <a:pt x="88900" y="1910080"/>
                </a:moveTo>
                <a:lnTo>
                  <a:pt x="88900" y="1910080"/>
                </a:lnTo>
                <a:arcTo hR="88900" wR="88900" stAng="5400000" swAng="5400000"/>
                <a:lnTo>
                  <a:pt x="0" y="88900"/>
                </a:lnTo>
                <a:arcTo hR="88900" wR="88900" stAng="10800000" swAng="5400000"/>
                <a:lnTo>
                  <a:pt x="88900" y="0"/>
                </a:lnTo>
                <a:arcTo hR="88900" wR="57150" stAng="16200000" swAng="-5400000"/>
                <a:lnTo>
                  <a:pt x="31750" y="1821180"/>
                </a:lnTo>
                <a:arcTo hR="88900" wR="57150" stAng="10800000" swAng="-5400000"/>
                <a:close/>
              </a:path>
            </a:pathLst>
          </a:custGeom>
          <a:solidFill>
            <a:srgbClr val="D98324"/>
          </a:solidFill>
          <a:ln/>
        </p:spPr>
      </p:sp>
      <p:sp>
        <p:nvSpPr>
          <p:cNvPr id="12" name="Text 10"/>
          <p:cNvSpPr/>
          <p:nvPr/>
        </p:nvSpPr>
        <p:spPr>
          <a:xfrm>
            <a:off x="6374130" y="1318261"/>
            <a:ext cx="497208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C99A"/>
                </a:solidFill>
                <a:latin typeface="Space Grotesk" pitchFamily="34" charset="0"/>
                <a:ea typeface="Space Grotesk" pitchFamily="34" charset="-122"/>
                <a:cs typeface="Space Grotesk" pitchFamily="34" charset="-120"/>
              </a:rPr>
              <a:t>COMPLEX</a:t>
            </a:r>
            <a:endParaRPr lang="en-US" sz="1200" dirty="0"/>
          </a:p>
        </p:txBody>
      </p:sp>
      <p:sp>
        <p:nvSpPr>
          <p:cNvPr id="13" name="Text 11"/>
          <p:cNvSpPr/>
          <p:nvPr/>
        </p:nvSpPr>
        <p:spPr>
          <a:xfrm>
            <a:off x="6374130" y="1607821"/>
            <a:ext cx="4972088" cy="528320"/>
          </a:xfrm>
          <a:prstGeom prst="rect">
            <a:avLst/>
          </a:prstGeom>
          <a:noFill/>
          <a:ln/>
        </p:spPr>
        <p:txBody>
          <a:bodyPr wrap="square" lIns="0" tIns="0" rIns="0" bIns="0" rtlCol="0" anchor="t">
            <a:normAutofit/>
          </a:bodyPr>
          <a:lstStyle/>
          <a:p>
            <a:pPr algn="l" indent="0" marL="0">
              <a:lnSpc>
                <a:spcPts val="1980"/>
              </a:lnSpc>
              <a:buNone/>
            </a:pPr>
            <a:r>
              <a:rPr lang="en-US" sz="1650" dirty="0">
                <a:solidFill>
                  <a:srgbClr val="FFFFFF"/>
                </a:solidFill>
                <a:latin typeface="Instrument Serif" pitchFamily="34" charset="0"/>
                <a:ea typeface="Instrument Serif" pitchFamily="34" charset="-122"/>
                <a:cs typeface="Instrument Serif" pitchFamily="34" charset="-120"/>
              </a:rPr>
              <a:t>Which households hold this product, were recommended it while conservative, and by which advisor?</a:t>
            </a:r>
            <a:endParaRPr lang="en-US" sz="1650" dirty="0"/>
          </a:p>
        </p:txBody>
      </p:sp>
      <p:sp>
        <p:nvSpPr>
          <p:cNvPr id="14" name="Text 12"/>
          <p:cNvSpPr/>
          <p:nvPr/>
        </p:nvSpPr>
        <p:spPr>
          <a:xfrm>
            <a:off x="6374130" y="2186939"/>
            <a:ext cx="4972088"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D9C3A8"/>
                </a:solidFill>
                <a:latin typeface="Inter" pitchFamily="34" charset="0"/>
                <a:ea typeface="Inter" pitchFamily="34" charset="-122"/>
                <a:cs typeface="Inter" pitchFamily="34" charset="-120"/>
              </a:rPr>
              <a:t>Advisor → households → accounts → holdings → product, then the goal </a:t>
            </a:r>
            <a:r>
              <a:rPr lang="en-US" sz="1250" b="1" dirty="0">
                <a:solidFill>
                  <a:srgbClr val="D9C3A8"/>
                </a:solidFill>
                <a:latin typeface="Inter" pitchFamily="34" charset="0"/>
                <a:ea typeface="Inter" pitchFamily="34" charset="-122"/>
                <a:cs typeface="Inter" pitchFamily="34" charset="-120"/>
              </a:rPr>
              <a:t>as it stood on that date</a:t>
            </a:r>
            <a:r>
              <a:rPr lang="en-US" sz="1250" dirty="0">
                <a:solidFill>
                  <a:srgbClr val="D9C3A8"/>
                </a:solidFill>
                <a:latin typeface="Inter" pitchFamily="34" charset="0"/>
                <a:ea typeface="Inter" pitchFamily="34" charset="-122"/>
                <a:cs typeface="Inter" pitchFamily="34" charset="-120"/>
              </a:rPr>
              <a:t>.</a:t>
            </a:r>
            <a:endParaRPr lang="en-US" sz="1250" dirty="0"/>
          </a:p>
        </p:txBody>
      </p:sp>
      <p:sp>
        <p:nvSpPr>
          <p:cNvPr id="15" name="Text 13"/>
          <p:cNvSpPr/>
          <p:nvPr/>
        </p:nvSpPr>
        <p:spPr>
          <a:xfrm>
            <a:off x="6374130" y="2675889"/>
            <a:ext cx="497208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0C99A"/>
                </a:solidFill>
                <a:latin typeface="Inter" pitchFamily="34" charset="0"/>
                <a:ea typeface="Inter" pitchFamily="34" charset="-122"/>
                <a:cs typeface="Inter" pitchFamily="34" charset="-120"/>
              </a:rPr>
              <a:t>Five hops and a point-in-time condition.</a:t>
            </a:r>
            <a:endParaRPr lang="en-US" sz="1250" dirty="0"/>
          </a:p>
        </p:txBody>
      </p:sp>
      <p:sp>
        <p:nvSpPr>
          <p:cNvPr id="16" name="Shape 14"/>
          <p:cNvSpPr/>
          <p:nvPr/>
        </p:nvSpPr>
        <p:spPr>
          <a:xfrm>
            <a:off x="812800" y="3215639"/>
            <a:ext cx="10566400" cy="708660"/>
          </a:xfrm>
          <a:prstGeom prst="roundRect">
            <a:avLst>
              <a:gd name="adj" fmla="val 12545"/>
            </a:avLst>
          </a:prstGeom>
          <a:solidFill>
            <a:srgbClr val="142639"/>
          </a:solidFill>
          <a:ln/>
        </p:spPr>
      </p:sp>
      <p:pic>
        <p:nvPicPr>
          <p:cNvPr id="17" name="Image 0" descr="Warning">    </p:cNvPr>
          <p:cNvPicPr>
            <a:picLocks noChangeAspect="1"/>
          </p:cNvPicPr>
          <p:nvPr/>
        </p:nvPicPr>
        <p:blipFill>
          <a:blip r:embed="rId1"/>
          <a:srcRect l="0" r="0" t="0" b="0"/>
          <a:stretch/>
        </p:blipFill>
        <p:spPr>
          <a:xfrm>
            <a:off x="990600" y="3455671"/>
            <a:ext cx="228600" cy="228600"/>
          </a:xfrm>
          <a:prstGeom prst="rect">
            <a:avLst/>
          </a:prstGeom>
        </p:spPr>
      </p:pic>
      <p:sp>
        <p:nvSpPr>
          <p:cNvPr id="18" name="Text 15"/>
          <p:cNvSpPr/>
          <p:nvPr/>
        </p:nvSpPr>
        <p:spPr>
          <a:xfrm>
            <a:off x="1358900" y="3355339"/>
            <a:ext cx="10137775"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5F8F9"/>
                </a:solidFill>
                <a:latin typeface="Inter" pitchFamily="34" charset="0"/>
                <a:ea typeface="Inter" pitchFamily="34" charset="-122"/>
                <a:cs typeface="Inter" pitchFamily="34" charset="-120"/>
              </a:rPr>
              <a:t>A vector search cannot answer the second question. It retrieves similar text. The question is about </a:t>
            </a:r>
            <a:r>
              <a:rPr lang="en-US" sz="1300" b="1" dirty="0">
                <a:solidFill>
                  <a:srgbClr val="F5F8F9"/>
                </a:solidFill>
                <a:latin typeface="Inter" pitchFamily="34" charset="0"/>
                <a:ea typeface="Inter" pitchFamily="34" charset="-122"/>
                <a:cs typeface="Inter" pitchFamily="34" charset="-120"/>
              </a:rPr>
              <a:t>who is connected to what, and when</a:t>
            </a:r>
            <a:r>
              <a:rPr lang="en-US" sz="1300" dirty="0">
                <a:solidFill>
                  <a:srgbClr val="F5F8F9"/>
                </a:solidFill>
                <a:latin typeface="Inter" pitchFamily="34" charset="0"/>
                <a:ea typeface="Inter" pitchFamily="34" charset="-122"/>
                <a:cs typeface="Inter" pitchFamily="34" charset="-120"/>
              </a:rPr>
              <a:t>.</a:t>
            </a:r>
            <a:endParaRPr lang="en-US" sz="1300" dirty="0"/>
          </a:p>
        </p:txBody>
      </p:sp>
      <p:sp>
        <p:nvSpPr>
          <p:cNvPr id="19" name="Text 16"/>
          <p:cNvSpPr/>
          <p:nvPr/>
        </p:nvSpPr>
        <p:spPr>
          <a:xfrm>
            <a:off x="812800" y="4076700"/>
            <a:ext cx="3445907" cy="847725"/>
          </a:xfrm>
          <a:prstGeom prst="roundRect">
            <a:avLst>
              <a:gd name="adj" fmla="val 8989"/>
            </a:avLst>
          </a:prstGeom>
          <a:solidFill>
            <a:srgbClr val="142639"/>
          </a:solidFill>
          <a:ln/>
        </p:spPr>
        <p:txBody>
          <a:bodyPr wrap="square" lIns="117382" tIns="91982" rIns="22387" bIns="66582" rtlCol="0" anchor="t">
            <a:normAutofit/>
          </a:bodyPr>
          <a:lstStyle/>
          <a:p>
            <a:pPr algn="l" indent="0" marL="0">
              <a:lnSpc>
                <a:spcPts val="1625"/>
              </a:lnSpc>
              <a:buNone/>
            </a:pPr>
            <a:r>
              <a:rPr lang="en-US" sz="1250" b="1" dirty="0">
                <a:solidFill>
                  <a:srgbClr val="9FB3BE"/>
                </a:solidFill>
                <a:latin typeface="Inter" pitchFamily="34" charset="0"/>
                <a:ea typeface="Inter" pitchFamily="34" charset="-122"/>
                <a:cs typeface="Inter" pitchFamily="34" charset="-120"/>
              </a:rPr>
              <a:t>Memory is relationships</a:t>
            </a:r>
            <a:r>
              <a:rPr lang="en-US" sz="1250" dirty="0">
                <a:solidFill>
                  <a:srgbClr val="9FB3BE"/>
                </a:solidFill>
                <a:latin typeface="Inter" pitchFamily="34" charset="0"/>
                <a:ea typeface="Inter" pitchFamily="34" charset="-122"/>
                <a:cs typeface="Inter" pitchFamily="34" charset="-120"/>
              </a:rPr>
              <a:t> — a fact is useful only linked to its source and what it superseded</a:t>
            </a:r>
            <a:endParaRPr lang="en-US" sz="1250" dirty="0"/>
          </a:p>
        </p:txBody>
      </p:sp>
      <p:sp>
        <p:nvSpPr>
          <p:cNvPr id="20" name="Text 17"/>
          <p:cNvSpPr/>
          <p:nvPr/>
        </p:nvSpPr>
        <p:spPr>
          <a:xfrm>
            <a:off x="4373007" y="4076700"/>
            <a:ext cx="3445986" cy="847725"/>
          </a:xfrm>
          <a:prstGeom prst="roundRect">
            <a:avLst>
              <a:gd name="adj" fmla="val 8989"/>
            </a:avLst>
          </a:prstGeom>
          <a:solidFill>
            <a:srgbClr val="142639"/>
          </a:solidFill>
          <a:ln/>
        </p:spPr>
        <p:txBody>
          <a:bodyPr wrap="square" lIns="117382" tIns="91982" rIns="22384" bIns="66582" rtlCol="0" anchor="t">
            <a:normAutofit/>
          </a:bodyPr>
          <a:lstStyle/>
          <a:p>
            <a:pPr algn="l" indent="0" marL="0">
              <a:lnSpc>
                <a:spcPts val="1625"/>
              </a:lnSpc>
              <a:buNone/>
            </a:pPr>
            <a:r>
              <a:rPr lang="en-US" sz="1250" b="1" dirty="0">
                <a:solidFill>
                  <a:srgbClr val="9FB3BE"/>
                </a:solidFill>
                <a:latin typeface="Inter" pitchFamily="34" charset="0"/>
                <a:ea typeface="Inter" pitchFamily="34" charset="-122"/>
                <a:cs typeface="Inter" pitchFamily="34" charset="-120"/>
              </a:rPr>
              <a:t>Grounding needs traversal</a:t>
            </a:r>
            <a:r>
              <a:rPr lang="en-US" sz="1250" dirty="0">
                <a:solidFill>
                  <a:srgbClr val="9FB3BE"/>
                </a:solidFill>
                <a:latin typeface="Inter" pitchFamily="34" charset="0"/>
                <a:ea typeface="Inter" pitchFamily="34" charset="-122"/>
                <a:cs typeface="Inter" pitchFamily="34" charset="-120"/>
              </a:rPr>
              <a:t> — real questions are multi-hop and time-bound</a:t>
            </a:r>
            <a:endParaRPr lang="en-US" sz="1250" dirty="0"/>
          </a:p>
        </p:txBody>
      </p:sp>
      <p:sp>
        <p:nvSpPr>
          <p:cNvPr id="21" name="Text 18"/>
          <p:cNvSpPr/>
          <p:nvPr/>
        </p:nvSpPr>
        <p:spPr>
          <a:xfrm>
            <a:off x="7933293" y="4076700"/>
            <a:ext cx="3445907" cy="847725"/>
          </a:xfrm>
          <a:prstGeom prst="roundRect">
            <a:avLst>
              <a:gd name="adj" fmla="val 8989"/>
            </a:avLst>
          </a:prstGeom>
          <a:solidFill>
            <a:srgbClr val="142639"/>
          </a:solidFill>
          <a:ln/>
        </p:spPr>
        <p:txBody>
          <a:bodyPr wrap="square" lIns="117382" tIns="91982" rIns="22387" bIns="66582" rtlCol="0" anchor="t">
            <a:normAutofit/>
          </a:bodyPr>
          <a:lstStyle/>
          <a:p>
            <a:pPr algn="l" indent="0" marL="0">
              <a:lnSpc>
                <a:spcPts val="1625"/>
              </a:lnSpc>
              <a:buNone/>
            </a:pPr>
            <a:r>
              <a:rPr lang="en-US" sz="1250" b="1" dirty="0">
                <a:solidFill>
                  <a:srgbClr val="9FB3BE"/>
                </a:solidFill>
                <a:latin typeface="Inter" pitchFamily="34" charset="0"/>
                <a:ea typeface="Inter" pitchFamily="34" charset="-122"/>
                <a:cs typeface="Inter" pitchFamily="34" charset="-120"/>
              </a:rPr>
              <a:t>Governance is topology</a:t>
            </a:r>
            <a:r>
              <a:rPr lang="en-US" sz="1250" dirty="0">
                <a:solidFill>
                  <a:srgbClr val="9FB3BE"/>
                </a:solidFill>
                <a:latin typeface="Inter" pitchFamily="34" charset="0"/>
                <a:ea typeface="Inter" pitchFamily="34" charset="-122"/>
                <a:cs typeface="Inter" pitchFamily="34" charset="-120"/>
              </a:rPr>
              <a:t> — entitlements and as-of state are relationship questions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33400"/>
            <a:ext cx="9750659" cy="374650"/>
          </a:xfrm>
          <a:prstGeom prst="rect">
            <a:avLst/>
          </a:prstGeom>
          <a:noFill/>
          <a:ln/>
        </p:spPr>
        <p:txBody>
          <a:bodyPr wrap="square" lIns="0" tIns="0" rIns="0" bIns="0" rtlCol="0" anchor="t">
            <a:normAutofit/>
          </a:bodyPr>
          <a:lstStyle/>
          <a:p>
            <a:pPr algn="l" indent="0" marL="0">
              <a:lnSpc>
                <a:spcPts val="2750"/>
              </a:lnSpc>
              <a:buNone/>
            </a:pPr>
            <a:r>
              <a:rPr lang="en-US" sz="2500" b="1" dirty="0">
                <a:solidFill>
                  <a:srgbClr val="0B1622"/>
                </a:solidFill>
                <a:latin typeface="Space Grotesk" pitchFamily="34" charset="0"/>
                <a:ea typeface="Space Grotesk" pitchFamily="34" charset="-122"/>
                <a:cs typeface="Space Grotesk" pitchFamily="34" charset="-120"/>
              </a:rPr>
              <a:t>Why not PostgreSQL — six questions we cannot answer today</a:t>
            </a:r>
            <a:endParaRPr lang="en-US" sz="2500" dirty="0"/>
          </a:p>
        </p:txBody>
      </p:sp>
      <p:sp>
        <p:nvSpPr>
          <p:cNvPr id="3" name="Shape 1"/>
          <p:cNvSpPr/>
          <p:nvPr/>
        </p:nvSpPr>
        <p:spPr>
          <a:xfrm>
            <a:off x="812800" y="996950"/>
            <a:ext cx="3462814" cy="2181860"/>
          </a:xfrm>
          <a:prstGeom prst="roundRect">
            <a:avLst>
              <a:gd name="adj" fmla="val 3492"/>
            </a:avLst>
          </a:prstGeom>
          <a:solidFill>
            <a:srgbClr val="F5F8F9"/>
          </a:solidFill>
          <a:ln/>
        </p:spPr>
      </p:sp>
      <p:sp>
        <p:nvSpPr>
          <p:cNvPr id="4" name="Text 2"/>
          <p:cNvSpPr/>
          <p:nvPr/>
        </p:nvSpPr>
        <p:spPr>
          <a:xfrm>
            <a:off x="939800" y="1111250"/>
            <a:ext cx="33050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B7A"/>
                </a:solidFill>
                <a:latin typeface="Space Grotesk" pitchFamily="34" charset="0"/>
                <a:ea typeface="Space Grotesk" pitchFamily="34" charset="-122"/>
                <a:cs typeface="Space Grotesk" pitchFamily="34" charset="-120"/>
              </a:rPr>
              <a:t>Variable-depth traversal</a:t>
            </a:r>
            <a:endParaRPr lang="en-US" sz="1200" dirty="0"/>
          </a:p>
        </p:txBody>
      </p:sp>
      <p:sp>
        <p:nvSpPr>
          <p:cNvPr id="5" name="Text 3"/>
          <p:cNvSpPr/>
          <p:nvPr/>
        </p:nvSpPr>
        <p:spPr>
          <a:xfrm>
            <a:off x="939800" y="1375411"/>
            <a:ext cx="3305078" cy="406400"/>
          </a:xfrm>
          <a:prstGeom prst="rect">
            <a:avLst/>
          </a:prstGeom>
          <a:noFill/>
          <a:ln/>
        </p:spPr>
        <p:txBody>
          <a:bodyPr wrap="square" lIns="0" tIns="0" rIns="0" bIns="0" rtlCol="0" anchor="t">
            <a:normAutofit/>
          </a:bodyPr>
          <a:lstStyle/>
          <a:p>
            <a:pPr algn="l" indent="0" marL="0">
              <a:lnSpc>
                <a:spcPts val="1500"/>
              </a:lnSpc>
              <a:buNone/>
            </a:pPr>
            <a:r>
              <a:rPr lang="en-US" sz="1250" dirty="0">
                <a:solidFill>
                  <a:srgbClr val="0B1622"/>
                </a:solidFill>
                <a:latin typeface="Instrument Serif" pitchFamily="34" charset="0"/>
                <a:ea typeface="Instrument Serif" pitchFamily="34" charset="-122"/>
                <a:cs typeface="Instrument Serif" pitchFamily="34" charset="-120"/>
              </a:rPr>
              <a:t>"Which households hold this product, were recommended it while their goal was conservative, and by which advisor?"</a:t>
            </a:r>
            <a:endParaRPr lang="en-US" sz="1250" dirty="0"/>
          </a:p>
        </p:txBody>
      </p:sp>
      <p:sp>
        <p:nvSpPr>
          <p:cNvPr id="6" name="Text 4"/>
          <p:cNvSpPr/>
          <p:nvPr/>
        </p:nvSpPr>
        <p:spPr>
          <a:xfrm>
            <a:off x="939800" y="1807211"/>
            <a:ext cx="3208814" cy="698500"/>
          </a:xfrm>
          <a:prstGeom prst="roundRect">
            <a:avLst>
              <a:gd name="adj" fmla="val 7273"/>
            </a:avLst>
          </a:prstGeom>
          <a:solidFill>
            <a:srgbClr val="FBEAE7"/>
          </a:solidFill>
          <a:ln/>
        </p:spPr>
        <p:txBody>
          <a:bodyPr wrap="square" lIns="67671" tIns="48621" rIns="0" bIns="23221" rtlCol="0" anchor="t">
            <a:normAutofit/>
          </a:bodyPr>
          <a:lstStyle/>
          <a:p>
            <a:pPr algn="l" indent="0" marL="0">
              <a:lnSpc>
                <a:spcPts val="1500"/>
              </a:lnSpc>
              <a:buNone/>
            </a:pPr>
            <a:r>
              <a:rPr lang="en-US" sz="1200" dirty="0">
                <a:solidFill>
                  <a:srgbClr val="8C2E22"/>
                </a:solidFill>
                <a:latin typeface="Inter" pitchFamily="34" charset="0"/>
                <a:ea typeface="Inter" pitchFamily="34" charset="-122"/>
                <a:cs typeface="Inter" pitchFamily="34" charset="-120"/>
              </a:rPr>
              <a:t>Five hops is a hand-written recursive CTE. PG19 graph syntax is fixed-depth only.</a:t>
            </a:r>
            <a:endParaRPr lang="en-US" sz="1200" dirty="0"/>
          </a:p>
        </p:txBody>
      </p:sp>
      <p:sp>
        <p:nvSpPr>
          <p:cNvPr id="7" name="Text 5"/>
          <p:cNvSpPr/>
          <p:nvPr/>
        </p:nvSpPr>
        <p:spPr>
          <a:xfrm>
            <a:off x="939800" y="2556511"/>
            <a:ext cx="3208814" cy="317500"/>
          </a:xfrm>
          <a:prstGeom prst="roundRect">
            <a:avLst>
              <a:gd name="adj" fmla="val 16000"/>
            </a:avLst>
          </a:prstGeom>
          <a:solidFill>
            <a:srgbClr val="E4F1EE"/>
          </a:solidFill>
          <a:ln/>
        </p:spPr>
        <p:txBody>
          <a:bodyPr wrap="square" lIns="67671" tIns="48621" rIns="0" bIns="23221"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One query. Depth is a parameter.</a:t>
            </a:r>
            <a:endParaRPr lang="en-US" sz="1200" dirty="0"/>
          </a:p>
        </p:txBody>
      </p:sp>
      <p:sp>
        <p:nvSpPr>
          <p:cNvPr id="8" name="Shape 6"/>
          <p:cNvSpPr/>
          <p:nvPr/>
        </p:nvSpPr>
        <p:spPr>
          <a:xfrm>
            <a:off x="4364514" y="996950"/>
            <a:ext cx="3462893" cy="2181860"/>
          </a:xfrm>
          <a:prstGeom prst="roundRect">
            <a:avLst>
              <a:gd name="adj" fmla="val 3492"/>
            </a:avLst>
          </a:prstGeom>
          <a:solidFill>
            <a:srgbClr val="F5F8F9"/>
          </a:solidFill>
          <a:ln/>
        </p:spPr>
      </p:sp>
      <p:sp>
        <p:nvSpPr>
          <p:cNvPr id="9" name="Text 7"/>
          <p:cNvSpPr/>
          <p:nvPr/>
        </p:nvSpPr>
        <p:spPr>
          <a:xfrm>
            <a:off x="4491514" y="1111250"/>
            <a:ext cx="33051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B7A"/>
                </a:solidFill>
                <a:latin typeface="Space Grotesk" pitchFamily="34" charset="0"/>
                <a:ea typeface="Space Grotesk" pitchFamily="34" charset="-122"/>
                <a:cs typeface="Space Grotesk" pitchFamily="34" charset="-120"/>
              </a:rPr>
              <a:t>As-of relationship history</a:t>
            </a:r>
            <a:endParaRPr lang="en-US" sz="1200" dirty="0"/>
          </a:p>
        </p:txBody>
      </p:sp>
      <p:sp>
        <p:nvSpPr>
          <p:cNvPr id="10" name="Text 8"/>
          <p:cNvSpPr/>
          <p:nvPr/>
        </p:nvSpPr>
        <p:spPr>
          <a:xfrm>
            <a:off x="4491514" y="1375411"/>
            <a:ext cx="3305160" cy="406400"/>
          </a:xfrm>
          <a:prstGeom prst="rect">
            <a:avLst/>
          </a:prstGeom>
          <a:noFill/>
          <a:ln/>
        </p:spPr>
        <p:txBody>
          <a:bodyPr wrap="square" lIns="0" tIns="0" rIns="0" bIns="0" rtlCol="0" anchor="t">
            <a:normAutofit/>
          </a:bodyPr>
          <a:lstStyle/>
          <a:p>
            <a:pPr algn="l" indent="0" marL="0">
              <a:lnSpc>
                <a:spcPts val="1500"/>
              </a:lnSpc>
              <a:buNone/>
            </a:pPr>
            <a:r>
              <a:rPr lang="en-US" sz="1250" dirty="0">
                <a:solidFill>
                  <a:srgbClr val="0B1622"/>
                </a:solidFill>
                <a:latin typeface="Instrument Serif" pitchFamily="34" charset="0"/>
                <a:ea typeface="Instrument Serif" pitchFamily="34" charset="-122"/>
                <a:cs typeface="Instrument Serif" pitchFamily="34" charset="-120"/>
              </a:rPr>
              <a:t>"Why was I paid this in April?" — the plan, hierarchy and rule have all changed since.</a:t>
            </a:r>
            <a:endParaRPr lang="en-US" sz="1250" dirty="0"/>
          </a:p>
        </p:txBody>
      </p:sp>
      <p:sp>
        <p:nvSpPr>
          <p:cNvPr id="11" name="Text 9"/>
          <p:cNvSpPr/>
          <p:nvPr/>
        </p:nvSpPr>
        <p:spPr>
          <a:xfrm>
            <a:off x="4491514" y="1807211"/>
            <a:ext cx="3208893" cy="698500"/>
          </a:xfrm>
          <a:prstGeom prst="roundRect">
            <a:avLst>
              <a:gd name="adj" fmla="val 7273"/>
            </a:avLst>
          </a:prstGeom>
          <a:solidFill>
            <a:srgbClr val="FBEAE7"/>
          </a:solidFill>
          <a:ln/>
        </p:spPr>
        <p:txBody>
          <a:bodyPr wrap="square" lIns="67671" tIns="48621" rIns="0" bIns="23221" rtlCol="0" anchor="t">
            <a:normAutofit/>
          </a:bodyPr>
          <a:lstStyle/>
          <a:p>
            <a:pPr algn="l" indent="0" marL="0">
              <a:lnSpc>
                <a:spcPts val="1500"/>
              </a:lnSpc>
              <a:buNone/>
            </a:pPr>
            <a:r>
              <a:rPr lang="en-US" sz="1200" dirty="0">
                <a:solidFill>
                  <a:srgbClr val="8C2E22"/>
                </a:solidFill>
                <a:latin typeface="Inter" pitchFamily="34" charset="0"/>
                <a:ea typeface="Inter" pitchFamily="34" charset="-122"/>
                <a:cs typeface="Inter" pitchFamily="34" charset="-120"/>
              </a:rPr>
              <a:t>PG18 added application time, not system versioning. Range predicates on every table at every hop.</a:t>
            </a:r>
            <a:endParaRPr lang="en-US" sz="1200" dirty="0"/>
          </a:p>
        </p:txBody>
      </p:sp>
      <p:sp>
        <p:nvSpPr>
          <p:cNvPr id="12" name="Text 10"/>
          <p:cNvSpPr/>
          <p:nvPr/>
        </p:nvSpPr>
        <p:spPr>
          <a:xfrm>
            <a:off x="4491514" y="2556511"/>
            <a:ext cx="3208893" cy="508000"/>
          </a:xfrm>
          <a:prstGeom prst="roundRect">
            <a:avLst>
              <a:gd name="adj" fmla="val 10000"/>
            </a:avLst>
          </a:prstGeom>
          <a:solidFill>
            <a:srgbClr val="E4F1EE"/>
          </a:solidFill>
          <a:ln/>
        </p:spPr>
        <p:txBody>
          <a:bodyPr wrap="square" lIns="67671" tIns="48621" rIns="0" bIns="23221"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Relationships carry validity. Query as of any date.</a:t>
            </a:r>
            <a:endParaRPr lang="en-US" sz="1200" dirty="0"/>
          </a:p>
        </p:txBody>
      </p:sp>
      <p:sp>
        <p:nvSpPr>
          <p:cNvPr id="13" name="Shape 11"/>
          <p:cNvSpPr/>
          <p:nvPr/>
        </p:nvSpPr>
        <p:spPr>
          <a:xfrm>
            <a:off x="7916307" y="996950"/>
            <a:ext cx="3462893" cy="2181860"/>
          </a:xfrm>
          <a:prstGeom prst="roundRect">
            <a:avLst>
              <a:gd name="adj" fmla="val 3492"/>
            </a:avLst>
          </a:prstGeom>
          <a:solidFill>
            <a:srgbClr val="F5F8F9"/>
          </a:solidFill>
          <a:ln/>
        </p:spPr>
      </p:sp>
      <p:sp>
        <p:nvSpPr>
          <p:cNvPr id="14" name="Text 12"/>
          <p:cNvSpPr/>
          <p:nvPr/>
        </p:nvSpPr>
        <p:spPr>
          <a:xfrm>
            <a:off x="8043307" y="1111250"/>
            <a:ext cx="33051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B7A"/>
                </a:solidFill>
                <a:latin typeface="Space Grotesk" pitchFamily="34" charset="0"/>
                <a:ea typeface="Space Grotesk" pitchFamily="34" charset="-122"/>
                <a:cs typeface="Space Grotesk" pitchFamily="34" charset="-120"/>
              </a:rPr>
              <a:t>Graph algorithms</a:t>
            </a:r>
            <a:endParaRPr lang="en-US" sz="1200" dirty="0"/>
          </a:p>
        </p:txBody>
      </p:sp>
      <p:sp>
        <p:nvSpPr>
          <p:cNvPr id="15" name="Text 13"/>
          <p:cNvSpPr/>
          <p:nvPr/>
        </p:nvSpPr>
        <p:spPr>
          <a:xfrm>
            <a:off x="8043307" y="1375411"/>
            <a:ext cx="3305160" cy="406400"/>
          </a:xfrm>
          <a:prstGeom prst="rect">
            <a:avLst/>
          </a:prstGeom>
          <a:noFill/>
          <a:ln/>
        </p:spPr>
        <p:txBody>
          <a:bodyPr wrap="square" lIns="0" tIns="0" rIns="0" bIns="0" rtlCol="0" anchor="t">
            <a:normAutofit/>
          </a:bodyPr>
          <a:lstStyle/>
          <a:p>
            <a:pPr algn="l" indent="0" marL="0">
              <a:lnSpc>
                <a:spcPts val="1500"/>
              </a:lnSpc>
              <a:buNone/>
            </a:pPr>
            <a:r>
              <a:rPr lang="en-US" sz="1250" dirty="0">
                <a:solidFill>
                  <a:srgbClr val="0B1622"/>
                </a:solidFill>
                <a:latin typeface="Instrument Serif" pitchFamily="34" charset="0"/>
                <a:ea typeface="Instrument Serif" pitchFamily="34" charset="-122"/>
                <a:cs typeface="Instrument Serif" pitchFamily="34" charset="-120"/>
              </a:rPr>
              <a:t>"Where does this advisor rank against their true peers, and who moved most this quarter?"</a:t>
            </a:r>
            <a:endParaRPr lang="en-US" sz="1250" dirty="0"/>
          </a:p>
        </p:txBody>
      </p:sp>
      <p:sp>
        <p:nvSpPr>
          <p:cNvPr id="16" name="Text 14"/>
          <p:cNvSpPr/>
          <p:nvPr/>
        </p:nvSpPr>
        <p:spPr>
          <a:xfrm>
            <a:off x="8043307" y="1807211"/>
            <a:ext cx="3208893" cy="508000"/>
          </a:xfrm>
          <a:prstGeom prst="roundRect">
            <a:avLst>
              <a:gd name="adj" fmla="val 10000"/>
            </a:avLst>
          </a:prstGeom>
          <a:solidFill>
            <a:srgbClr val="FBEAE7"/>
          </a:solidFill>
          <a:ln/>
        </p:spPr>
        <p:txBody>
          <a:bodyPr wrap="square" lIns="67671" tIns="48621" rIns="0" bIns="23221" rtlCol="0" anchor="t">
            <a:normAutofit/>
          </a:bodyPr>
          <a:lstStyle/>
          <a:p>
            <a:pPr algn="l" indent="0" marL="0">
              <a:lnSpc>
                <a:spcPts val="1500"/>
              </a:lnSpc>
              <a:buNone/>
            </a:pPr>
            <a:r>
              <a:rPr lang="en-US" sz="1200" dirty="0">
                <a:solidFill>
                  <a:srgbClr val="8C2E22"/>
                </a:solidFill>
                <a:latin typeface="Inter" pitchFamily="34" charset="0"/>
                <a:ea typeface="Inter" pitchFamily="34" charset="-122"/>
                <a:cs typeface="Inter" pitchFamily="34" charset="-120"/>
              </a:rPr>
              <a:t>No similarity, ranking or centrality. Peers become a hardcoded segment.</a:t>
            </a:r>
            <a:endParaRPr lang="en-US" sz="1200" dirty="0"/>
          </a:p>
        </p:txBody>
      </p:sp>
      <p:sp>
        <p:nvSpPr>
          <p:cNvPr id="17" name="Text 15"/>
          <p:cNvSpPr/>
          <p:nvPr/>
        </p:nvSpPr>
        <p:spPr>
          <a:xfrm>
            <a:off x="8043307" y="2366011"/>
            <a:ext cx="3208893" cy="508000"/>
          </a:xfrm>
          <a:prstGeom prst="roundRect">
            <a:avLst>
              <a:gd name="adj" fmla="val 10000"/>
            </a:avLst>
          </a:prstGeom>
          <a:solidFill>
            <a:srgbClr val="E4F1EE"/>
          </a:solidFill>
          <a:ln/>
        </p:spPr>
        <p:txBody>
          <a:bodyPr wrap="square" lIns="67671" tIns="48621" rIns="0" bIns="23221"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Cohorts discovered, ranked in-database. Four algorithms, one query.</a:t>
            </a:r>
            <a:endParaRPr lang="en-US" sz="1200" dirty="0"/>
          </a:p>
        </p:txBody>
      </p:sp>
      <p:sp>
        <p:nvSpPr>
          <p:cNvPr id="18" name="Shape 16"/>
          <p:cNvSpPr/>
          <p:nvPr/>
        </p:nvSpPr>
        <p:spPr>
          <a:xfrm>
            <a:off x="812800" y="3267711"/>
            <a:ext cx="3462814" cy="2372360"/>
          </a:xfrm>
          <a:prstGeom prst="roundRect">
            <a:avLst>
              <a:gd name="adj" fmla="val 3212"/>
            </a:avLst>
          </a:prstGeom>
          <a:solidFill>
            <a:srgbClr val="F5F8F9"/>
          </a:solidFill>
          <a:ln/>
        </p:spPr>
      </p:sp>
      <p:sp>
        <p:nvSpPr>
          <p:cNvPr id="19" name="Text 17"/>
          <p:cNvSpPr/>
          <p:nvPr/>
        </p:nvSpPr>
        <p:spPr>
          <a:xfrm>
            <a:off x="939800" y="3382011"/>
            <a:ext cx="33050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B7A"/>
                </a:solidFill>
                <a:latin typeface="Space Grotesk" pitchFamily="34" charset="0"/>
                <a:ea typeface="Space Grotesk" pitchFamily="34" charset="-122"/>
                <a:cs typeface="Space Grotesk" pitchFamily="34" charset="-120"/>
              </a:rPr>
              <a:t>Compensation across relationships</a:t>
            </a:r>
            <a:endParaRPr lang="en-US" sz="1200" dirty="0"/>
          </a:p>
        </p:txBody>
      </p:sp>
      <p:sp>
        <p:nvSpPr>
          <p:cNvPr id="20" name="Text 18"/>
          <p:cNvSpPr/>
          <p:nvPr/>
        </p:nvSpPr>
        <p:spPr>
          <a:xfrm>
            <a:off x="939800" y="3646171"/>
            <a:ext cx="3305078" cy="406400"/>
          </a:xfrm>
          <a:prstGeom prst="rect">
            <a:avLst/>
          </a:prstGeom>
          <a:noFill/>
          <a:ln/>
        </p:spPr>
        <p:txBody>
          <a:bodyPr wrap="square" lIns="0" tIns="0" rIns="0" bIns="0" rtlCol="0" anchor="t">
            <a:normAutofit/>
          </a:bodyPr>
          <a:lstStyle/>
          <a:p>
            <a:pPr algn="l" indent="0" marL="0">
              <a:lnSpc>
                <a:spcPts val="1500"/>
              </a:lnSpc>
              <a:buNone/>
            </a:pPr>
            <a:r>
              <a:rPr lang="en-US" sz="1250" dirty="0">
                <a:solidFill>
                  <a:srgbClr val="0B1622"/>
                </a:solidFill>
                <a:latin typeface="Instrument Serif" pitchFamily="34" charset="0"/>
                <a:ea typeface="Instrument Serif" pitchFamily="34" charset="-122"/>
                <a:cs typeface="Instrument Serif" pitchFamily="34" charset="-120"/>
              </a:rPr>
              <a:t>"Evaluate this rule where credit splits across a household serviced by a team."</a:t>
            </a:r>
            <a:endParaRPr lang="en-US" sz="1250" dirty="0"/>
          </a:p>
        </p:txBody>
      </p:sp>
      <p:sp>
        <p:nvSpPr>
          <p:cNvPr id="21" name="Text 19"/>
          <p:cNvSpPr/>
          <p:nvPr/>
        </p:nvSpPr>
        <p:spPr>
          <a:xfrm>
            <a:off x="939800" y="4077971"/>
            <a:ext cx="3208814" cy="698500"/>
          </a:xfrm>
          <a:prstGeom prst="roundRect">
            <a:avLst>
              <a:gd name="adj" fmla="val 7273"/>
            </a:avLst>
          </a:prstGeom>
          <a:solidFill>
            <a:srgbClr val="FBEAE7"/>
          </a:solidFill>
          <a:ln/>
        </p:spPr>
        <p:txBody>
          <a:bodyPr wrap="square" lIns="67671" tIns="48621" rIns="0" bIns="23221" rtlCol="0" anchor="t">
            <a:normAutofit/>
          </a:bodyPr>
          <a:lstStyle/>
          <a:p>
            <a:pPr algn="l" indent="0" marL="0">
              <a:lnSpc>
                <a:spcPts val="1500"/>
              </a:lnSpc>
              <a:buNone/>
            </a:pPr>
            <a:r>
              <a:rPr lang="en-US" sz="1200" dirty="0">
                <a:solidFill>
                  <a:srgbClr val="8C2E22"/>
                </a:solidFill>
                <a:latin typeface="Inter" pitchFamily="34" charset="0"/>
                <a:ea typeface="Inter" pitchFamily="34" charset="-122"/>
                <a:cs typeface="Inter" pitchFamily="34" charset="-120"/>
              </a:rPr>
              <a:t>Rules are hardcoded SQL. Relationship-aware credit means a recursive CTE per rule, per advisor.</a:t>
            </a:r>
            <a:endParaRPr lang="en-US" sz="1200" dirty="0"/>
          </a:p>
        </p:txBody>
      </p:sp>
      <p:sp>
        <p:nvSpPr>
          <p:cNvPr id="22" name="Text 20"/>
          <p:cNvSpPr/>
          <p:nvPr/>
        </p:nvSpPr>
        <p:spPr>
          <a:xfrm>
            <a:off x="939800" y="4827271"/>
            <a:ext cx="3208814" cy="508000"/>
          </a:xfrm>
          <a:prstGeom prst="roundRect">
            <a:avLst>
              <a:gd name="adj" fmla="val 10000"/>
            </a:avLst>
          </a:prstGeom>
          <a:solidFill>
            <a:srgbClr val="E4F1EE"/>
          </a:solidFill>
          <a:ln/>
        </p:spPr>
        <p:txBody>
          <a:bodyPr wrap="square" lIns="67671" tIns="48621" rIns="0" bIns="23221"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Accumulators carry credit as the query traverses. One pass, 5,455 advisors.</a:t>
            </a:r>
            <a:endParaRPr lang="en-US" sz="1200" dirty="0"/>
          </a:p>
        </p:txBody>
      </p:sp>
      <p:sp>
        <p:nvSpPr>
          <p:cNvPr id="23" name="Shape 21"/>
          <p:cNvSpPr/>
          <p:nvPr/>
        </p:nvSpPr>
        <p:spPr>
          <a:xfrm>
            <a:off x="4364514" y="3267711"/>
            <a:ext cx="3462893" cy="2372360"/>
          </a:xfrm>
          <a:prstGeom prst="roundRect">
            <a:avLst>
              <a:gd name="adj" fmla="val 3212"/>
            </a:avLst>
          </a:prstGeom>
          <a:solidFill>
            <a:srgbClr val="F5F8F9"/>
          </a:solidFill>
          <a:ln/>
        </p:spPr>
      </p:sp>
      <p:sp>
        <p:nvSpPr>
          <p:cNvPr id="24" name="Text 22"/>
          <p:cNvSpPr/>
          <p:nvPr/>
        </p:nvSpPr>
        <p:spPr>
          <a:xfrm>
            <a:off x="4491514" y="3382011"/>
            <a:ext cx="33051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B7A"/>
                </a:solidFill>
                <a:latin typeface="Space Grotesk" pitchFamily="34" charset="0"/>
                <a:ea typeface="Space Grotesk" pitchFamily="34" charset="-122"/>
                <a:cs typeface="Space Grotesk" pitchFamily="34" charset="-120"/>
              </a:rPr>
              <a:t>Deep research on raw data</a:t>
            </a:r>
            <a:endParaRPr lang="en-US" sz="1200" dirty="0"/>
          </a:p>
        </p:txBody>
      </p:sp>
      <p:sp>
        <p:nvSpPr>
          <p:cNvPr id="25" name="Text 23"/>
          <p:cNvSpPr/>
          <p:nvPr/>
        </p:nvSpPr>
        <p:spPr>
          <a:xfrm>
            <a:off x="4491514" y="3646171"/>
            <a:ext cx="3305160" cy="406400"/>
          </a:xfrm>
          <a:prstGeom prst="rect">
            <a:avLst/>
          </a:prstGeom>
          <a:noFill/>
          <a:ln/>
        </p:spPr>
        <p:txBody>
          <a:bodyPr wrap="square" lIns="0" tIns="0" rIns="0" bIns="0" rtlCol="0" anchor="t">
            <a:normAutofit/>
          </a:bodyPr>
          <a:lstStyle/>
          <a:p>
            <a:pPr algn="l" indent="0" marL="0">
              <a:lnSpc>
                <a:spcPts val="1500"/>
              </a:lnSpc>
              <a:buNone/>
            </a:pPr>
            <a:r>
              <a:rPr lang="en-US" sz="1250" dirty="0">
                <a:solidFill>
                  <a:srgbClr val="0B1622"/>
                </a:solidFill>
                <a:latin typeface="Instrument Serif" pitchFamily="34" charset="0"/>
                <a:ea typeface="Instrument Serif" pitchFamily="34" charset="-122"/>
                <a:cs typeface="Instrument Serif" pitchFamily="34" charset="-120"/>
              </a:rPr>
              <a:t>"Show me unusual transfer patterns between accounts in unrelated households."</a:t>
            </a:r>
            <a:endParaRPr lang="en-US" sz="1250" dirty="0"/>
          </a:p>
        </p:txBody>
      </p:sp>
      <p:sp>
        <p:nvSpPr>
          <p:cNvPr id="26" name="Text 24"/>
          <p:cNvSpPr/>
          <p:nvPr/>
        </p:nvSpPr>
        <p:spPr>
          <a:xfrm>
            <a:off x="4491514" y="4077971"/>
            <a:ext cx="3208893" cy="698500"/>
          </a:xfrm>
          <a:prstGeom prst="roundRect">
            <a:avLst>
              <a:gd name="adj" fmla="val 7273"/>
            </a:avLst>
          </a:prstGeom>
          <a:solidFill>
            <a:srgbClr val="FBEAE7"/>
          </a:solidFill>
          <a:ln/>
        </p:spPr>
        <p:txBody>
          <a:bodyPr wrap="square" lIns="67671" tIns="48621" rIns="0" bIns="23221" rtlCol="0" anchor="t">
            <a:normAutofit/>
          </a:bodyPr>
          <a:lstStyle/>
          <a:p>
            <a:pPr algn="l" indent="0" marL="0">
              <a:lnSpc>
                <a:spcPts val="1500"/>
              </a:lnSpc>
              <a:buNone/>
            </a:pPr>
            <a:r>
              <a:rPr lang="en-US" sz="1200" dirty="0">
                <a:solidFill>
                  <a:srgbClr val="8C2E22"/>
                </a:solidFill>
                <a:latin typeface="Inter" pitchFamily="34" charset="0"/>
                <a:ea typeface="Inter" pitchFamily="34" charset="-122"/>
                <a:cs typeface="Inter" pitchFamily="34" charset="-120"/>
              </a:rPr>
              <a:t>No community detection or anomaly algorithms. 12.4M rows self-joined in application code.</a:t>
            </a:r>
            <a:endParaRPr lang="en-US" sz="1200" dirty="0"/>
          </a:p>
        </p:txBody>
      </p:sp>
      <p:sp>
        <p:nvSpPr>
          <p:cNvPr id="27" name="Text 25"/>
          <p:cNvSpPr/>
          <p:nvPr/>
        </p:nvSpPr>
        <p:spPr>
          <a:xfrm>
            <a:off x="4491514" y="4827271"/>
            <a:ext cx="3208893" cy="508000"/>
          </a:xfrm>
          <a:prstGeom prst="roundRect">
            <a:avLst>
              <a:gd name="adj" fmla="val 10000"/>
            </a:avLst>
          </a:prstGeom>
          <a:solidFill>
            <a:srgbClr val="E4F1EE"/>
          </a:solidFill>
          <a:ln/>
        </p:spPr>
        <p:txBody>
          <a:bodyPr wrap="square" lIns="67671" tIns="48621" rIns="0" bIns="23221"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Communities and patterns found in-database over the raw transaction graph.</a:t>
            </a:r>
            <a:endParaRPr lang="en-US" sz="1200" dirty="0"/>
          </a:p>
        </p:txBody>
      </p:sp>
      <p:sp>
        <p:nvSpPr>
          <p:cNvPr id="28" name="Shape 26"/>
          <p:cNvSpPr/>
          <p:nvPr/>
        </p:nvSpPr>
        <p:spPr>
          <a:xfrm>
            <a:off x="7916307" y="3267711"/>
            <a:ext cx="3462893" cy="2372360"/>
          </a:xfrm>
          <a:prstGeom prst="roundRect">
            <a:avLst>
              <a:gd name="adj" fmla="val 3212"/>
            </a:avLst>
          </a:prstGeom>
          <a:solidFill>
            <a:srgbClr val="F5F8F9"/>
          </a:solidFill>
          <a:ln/>
        </p:spPr>
      </p:sp>
      <p:sp>
        <p:nvSpPr>
          <p:cNvPr id="29" name="Text 27"/>
          <p:cNvSpPr/>
          <p:nvPr/>
        </p:nvSpPr>
        <p:spPr>
          <a:xfrm>
            <a:off x="8043307" y="3382011"/>
            <a:ext cx="33051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B7A"/>
                </a:solidFill>
                <a:latin typeface="Space Grotesk" pitchFamily="34" charset="0"/>
                <a:ea typeface="Space Grotesk" pitchFamily="34" charset="-122"/>
                <a:cs typeface="Space Grotesk" pitchFamily="34" charset="-120"/>
              </a:rPr>
              <a:t>Agent memory with supersession</a:t>
            </a:r>
            <a:endParaRPr lang="en-US" sz="1200" dirty="0"/>
          </a:p>
        </p:txBody>
      </p:sp>
      <p:sp>
        <p:nvSpPr>
          <p:cNvPr id="30" name="Text 28"/>
          <p:cNvSpPr/>
          <p:nvPr/>
        </p:nvSpPr>
        <p:spPr>
          <a:xfrm>
            <a:off x="8043307" y="3646171"/>
            <a:ext cx="3305160" cy="406400"/>
          </a:xfrm>
          <a:prstGeom prst="rect">
            <a:avLst/>
          </a:prstGeom>
          <a:noFill/>
          <a:ln/>
        </p:spPr>
        <p:txBody>
          <a:bodyPr wrap="square" lIns="0" tIns="0" rIns="0" bIns="0" rtlCol="0" anchor="t">
            <a:normAutofit/>
          </a:bodyPr>
          <a:lstStyle/>
          <a:p>
            <a:pPr algn="l" indent="0" marL="0">
              <a:lnSpc>
                <a:spcPts val="1500"/>
              </a:lnSpc>
              <a:buNone/>
            </a:pPr>
            <a:r>
              <a:rPr lang="en-US" sz="1250" dirty="0">
                <a:solidFill>
                  <a:srgbClr val="0B1622"/>
                </a:solidFill>
                <a:latin typeface="Instrument Serif" pitchFamily="34" charset="0"/>
                <a:ea typeface="Instrument Serif" pitchFamily="34" charset="-122"/>
                <a:cs typeface="Instrument Serif" pitchFamily="34" charset="-120"/>
              </a:rPr>
              <a:t>"You told me last quarter this household was conservative — what changed, and when did we learn it?"</a:t>
            </a:r>
            <a:endParaRPr lang="en-US" sz="1250" dirty="0"/>
          </a:p>
        </p:txBody>
      </p:sp>
      <p:sp>
        <p:nvSpPr>
          <p:cNvPr id="31" name="Text 29"/>
          <p:cNvSpPr/>
          <p:nvPr/>
        </p:nvSpPr>
        <p:spPr>
          <a:xfrm>
            <a:off x="8043307" y="4077971"/>
            <a:ext cx="3208893" cy="698500"/>
          </a:xfrm>
          <a:prstGeom prst="roundRect">
            <a:avLst>
              <a:gd name="adj" fmla="val 7273"/>
            </a:avLst>
          </a:prstGeom>
          <a:solidFill>
            <a:srgbClr val="FBEAE7"/>
          </a:solidFill>
          <a:ln/>
        </p:spPr>
        <p:txBody>
          <a:bodyPr wrap="square" lIns="67671" tIns="48621" rIns="0" bIns="23221" rtlCol="0" anchor="t">
            <a:normAutofit/>
          </a:bodyPr>
          <a:lstStyle/>
          <a:p>
            <a:pPr algn="l" indent="0" marL="0">
              <a:lnSpc>
                <a:spcPts val="1500"/>
              </a:lnSpc>
              <a:buNone/>
            </a:pPr>
            <a:r>
              <a:rPr lang="en-US" sz="1200" dirty="0">
                <a:solidFill>
                  <a:srgbClr val="8C2E22"/>
                </a:solidFill>
                <a:latin typeface="Inter" pitchFamily="34" charset="0"/>
                <a:ea typeface="Inter" pitchFamily="34" charset="-122"/>
                <a:cs typeface="Inter" pitchFamily="34" charset="-120"/>
              </a:rPr>
              <a:t>Contradiction becomes cross-table scans on polymorphic IDs, logic outside the data.</a:t>
            </a:r>
            <a:endParaRPr lang="en-US" sz="1200" dirty="0"/>
          </a:p>
        </p:txBody>
      </p:sp>
      <p:sp>
        <p:nvSpPr>
          <p:cNvPr id="32" name="Text 30"/>
          <p:cNvSpPr/>
          <p:nvPr/>
        </p:nvSpPr>
        <p:spPr>
          <a:xfrm>
            <a:off x="8043307" y="4827271"/>
            <a:ext cx="3208893" cy="698500"/>
          </a:xfrm>
          <a:prstGeom prst="roundRect">
            <a:avLst>
              <a:gd name="adj" fmla="val 7273"/>
            </a:avLst>
          </a:prstGeom>
          <a:solidFill>
            <a:srgbClr val="E4F1EE"/>
          </a:solidFill>
          <a:ln/>
        </p:spPr>
        <p:txBody>
          <a:bodyPr wrap="square" lIns="67671" tIns="48621" rIns="0" bIns="23221"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A fact is an edge with validity. Superseding closes an interval; history stays traversable.</a:t>
            </a:r>
            <a:endParaRPr lang="en-US" sz="1200" dirty="0"/>
          </a:p>
        </p:txBody>
      </p:sp>
      <p:sp>
        <p:nvSpPr>
          <p:cNvPr id="33" name="Text 31"/>
          <p:cNvSpPr/>
          <p:nvPr/>
        </p:nvSpPr>
        <p:spPr>
          <a:xfrm>
            <a:off x="812800" y="633095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0897A"/>
                </a:solidFill>
                <a:latin typeface="Space Grotesk" pitchFamily="34" charset="0"/>
                <a:ea typeface="Space Grotesk" pitchFamily="34" charset="-122"/>
                <a:cs typeface="Space Grotesk" pitchFamily="34" charset="-120"/>
              </a:rPr>
              <a:t>40M vertices fit in either engine. The question is not whether PostgreSQL can store this — it is whether it can answer 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558800"/>
            <a:ext cx="6998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B1622"/>
                </a:solidFill>
                <a:latin typeface="Space Grotesk" pitchFamily="34" charset="0"/>
                <a:ea typeface="Space Grotesk" pitchFamily="34" charset="-122"/>
                <a:cs typeface="Space Grotesk" pitchFamily="34" charset="-120"/>
              </a:rPr>
              <a:t>Six structural reasons, beyond the queries</a:t>
            </a:r>
            <a:endParaRPr lang="en-US" sz="2600" dirty="0"/>
          </a:p>
        </p:txBody>
      </p:sp>
      <p:sp>
        <p:nvSpPr>
          <p:cNvPr id="3" name="Shape 1"/>
          <p:cNvSpPr/>
          <p:nvPr/>
        </p:nvSpPr>
        <p:spPr>
          <a:xfrm>
            <a:off x="815975" y="1039496"/>
            <a:ext cx="5232400" cy="1256348"/>
          </a:xfrm>
          <a:prstGeom prst="roundRect">
            <a:avLst>
              <a:gd name="adj" fmla="val 5812"/>
            </a:avLst>
          </a:prstGeom>
          <a:solidFill>
            <a:srgbClr val="FFFFFF"/>
          </a:solidFill>
          <a:ln w="6350">
            <a:solidFill>
              <a:srgbClr val="DFE6EA"/>
            </a:solidFill>
            <a:prstDash val="solid"/>
          </a:ln>
        </p:spPr>
      </p:sp>
      <p:sp>
        <p:nvSpPr>
          <p:cNvPr id="4" name="Text 2"/>
          <p:cNvSpPr/>
          <p:nvPr/>
        </p:nvSpPr>
        <p:spPr>
          <a:xfrm>
            <a:off x="957580" y="1155700"/>
            <a:ext cx="5097666"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Relationships that span source systems exist nowhere</a:t>
            </a:r>
            <a:endParaRPr lang="en-US" sz="1350" dirty="0"/>
          </a:p>
        </p:txBody>
      </p:sp>
      <p:sp>
        <p:nvSpPr>
          <p:cNvPr id="5" name="Text 3"/>
          <p:cNvSpPr/>
          <p:nvPr/>
        </p:nvSpPr>
        <p:spPr>
          <a:xfrm>
            <a:off x="957580" y="1399539"/>
            <a:ext cx="5097666" cy="610473"/>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A household connected to CRM opportunities, plan documents and revenue lives across four systems. Today that join is assembled by hand, per question. The unified graph </a:t>
            </a:r>
            <a:r>
              <a:rPr lang="en-US" sz="1200" b="1" dirty="0">
                <a:solidFill>
                  <a:srgbClr val="5C6B7A"/>
                </a:solidFill>
                <a:latin typeface="Inter" pitchFamily="34" charset="0"/>
                <a:ea typeface="Inter" pitchFamily="34" charset="-122"/>
                <a:cs typeface="Inter" pitchFamily="34" charset="-120"/>
              </a:rPr>
              <a:t>is</a:t>
            </a:r>
            <a:r>
              <a:rPr lang="en-US" sz="1200" dirty="0">
                <a:solidFill>
                  <a:srgbClr val="5C6B7A"/>
                </a:solidFill>
                <a:latin typeface="Inter" pitchFamily="34" charset="0"/>
                <a:ea typeface="Inter" pitchFamily="34" charset="-122"/>
                <a:cs typeface="Inter" pitchFamily="34" charset="-120"/>
              </a:rPr>
              <a:t> the integration point.</a:t>
            </a:r>
            <a:endParaRPr lang="en-US" sz="1200" dirty="0"/>
          </a:p>
        </p:txBody>
      </p:sp>
      <p:sp>
        <p:nvSpPr>
          <p:cNvPr id="6" name="Shape 4"/>
          <p:cNvSpPr/>
          <p:nvPr/>
        </p:nvSpPr>
        <p:spPr>
          <a:xfrm>
            <a:off x="6143625" y="1039496"/>
            <a:ext cx="5232400" cy="1256348"/>
          </a:xfrm>
          <a:prstGeom prst="roundRect">
            <a:avLst>
              <a:gd name="adj" fmla="val 5812"/>
            </a:avLst>
          </a:prstGeom>
          <a:solidFill>
            <a:srgbClr val="FFFFFF"/>
          </a:solidFill>
          <a:ln w="6350">
            <a:solidFill>
              <a:srgbClr val="DFE6EA"/>
            </a:solidFill>
            <a:prstDash val="solid"/>
          </a:ln>
        </p:spPr>
      </p:sp>
      <p:sp>
        <p:nvSpPr>
          <p:cNvPr id="7" name="Text 5"/>
          <p:cNvSpPr/>
          <p:nvPr/>
        </p:nvSpPr>
        <p:spPr>
          <a:xfrm>
            <a:off x="6285230" y="1155700"/>
            <a:ext cx="5097666"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Semantic retrieval cannot be scoped by relationship</a:t>
            </a:r>
            <a:endParaRPr lang="en-US" sz="1350" dirty="0"/>
          </a:p>
        </p:txBody>
      </p:sp>
      <p:sp>
        <p:nvSpPr>
          <p:cNvPr id="8" name="Text 6"/>
          <p:cNvSpPr/>
          <p:nvPr/>
        </p:nvSpPr>
        <p:spPr>
          <a:xfrm>
            <a:off x="6285230" y="1399539"/>
            <a:ext cx="5097666" cy="805497"/>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pgvector finds similar passages, but cannot restrict them to products </a:t>
            </a:r>
            <a:r>
              <a:rPr lang="en-US" sz="1200" i="1" dirty="0">
                <a:solidFill>
                  <a:srgbClr val="5C6B7A"/>
                </a:solidFill>
                <a:latin typeface="Inter" pitchFamily="34" charset="0"/>
                <a:ea typeface="Inter" pitchFamily="34" charset="-122"/>
                <a:cs typeface="Inter" pitchFamily="34" charset="-120"/>
              </a:rPr>
              <a:t>this</a:t>
            </a:r>
            <a:r>
              <a:rPr lang="en-US" sz="1200" dirty="0">
                <a:solidFill>
                  <a:srgbClr val="5C6B7A"/>
                </a:solidFill>
                <a:latin typeface="Inter" pitchFamily="34" charset="0"/>
                <a:ea typeface="Inter" pitchFamily="34" charset="-122"/>
                <a:cs typeface="Inter" pitchFamily="34" charset="-120"/>
              </a:rPr>
              <a:t> household holds. That becomes two queries and an application-side join — with recall lost wherever the filter discards the top results.</a:t>
            </a:r>
            <a:endParaRPr lang="en-US" sz="1200" dirty="0"/>
          </a:p>
        </p:txBody>
      </p:sp>
      <p:sp>
        <p:nvSpPr>
          <p:cNvPr id="9" name="Shape 7"/>
          <p:cNvSpPr/>
          <p:nvPr/>
        </p:nvSpPr>
        <p:spPr>
          <a:xfrm>
            <a:off x="815975" y="2391094"/>
            <a:ext cx="5232400" cy="1256348"/>
          </a:xfrm>
          <a:prstGeom prst="roundRect">
            <a:avLst>
              <a:gd name="adj" fmla="val 5812"/>
            </a:avLst>
          </a:prstGeom>
          <a:solidFill>
            <a:srgbClr val="FFFFFF"/>
          </a:solidFill>
          <a:ln w="6350">
            <a:solidFill>
              <a:srgbClr val="DFE6EA"/>
            </a:solidFill>
            <a:prstDash val="solid"/>
          </a:ln>
        </p:spPr>
      </p:sp>
      <p:sp>
        <p:nvSpPr>
          <p:cNvPr id="10" name="Text 8"/>
          <p:cNvSpPr/>
          <p:nvPr/>
        </p:nvSpPr>
        <p:spPr>
          <a:xfrm>
            <a:off x="957580" y="2507298"/>
            <a:ext cx="5097666"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Explanation has to be reconstructed</a:t>
            </a:r>
            <a:endParaRPr lang="en-US" sz="1350" dirty="0"/>
          </a:p>
        </p:txBody>
      </p:sp>
      <p:sp>
        <p:nvSpPr>
          <p:cNvPr id="11" name="Text 9"/>
          <p:cNvSpPr/>
          <p:nvPr/>
        </p:nvSpPr>
        <p:spPr>
          <a:xfrm>
            <a:off x="957580" y="2751138"/>
            <a:ext cx="5097666" cy="805497"/>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"Why was this recommended?" needs the path from advisor to household to holding to event. With no path finding, the justification is rebuilt in code rather than returned by the query that produced the answer.</a:t>
            </a:r>
            <a:endParaRPr lang="en-US" sz="1200" dirty="0"/>
          </a:p>
        </p:txBody>
      </p:sp>
      <p:sp>
        <p:nvSpPr>
          <p:cNvPr id="12" name="Shape 10"/>
          <p:cNvSpPr/>
          <p:nvPr/>
        </p:nvSpPr>
        <p:spPr>
          <a:xfrm>
            <a:off x="6143625" y="2391094"/>
            <a:ext cx="5232400" cy="1256348"/>
          </a:xfrm>
          <a:prstGeom prst="roundRect">
            <a:avLst>
              <a:gd name="adj" fmla="val 5812"/>
            </a:avLst>
          </a:prstGeom>
          <a:solidFill>
            <a:srgbClr val="FFFFFF"/>
          </a:solidFill>
          <a:ln w="6350">
            <a:solidFill>
              <a:srgbClr val="DFE6EA"/>
            </a:solidFill>
            <a:prstDash val="solid"/>
          </a:ln>
        </p:spPr>
      </p:sp>
      <p:sp>
        <p:nvSpPr>
          <p:cNvPr id="13" name="Text 11"/>
          <p:cNvSpPr/>
          <p:nvPr/>
        </p:nvSpPr>
        <p:spPr>
          <a:xfrm>
            <a:off x="6285230" y="2507298"/>
            <a:ext cx="5097666"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Every new relationship type is a migration</a:t>
            </a:r>
            <a:endParaRPr lang="en-US" sz="1350" dirty="0"/>
          </a:p>
        </p:txBody>
      </p:sp>
      <p:sp>
        <p:nvSpPr>
          <p:cNvPr id="14" name="Text 12"/>
          <p:cNvSpPr/>
          <p:nvPr/>
        </p:nvSpPr>
        <p:spPr>
          <a:xfrm>
            <a:off x="6285230" y="2751138"/>
            <a:ext cx="5097666" cy="610473"/>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Referral chains, team structures, succession links — each means a new table, foreign key, index and backfill, with lock planning on large tables. In a graph it is a new edge label and no table rewrite.</a:t>
            </a:r>
            <a:endParaRPr lang="en-US" sz="1200" dirty="0"/>
          </a:p>
        </p:txBody>
      </p:sp>
      <p:sp>
        <p:nvSpPr>
          <p:cNvPr id="15" name="Shape 13"/>
          <p:cNvSpPr/>
          <p:nvPr/>
        </p:nvSpPr>
        <p:spPr>
          <a:xfrm>
            <a:off x="815975" y="3742689"/>
            <a:ext cx="5232400" cy="1256348"/>
          </a:xfrm>
          <a:prstGeom prst="roundRect">
            <a:avLst>
              <a:gd name="adj" fmla="val 5812"/>
            </a:avLst>
          </a:prstGeom>
          <a:solidFill>
            <a:srgbClr val="FFFFFF"/>
          </a:solidFill>
          <a:ln w="6350">
            <a:solidFill>
              <a:srgbClr val="DFE6EA"/>
            </a:solidFill>
            <a:prstDash val="solid"/>
          </a:ln>
        </p:spPr>
      </p:sp>
      <p:sp>
        <p:nvSpPr>
          <p:cNvPr id="16" name="Text 14"/>
          <p:cNvSpPr/>
          <p:nvPr/>
        </p:nvSpPr>
        <p:spPr>
          <a:xfrm>
            <a:off x="957580" y="3858896"/>
            <a:ext cx="5097666"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The schema is not self-describing to an agent</a:t>
            </a:r>
            <a:endParaRPr lang="en-US" sz="1350" dirty="0"/>
          </a:p>
        </p:txBody>
      </p:sp>
      <p:sp>
        <p:nvSpPr>
          <p:cNvPr id="17" name="Text 15"/>
          <p:cNvSpPr/>
          <p:nvPr/>
        </p:nvSpPr>
        <p:spPr>
          <a:xfrm>
            <a:off x="957580" y="4102736"/>
            <a:ext cx="5097666" cy="805497"/>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Published studies show schema metadata matters most exactly where schemas are opaque. In a graph, relationships are named, typed objects the agent can introspect — the model is the documentation.</a:t>
            </a:r>
            <a:endParaRPr lang="en-US" sz="1200" dirty="0"/>
          </a:p>
        </p:txBody>
      </p:sp>
      <p:sp>
        <p:nvSpPr>
          <p:cNvPr id="18" name="Shape 16"/>
          <p:cNvSpPr/>
          <p:nvPr/>
        </p:nvSpPr>
        <p:spPr>
          <a:xfrm>
            <a:off x="6143625" y="3742689"/>
            <a:ext cx="5232400" cy="1256348"/>
          </a:xfrm>
          <a:prstGeom prst="roundRect">
            <a:avLst>
              <a:gd name="adj" fmla="val 5812"/>
            </a:avLst>
          </a:prstGeom>
          <a:solidFill>
            <a:srgbClr val="FFFFFF"/>
          </a:solidFill>
          <a:ln w="6350">
            <a:solidFill>
              <a:srgbClr val="DFE6EA"/>
            </a:solidFill>
            <a:prstDash val="solid"/>
          </a:ln>
        </p:spPr>
      </p:sp>
      <p:sp>
        <p:nvSpPr>
          <p:cNvPr id="19" name="Text 17"/>
          <p:cNvSpPr/>
          <p:nvPr/>
        </p:nvSpPr>
        <p:spPr>
          <a:xfrm>
            <a:off x="6285230" y="3858896"/>
            <a:ext cx="5097666"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Graph features would be built and owned by us</a:t>
            </a:r>
            <a:endParaRPr lang="en-US" sz="1350" dirty="0"/>
          </a:p>
        </p:txBody>
      </p:sp>
      <p:sp>
        <p:nvSpPr>
          <p:cNvPr id="20" name="Text 18"/>
          <p:cNvSpPr/>
          <p:nvPr/>
        </p:nvSpPr>
        <p:spPr>
          <a:xfrm>
            <a:off x="6285230" y="4102736"/>
            <a:ext cx="5097666" cy="805497"/>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Traversal, as-of filtering, centrality, communities, similarity and memory invalidation all become application code we write, test, optimise and maintain — code that ships with the engine we are recommending.</a:t>
            </a:r>
            <a:endParaRPr lang="en-US" sz="1200" dirty="0"/>
          </a:p>
        </p:txBody>
      </p:sp>
      <p:sp>
        <p:nvSpPr>
          <p:cNvPr id="21" name="Shape 19"/>
          <p:cNvSpPr/>
          <p:nvPr/>
        </p:nvSpPr>
        <p:spPr>
          <a:xfrm>
            <a:off x="812800" y="5116513"/>
            <a:ext cx="10566400" cy="666750"/>
          </a:xfrm>
          <a:prstGeom prst="roundRect">
            <a:avLst>
              <a:gd name="adj" fmla="val 13333"/>
            </a:avLst>
          </a:prstGeom>
          <a:solidFill>
            <a:srgbClr val="0B1622"/>
          </a:solidFill>
          <a:ln/>
        </p:spPr>
      </p:sp>
      <p:pic>
        <p:nvPicPr>
          <p:cNvPr id="22" name="Image 0" descr="Key">    </p:cNvPr>
          <p:cNvPicPr>
            <a:picLocks noChangeAspect="1"/>
          </p:cNvPicPr>
          <p:nvPr/>
        </p:nvPicPr>
        <p:blipFill>
          <a:blip r:embed="rId1"/>
          <a:srcRect l="0" r="0" t="0" b="0"/>
          <a:stretch/>
        </p:blipFill>
        <p:spPr>
          <a:xfrm>
            <a:off x="1003300" y="5341938"/>
            <a:ext cx="215900" cy="215900"/>
          </a:xfrm>
          <a:prstGeom prst="rect">
            <a:avLst/>
          </a:prstGeom>
        </p:spPr>
      </p:pic>
      <p:sp>
        <p:nvSpPr>
          <p:cNvPr id="23" name="Text 20"/>
          <p:cNvSpPr/>
          <p:nvPr/>
        </p:nvSpPr>
        <p:spPr>
          <a:xfrm>
            <a:off x="1371600" y="5243513"/>
            <a:ext cx="10111613"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CFE3DC"/>
                </a:solidFill>
                <a:latin typeface="Inter" pitchFamily="34" charset="0"/>
                <a:ea typeface="Inter" pitchFamily="34" charset="-122"/>
                <a:cs typeface="Inter" pitchFamily="34" charset="-120"/>
              </a:rPr>
              <a:t>None of this is a criticism of PostgreSQL. It is an excellent system of record and it stays one. </a:t>
            </a:r>
            <a:r>
              <a:rPr lang="en-US" sz="1250" b="1" dirty="0">
                <a:solidFill>
                  <a:srgbClr val="CFE3DC"/>
                </a:solidFill>
                <a:latin typeface="Inter" pitchFamily="34" charset="0"/>
                <a:ea typeface="Inter" pitchFamily="34" charset="-122"/>
                <a:cs typeface="Inter" pitchFamily="34" charset="-120"/>
              </a:rPr>
              <a:t>It is not an intelligence layer, and building one on top of it means building the engine ourselves.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609600"/>
            <a:ext cx="6700088"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B1622"/>
                </a:solidFill>
                <a:latin typeface="Space Grotesk" pitchFamily="34" charset="0"/>
                <a:ea typeface="Space Grotesk" pitchFamily="34" charset="-122"/>
                <a:cs typeface="Space Grotesk" pitchFamily="34" charset="-120"/>
              </a:rPr>
              <a:t>What we found in the current database</a:t>
            </a:r>
            <a:endParaRPr lang="en-US" sz="2700" dirty="0"/>
          </a:p>
        </p:txBody>
      </p:sp>
      <p:sp>
        <p:nvSpPr>
          <p:cNvPr id="3" name="Text 1"/>
          <p:cNvSpPr/>
          <p:nvPr/>
        </p:nvSpPr>
        <p:spPr>
          <a:xfrm>
            <a:off x="7457440" y="751839"/>
            <a:ext cx="2006871"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Aurora PostgreSQL, today</a:t>
            </a:r>
            <a:endParaRPr lang="en-US" sz="1250" dirty="0"/>
          </a:p>
        </p:txBody>
      </p:sp>
      <p:sp>
        <p:nvSpPr>
          <p:cNvPr id="4" name="Shape 2"/>
          <p:cNvSpPr/>
          <p:nvPr/>
        </p:nvSpPr>
        <p:spPr>
          <a:xfrm>
            <a:off x="819150" y="1120139"/>
            <a:ext cx="10553700" cy="922020"/>
          </a:xfrm>
          <a:prstGeom prst="roundRect">
            <a:avLst>
              <a:gd name="adj" fmla="val 8953"/>
            </a:avLst>
          </a:prstGeom>
          <a:solidFill>
            <a:srgbClr val="FFFFFF"/>
          </a:solidFill>
          <a:ln w="12700">
            <a:solidFill>
              <a:srgbClr val="C0392B"/>
            </a:solidFill>
            <a:prstDash val="solid"/>
          </a:ln>
        </p:spPr>
      </p:sp>
      <p:pic>
        <p:nvPicPr>
          <p:cNvPr id="5" name="Image 0" descr="Warning">    </p:cNvPr>
          <p:cNvPicPr>
            <a:picLocks noChangeAspect="1"/>
          </p:cNvPicPr>
          <p:nvPr/>
        </p:nvPicPr>
        <p:blipFill>
          <a:blip r:embed="rId1"/>
          <a:srcRect l="0" r="0" t="0" b="0"/>
          <a:stretch/>
        </p:blipFill>
        <p:spPr>
          <a:xfrm>
            <a:off x="1000760" y="1441450"/>
            <a:ext cx="279400" cy="279400"/>
          </a:xfrm>
          <a:prstGeom prst="rect">
            <a:avLst/>
          </a:prstGeom>
        </p:spPr>
      </p:pic>
      <p:sp>
        <p:nvSpPr>
          <p:cNvPr id="6" name="Text 3"/>
          <p:cNvSpPr/>
          <p:nvPr/>
        </p:nvSpPr>
        <p:spPr>
          <a:xfrm>
            <a:off x="1445260" y="1276350"/>
            <a:ext cx="274701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C2E22"/>
                </a:solidFill>
                <a:latin typeface="Space Grotesk" pitchFamily="34" charset="0"/>
                <a:ea typeface="Space Grotesk" pitchFamily="34" charset="-122"/>
                <a:cs typeface="Space Grotesk" pitchFamily="34" charset="-120"/>
              </a:rPr>
              <a:t>Dates stored as text</a:t>
            </a:r>
            <a:endParaRPr lang="en-US" sz="1400" dirty="0"/>
          </a:p>
        </p:txBody>
      </p:sp>
      <p:sp>
        <p:nvSpPr>
          <p:cNvPr id="7" name="Text 4"/>
          <p:cNvSpPr/>
          <p:nvPr/>
        </p:nvSpPr>
        <p:spPr>
          <a:xfrm>
            <a:off x="1445260" y="1489711"/>
            <a:ext cx="274701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Including </a:t>
            </a:r>
            <a:r>
              <a:rPr lang="en-US" sz="1200" b="1" dirty="0">
                <a:solidFill>
                  <a:srgbClr val="5C6B7A"/>
                </a:solidFill>
                <a:latin typeface="Inter" pitchFamily="34" charset="0"/>
                <a:ea typeface="Inter" pitchFamily="34" charset="-122"/>
                <a:cs typeface="Inter" pitchFamily="34" charset="-120"/>
              </a:rPr>
              <a:t>proc_dt</a:t>
            </a:r>
            <a:r>
              <a:rPr lang="en-US" sz="1200" dirty="0">
                <a:solidFill>
                  <a:srgbClr val="5C6B7A"/>
                </a:solidFill>
                <a:latin typeface="Inter" pitchFamily="34" charset="0"/>
                <a:ea typeface="Inter" pitchFamily="34" charset="-122"/>
                <a:cs typeface="Inter" pitchFamily="34" charset="-120"/>
              </a:rPr>
              <a:t> — the column every revenue figure is attributed by</a:t>
            </a:r>
            <a:endParaRPr lang="en-US" sz="1200" dirty="0"/>
          </a:p>
        </p:txBody>
      </p:sp>
      <p:sp>
        <p:nvSpPr>
          <p:cNvPr id="8" name="Text 5"/>
          <p:cNvSpPr/>
          <p:nvPr/>
        </p:nvSpPr>
        <p:spPr>
          <a:xfrm>
            <a:off x="4277360" y="1283971"/>
            <a:ext cx="356064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 Every filter needs a cast</a:t>
            </a:r>
            <a:endParaRPr lang="en-US" sz="1200" dirty="0"/>
          </a:p>
        </p:txBody>
      </p:sp>
      <p:sp>
        <p:nvSpPr>
          <p:cNvPr id="9" name="Text 6"/>
          <p:cNvSpPr/>
          <p:nvPr/>
        </p:nvSpPr>
        <p:spPr>
          <a:xfrm>
            <a:off x="7734300" y="1283971"/>
            <a:ext cx="356064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 The cast defeats the index</a:t>
            </a:r>
            <a:endParaRPr lang="en-US" sz="1200" dirty="0"/>
          </a:p>
        </p:txBody>
      </p:sp>
      <p:sp>
        <p:nvSpPr>
          <p:cNvPr id="10" name="Text 7"/>
          <p:cNvSpPr/>
          <p:nvPr/>
        </p:nvSpPr>
        <p:spPr>
          <a:xfrm>
            <a:off x="4277360" y="1482089"/>
            <a:ext cx="356064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 No range partitioning by month</a:t>
            </a:r>
            <a:endParaRPr lang="en-US" sz="1200" dirty="0"/>
          </a:p>
        </p:txBody>
      </p:sp>
      <p:sp>
        <p:nvSpPr>
          <p:cNvPr id="11" name="Text 8"/>
          <p:cNvSpPr/>
          <p:nvPr/>
        </p:nvSpPr>
        <p:spPr>
          <a:xfrm>
            <a:off x="7734300" y="1482089"/>
            <a:ext cx="356064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 No temporal constraints possible</a:t>
            </a:r>
            <a:endParaRPr lang="en-US" sz="1200" dirty="0"/>
          </a:p>
        </p:txBody>
      </p:sp>
      <p:sp>
        <p:nvSpPr>
          <p:cNvPr id="12" name="Text 9"/>
          <p:cNvSpPr/>
          <p:nvPr/>
        </p:nvSpPr>
        <p:spPr>
          <a:xfrm>
            <a:off x="4277360" y="1680211"/>
            <a:ext cx="356064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 Invalid dates cannot be rejected</a:t>
            </a:r>
            <a:endParaRPr lang="en-US" sz="1200" dirty="0"/>
          </a:p>
        </p:txBody>
      </p:sp>
      <p:sp>
        <p:nvSpPr>
          <p:cNvPr id="13" name="Text 10"/>
          <p:cNvSpPr/>
          <p:nvPr/>
        </p:nvSpPr>
        <p:spPr>
          <a:xfrm>
            <a:off x="7734300" y="1680211"/>
            <a:ext cx="356064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 An agent reads "text", not a date</a:t>
            </a:r>
            <a:endParaRPr lang="en-US" sz="1200" dirty="0"/>
          </a:p>
        </p:txBody>
      </p:sp>
      <p:sp>
        <p:nvSpPr>
          <p:cNvPr id="14" name="Shape 11"/>
          <p:cNvSpPr/>
          <p:nvPr/>
        </p:nvSpPr>
        <p:spPr>
          <a:xfrm>
            <a:off x="815975" y="2178686"/>
            <a:ext cx="3448050" cy="1751648"/>
          </a:xfrm>
          <a:prstGeom prst="roundRect">
            <a:avLst>
              <a:gd name="adj" fmla="val 4894"/>
            </a:avLst>
          </a:prstGeom>
          <a:solidFill>
            <a:srgbClr val="FFFFFF"/>
          </a:solidFill>
          <a:ln w="6350">
            <a:solidFill>
              <a:srgbClr val="DFE6EA"/>
            </a:solidFill>
            <a:prstDash val="solid"/>
          </a:ln>
        </p:spPr>
      </p:sp>
      <p:sp>
        <p:nvSpPr>
          <p:cNvPr id="15" name="Text 12"/>
          <p:cNvSpPr/>
          <p:nvPr/>
        </p:nvSpPr>
        <p:spPr>
          <a:xfrm>
            <a:off x="970280" y="2320289"/>
            <a:ext cx="3233623"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B1622"/>
                </a:solidFill>
                <a:latin typeface="Space Grotesk" pitchFamily="34" charset="0"/>
                <a:ea typeface="Space Grotesk" pitchFamily="34" charset="-122"/>
                <a:cs typeface="Space Grotesk" pitchFamily="34" charset="-120"/>
              </a:rPr>
              <a:t>No foreign keys declared</a:t>
            </a:r>
            <a:endParaRPr lang="en-US" sz="1300" dirty="0"/>
          </a:p>
        </p:txBody>
      </p:sp>
      <p:sp>
        <p:nvSpPr>
          <p:cNvPr id="16" name="Text 13"/>
          <p:cNvSpPr/>
          <p:nvPr/>
        </p:nvSpPr>
        <p:spPr>
          <a:xfrm>
            <a:off x="970280" y="2581911"/>
            <a:ext cx="3233623" cy="1031081"/>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Integrity enforced only in application code</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The planner loses its join estimates</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Every schema-discovery and AI tool has to guess the model</a:t>
            </a:r>
            <a:endParaRPr lang="en-US" sz="1200" dirty="0"/>
          </a:p>
        </p:txBody>
      </p:sp>
      <p:sp>
        <p:nvSpPr>
          <p:cNvPr id="17" name="Shape 14"/>
          <p:cNvSpPr/>
          <p:nvPr/>
        </p:nvSpPr>
        <p:spPr>
          <a:xfrm>
            <a:off x="4371975" y="2178686"/>
            <a:ext cx="3448050" cy="1751648"/>
          </a:xfrm>
          <a:prstGeom prst="roundRect">
            <a:avLst>
              <a:gd name="adj" fmla="val 4894"/>
            </a:avLst>
          </a:prstGeom>
          <a:solidFill>
            <a:srgbClr val="FFFFFF"/>
          </a:solidFill>
          <a:ln w="6350">
            <a:solidFill>
              <a:srgbClr val="DFE6EA"/>
            </a:solidFill>
            <a:prstDash val="solid"/>
          </a:ln>
        </p:spPr>
      </p:sp>
      <p:sp>
        <p:nvSpPr>
          <p:cNvPr id="18" name="Text 15"/>
          <p:cNvSpPr/>
          <p:nvPr/>
        </p:nvSpPr>
        <p:spPr>
          <a:xfrm>
            <a:off x="4526280" y="2320289"/>
            <a:ext cx="3233623"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B1622"/>
                </a:solidFill>
                <a:latin typeface="Space Grotesk" pitchFamily="34" charset="0"/>
                <a:ea typeface="Space Grotesk" pitchFamily="34" charset="-122"/>
                <a:cs typeface="Space Grotesk" pitchFamily="34" charset="-120"/>
              </a:rPr>
              <a:t>No table or column descriptions</a:t>
            </a:r>
            <a:endParaRPr lang="en-US" sz="1300" dirty="0"/>
          </a:p>
        </p:txBody>
      </p:sp>
      <p:sp>
        <p:nvSpPr>
          <p:cNvPr id="19" name="Text 16"/>
          <p:cNvSpPr/>
          <p:nvPr/>
        </p:nvSpPr>
        <p:spPr>
          <a:xfrm>
            <a:off x="4526280" y="2581911"/>
            <a:ext cx="3233623" cy="1232218"/>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Agents cannot infer what a column means</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Published studies show metadata matters most exactly when schemas are opaque</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Ours are</a:t>
            </a:r>
            <a:endParaRPr lang="en-US" sz="1200" dirty="0"/>
          </a:p>
        </p:txBody>
      </p:sp>
      <p:sp>
        <p:nvSpPr>
          <p:cNvPr id="20" name="Shape 17"/>
          <p:cNvSpPr/>
          <p:nvPr/>
        </p:nvSpPr>
        <p:spPr>
          <a:xfrm>
            <a:off x="7927975" y="2178686"/>
            <a:ext cx="3448050" cy="1751648"/>
          </a:xfrm>
          <a:prstGeom prst="roundRect">
            <a:avLst>
              <a:gd name="adj" fmla="val 4894"/>
            </a:avLst>
          </a:prstGeom>
          <a:solidFill>
            <a:srgbClr val="FFFFFF"/>
          </a:solidFill>
          <a:ln w="6350">
            <a:solidFill>
              <a:srgbClr val="DFE6EA"/>
            </a:solidFill>
            <a:prstDash val="solid"/>
          </a:ln>
        </p:spPr>
      </p:sp>
      <p:sp>
        <p:nvSpPr>
          <p:cNvPr id="21" name="Text 18"/>
          <p:cNvSpPr/>
          <p:nvPr/>
        </p:nvSpPr>
        <p:spPr>
          <a:xfrm>
            <a:off x="8082280" y="2320289"/>
            <a:ext cx="3233623"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B1622"/>
                </a:solidFill>
                <a:latin typeface="Space Grotesk" pitchFamily="34" charset="0"/>
                <a:ea typeface="Space Grotesk" pitchFamily="34" charset="-122"/>
                <a:cs typeface="Space Grotesk" pitchFamily="34" charset="-120"/>
              </a:rPr>
              <a:t>Indexes not aligned to queries</a:t>
            </a:r>
            <a:endParaRPr lang="en-US" sz="1300" dirty="0"/>
          </a:p>
        </p:txBody>
      </p:sp>
      <p:sp>
        <p:nvSpPr>
          <p:cNvPr id="22" name="Text 19"/>
          <p:cNvSpPr/>
          <p:nvPr/>
        </p:nvSpPr>
        <p:spPr>
          <a:xfrm>
            <a:off x="8082280" y="2581911"/>
            <a:ext cx="3233623" cy="628809"/>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Relationship columns are not indexed because they are not declared</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Query times are long and unpredictable</a:t>
            </a:r>
            <a:endParaRPr lang="en-US" sz="1200" dirty="0"/>
          </a:p>
        </p:txBody>
      </p:sp>
      <p:sp>
        <p:nvSpPr>
          <p:cNvPr id="23" name="Shape 20"/>
          <p:cNvSpPr/>
          <p:nvPr/>
        </p:nvSpPr>
        <p:spPr>
          <a:xfrm>
            <a:off x="812800" y="4060509"/>
            <a:ext cx="10566400" cy="692150"/>
          </a:xfrm>
          <a:prstGeom prst="roundRect">
            <a:avLst>
              <a:gd name="adj" fmla="val 12844"/>
            </a:avLst>
          </a:prstGeom>
          <a:solidFill>
            <a:srgbClr val="0B1622"/>
          </a:solidFill>
          <a:ln/>
        </p:spPr>
      </p:sp>
      <p:pic>
        <p:nvPicPr>
          <p:cNvPr id="24" name="Image 1" descr="Key">    </p:cNvPr>
          <p:cNvPicPr>
            <a:picLocks noChangeAspect="1"/>
          </p:cNvPicPr>
          <p:nvPr/>
        </p:nvPicPr>
        <p:blipFill>
          <a:blip r:embed="rId2"/>
          <a:srcRect l="0" r="0" t="0" b="0"/>
          <a:stretch/>
        </p:blipFill>
        <p:spPr>
          <a:xfrm>
            <a:off x="1003300" y="4292284"/>
            <a:ext cx="228600" cy="228600"/>
          </a:xfrm>
          <a:prstGeom prst="rect">
            <a:avLst/>
          </a:prstGeom>
        </p:spPr>
      </p:pic>
      <p:sp>
        <p:nvSpPr>
          <p:cNvPr id="25" name="Text 21"/>
          <p:cNvSpPr/>
          <p:nvPr/>
        </p:nvSpPr>
        <p:spPr>
          <a:xfrm>
            <a:off x="1384300" y="4200209"/>
            <a:ext cx="10098532" cy="438150"/>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CFE3DC"/>
                </a:solidFill>
                <a:latin typeface="Inter" pitchFamily="34" charset="0"/>
                <a:ea typeface="Inter" pitchFamily="34" charset="-122"/>
                <a:cs typeface="Inter" pitchFamily="34" charset="-120"/>
              </a:rPr>
              <a:t>These are fixable, and they must be fixed either way</a:t>
            </a:r>
            <a:r>
              <a:rPr lang="en-US" sz="1250" dirty="0">
                <a:solidFill>
                  <a:srgbClr val="CFE3DC"/>
                </a:solidFill>
                <a:latin typeface="Inter" pitchFamily="34" charset="0"/>
                <a:ea typeface="Inter" pitchFamily="34" charset="-122"/>
                <a:cs typeface="Inter" pitchFamily="34" charset="-120"/>
              </a:rPr>
              <a:t> — the graph is populated from these tables, and relationships nobody has declared cannot be migrated reliably. But fixing them gives us a better relational database, not the capabilities the platform needs.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7369508"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B1622"/>
                </a:solidFill>
                <a:latin typeface="Space Grotesk" pitchFamily="34" charset="0"/>
                <a:ea typeface="Space Grotesk" pitchFamily="34" charset="-122"/>
                <a:cs typeface="Space Grotesk" pitchFamily="34" charset="-120"/>
              </a:rPr>
              <a:t>One serving layer. One direction of ingestion.</a:t>
            </a:r>
            <a:endParaRPr lang="en-US" sz="2600" dirty="0"/>
          </a:p>
        </p:txBody>
      </p:sp>
      <p:sp>
        <p:nvSpPr>
          <p:cNvPr id="3" name="Text 1"/>
          <p:cNvSpPr/>
          <p:nvPr/>
        </p:nvSpPr>
        <p:spPr>
          <a:xfrm>
            <a:off x="8107363" y="690879"/>
            <a:ext cx="2736218"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Answering "why another database"</a:t>
            </a:r>
            <a:endParaRPr lang="en-US" sz="1250" dirty="0"/>
          </a:p>
        </p:txBody>
      </p:sp>
      <p:sp>
        <p:nvSpPr>
          <p:cNvPr id="4" name="Shape 2"/>
          <p:cNvSpPr/>
          <p:nvPr/>
        </p:nvSpPr>
        <p:spPr>
          <a:xfrm>
            <a:off x="812800" y="1036321"/>
            <a:ext cx="1816100" cy="2957830"/>
          </a:xfrm>
          <a:prstGeom prst="roundRect">
            <a:avLst>
              <a:gd name="adj" fmla="val 4895"/>
            </a:avLst>
          </a:prstGeom>
          <a:solidFill>
            <a:srgbClr val="F5F8F9"/>
          </a:solidFill>
          <a:ln/>
        </p:spPr>
      </p:sp>
      <p:sp>
        <p:nvSpPr>
          <p:cNvPr id="5" name="Text 3"/>
          <p:cNvSpPr/>
          <p:nvPr/>
        </p:nvSpPr>
        <p:spPr>
          <a:xfrm>
            <a:off x="939800" y="1150621"/>
            <a:ext cx="1612900" cy="434340"/>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5C6B7A"/>
                </a:solidFill>
                <a:latin typeface="Space Grotesk" pitchFamily="34" charset="0"/>
                <a:ea typeface="Space Grotesk" pitchFamily="34" charset="-122"/>
                <a:cs typeface="Space Grotesk" pitchFamily="34" charset="-120"/>
              </a:rPr>
              <a:t>SYSTEMS OF RECORD</a:t>
            </a:r>
            <a:endParaRPr lang="en-US" sz="1150" dirty="0"/>
          </a:p>
        </p:txBody>
      </p:sp>
      <p:sp>
        <p:nvSpPr>
          <p:cNvPr id="6" name="Shape 4"/>
          <p:cNvSpPr/>
          <p:nvPr/>
        </p:nvSpPr>
        <p:spPr>
          <a:xfrm>
            <a:off x="942975" y="1613539"/>
            <a:ext cx="1555750" cy="1072991"/>
          </a:xfrm>
          <a:prstGeom prst="roundRect">
            <a:avLst>
              <a:gd name="adj" fmla="val 5622"/>
            </a:avLst>
          </a:prstGeom>
          <a:solidFill>
            <a:srgbClr val="FFFFFF"/>
          </a:solidFill>
          <a:ln w="6350">
            <a:solidFill>
              <a:srgbClr val="DFE6EA"/>
            </a:solidFill>
            <a:prstDash val="solid"/>
          </a:ln>
        </p:spPr>
      </p:sp>
      <p:sp>
        <p:nvSpPr>
          <p:cNvPr id="7" name="Text 5"/>
          <p:cNvSpPr/>
          <p:nvPr/>
        </p:nvSpPr>
        <p:spPr>
          <a:xfrm>
            <a:off x="1033780" y="1685292"/>
            <a:ext cx="1424940" cy="397192"/>
          </a:xfrm>
          <a:prstGeom prst="rect">
            <a:avLst/>
          </a:prstGeom>
          <a:noFill/>
          <a:ln/>
        </p:spPr>
        <p:txBody>
          <a:bodyPr wrap="square" lIns="0" tIns="0" rIns="0" bIns="0" rtlCol="0" anchor="t">
            <a:normAutofit/>
          </a:bodyPr>
          <a:lstStyle/>
          <a:p>
            <a:pPr algn="l" indent="0" marL="0">
              <a:lnSpc>
                <a:spcPts val="1464"/>
              </a:lnSpc>
              <a:buNone/>
            </a:pPr>
            <a:r>
              <a:rPr lang="en-US" sz="1200" b="1" dirty="0">
                <a:solidFill>
                  <a:srgbClr val="0B1622"/>
                </a:solidFill>
                <a:latin typeface="Inter" pitchFamily="34" charset="0"/>
                <a:ea typeface="Inter" pitchFamily="34" charset="-122"/>
                <a:cs typeface="Inter" pitchFamily="34" charset="-120"/>
              </a:rPr>
              <a:t>Aurora PostgreSQL</a:t>
            </a:r>
            <a:endParaRPr lang="en-US" sz="1200" dirty="0"/>
          </a:p>
        </p:txBody>
      </p:sp>
      <p:sp>
        <p:nvSpPr>
          <p:cNvPr id="8" name="Text 6"/>
          <p:cNvSpPr/>
          <p:nvPr/>
        </p:nvSpPr>
        <p:spPr>
          <a:xfrm>
            <a:off x="1033780" y="2057084"/>
            <a:ext cx="1424940" cy="583089"/>
          </a:xfrm>
          <a:prstGeom prst="rect">
            <a:avLst/>
          </a:prstGeom>
          <a:noFill/>
          <a:ln/>
        </p:spPr>
        <p:txBody>
          <a:bodyPr wrap="square" lIns="0" tIns="0" rIns="0" bIns="0" rtlCol="0" anchor="t">
            <a:normAutofit/>
          </a:bodyPr>
          <a:lstStyle/>
          <a:p>
            <a:pPr algn="l" indent="0" marL="0">
              <a:lnSpc>
                <a:spcPts val="1464"/>
              </a:lnSpc>
              <a:buNone/>
            </a:pPr>
            <a:r>
              <a:rPr lang="en-US" sz="1200" dirty="0">
                <a:solidFill>
                  <a:srgbClr val="5C6B7A"/>
                </a:solidFill>
                <a:latin typeface="Inter" pitchFamily="34" charset="0"/>
                <a:ea typeface="Inter" pitchFamily="34" charset="-122"/>
                <a:cs typeface="Inter" pitchFamily="34" charset="-120"/>
              </a:rPr>
              <a:t>Transactions · accounts · advisors</a:t>
            </a:r>
            <a:endParaRPr lang="en-US" sz="1200" dirty="0"/>
          </a:p>
        </p:txBody>
      </p:sp>
      <p:sp>
        <p:nvSpPr>
          <p:cNvPr id="9" name="Shape 7"/>
          <p:cNvSpPr/>
          <p:nvPr/>
        </p:nvSpPr>
        <p:spPr>
          <a:xfrm>
            <a:off x="942975" y="2743677"/>
            <a:ext cx="1555750" cy="701199"/>
          </a:xfrm>
          <a:prstGeom prst="roundRect">
            <a:avLst>
              <a:gd name="adj" fmla="val 8603"/>
            </a:avLst>
          </a:prstGeom>
          <a:solidFill>
            <a:srgbClr val="FFFFFF"/>
          </a:solidFill>
          <a:ln w="6350">
            <a:solidFill>
              <a:srgbClr val="DFE6EA"/>
            </a:solidFill>
            <a:prstDash val="solid"/>
          </a:ln>
        </p:spPr>
      </p:sp>
      <p:sp>
        <p:nvSpPr>
          <p:cNvPr id="10" name="Text 8"/>
          <p:cNvSpPr/>
          <p:nvPr/>
        </p:nvSpPr>
        <p:spPr>
          <a:xfrm>
            <a:off x="1033780" y="2815431"/>
            <a:ext cx="1424940" cy="211296"/>
          </a:xfrm>
          <a:prstGeom prst="rect">
            <a:avLst/>
          </a:prstGeom>
          <a:noFill/>
          <a:ln/>
        </p:spPr>
        <p:txBody>
          <a:bodyPr wrap="square" lIns="0" tIns="0" rIns="0" bIns="0" rtlCol="0" anchor="t">
            <a:normAutofit/>
          </a:bodyPr>
          <a:lstStyle/>
          <a:p>
            <a:pPr algn="l" indent="0" marL="0">
              <a:lnSpc>
                <a:spcPts val="1464"/>
              </a:lnSpc>
              <a:buNone/>
            </a:pPr>
            <a:r>
              <a:rPr lang="en-US" sz="1200" b="1" dirty="0">
                <a:solidFill>
                  <a:srgbClr val="0B1622"/>
                </a:solidFill>
                <a:latin typeface="Inter" pitchFamily="34" charset="0"/>
                <a:ea typeface="Inter" pitchFamily="34" charset="-122"/>
                <a:cs typeface="Inter" pitchFamily="34" charset="-120"/>
              </a:rPr>
              <a:t>Other sources</a:t>
            </a:r>
            <a:endParaRPr lang="en-US" sz="1200" dirty="0"/>
          </a:p>
        </p:txBody>
      </p:sp>
      <p:sp>
        <p:nvSpPr>
          <p:cNvPr id="11" name="Text 9"/>
          <p:cNvSpPr/>
          <p:nvPr/>
        </p:nvSpPr>
        <p:spPr>
          <a:xfrm>
            <a:off x="1033780" y="3001330"/>
            <a:ext cx="1424940" cy="397192"/>
          </a:xfrm>
          <a:prstGeom prst="rect">
            <a:avLst/>
          </a:prstGeom>
          <a:noFill/>
          <a:ln/>
        </p:spPr>
        <p:txBody>
          <a:bodyPr wrap="square" lIns="0" tIns="0" rIns="0" bIns="0" rtlCol="0" anchor="t">
            <a:normAutofit/>
          </a:bodyPr>
          <a:lstStyle/>
          <a:p>
            <a:pPr algn="l" indent="0" marL="0">
              <a:lnSpc>
                <a:spcPts val="1464"/>
              </a:lnSpc>
              <a:buNone/>
            </a:pPr>
            <a:r>
              <a:rPr lang="en-US" sz="1200" dirty="0">
                <a:solidFill>
                  <a:srgbClr val="5C6B7A"/>
                </a:solidFill>
                <a:latin typeface="Inter" pitchFamily="34" charset="0"/>
                <a:ea typeface="Inter" pitchFamily="34" charset="-122"/>
                <a:cs typeface="Inter" pitchFamily="34" charset="-120"/>
              </a:rPr>
              <a:t>CRM · documents · reference</a:t>
            </a:r>
            <a:endParaRPr lang="en-US" sz="1200" dirty="0"/>
          </a:p>
        </p:txBody>
      </p:sp>
      <p:sp>
        <p:nvSpPr>
          <p:cNvPr id="12" name="Text 10"/>
          <p:cNvSpPr/>
          <p:nvPr/>
        </p:nvSpPr>
        <p:spPr>
          <a:xfrm>
            <a:off x="939800" y="3498850"/>
            <a:ext cx="16129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C6B7A"/>
                </a:solidFill>
                <a:latin typeface="Inter" pitchFamily="34" charset="0"/>
                <a:ea typeface="Inter" pitchFamily="34" charset="-122"/>
                <a:cs typeface="Inter" pitchFamily="34" charset="-120"/>
              </a:rPr>
              <a:t>Upstream of the platform, not inside it</a:t>
            </a:r>
            <a:endParaRPr lang="en-US" sz="1200" dirty="0"/>
          </a:p>
        </p:txBody>
      </p:sp>
      <p:pic>
        <p:nvPicPr>
          <p:cNvPr id="13" name="Image 0" descr="arrow-right">    </p:cNvPr>
          <p:cNvPicPr>
            <a:picLocks noChangeAspect="1"/>
          </p:cNvPicPr>
          <p:nvPr/>
        </p:nvPicPr>
        <p:blipFill>
          <a:blip r:embed="rId1"/>
          <a:srcRect l="0" r="0" t="0" b="0"/>
          <a:stretch/>
        </p:blipFill>
        <p:spPr>
          <a:xfrm>
            <a:off x="2743200" y="2226630"/>
            <a:ext cx="355600" cy="190500"/>
          </a:xfrm>
          <a:prstGeom prst="rect">
            <a:avLst/>
          </a:prstGeom>
        </p:spPr>
      </p:pic>
      <p:sp>
        <p:nvSpPr>
          <p:cNvPr id="14" name="Text 11"/>
          <p:cNvSpPr/>
          <p:nvPr/>
        </p:nvSpPr>
        <p:spPr>
          <a:xfrm>
            <a:off x="2667000" y="2467930"/>
            <a:ext cx="508000" cy="361315"/>
          </a:xfrm>
          <a:prstGeom prst="rect">
            <a:avLst/>
          </a:prstGeom>
          <a:noFill/>
          <a:ln/>
        </p:spPr>
        <p:txBody>
          <a:bodyPr wrap="square" lIns="0" tIns="0" rIns="0" bIns="0" rtlCol="0" anchor="t">
            <a:normAutofit/>
          </a:bodyPr>
          <a:lstStyle/>
          <a:p>
            <a:pPr algn="ctr" indent="0" marL="0">
              <a:lnSpc>
                <a:spcPts val="1323"/>
              </a:lnSpc>
              <a:buNone/>
            </a:pPr>
            <a:r>
              <a:rPr lang="en-US" sz="1150" dirty="0">
                <a:solidFill>
                  <a:srgbClr val="B5651D"/>
                </a:solidFill>
                <a:latin typeface="Inter" pitchFamily="34" charset="0"/>
                <a:ea typeface="Inter" pitchFamily="34" charset="-122"/>
                <a:cs typeface="Inter" pitchFamily="34" charset="-120"/>
              </a:rPr>
              <a:t>one way</a:t>
            </a:r>
            <a:endParaRPr lang="en-US" sz="1150" dirty="0"/>
          </a:p>
        </p:txBody>
      </p:sp>
      <p:sp>
        <p:nvSpPr>
          <p:cNvPr id="15" name="Shape 12"/>
          <p:cNvSpPr/>
          <p:nvPr/>
        </p:nvSpPr>
        <p:spPr>
          <a:xfrm>
            <a:off x="3213100" y="1036321"/>
            <a:ext cx="1562100" cy="2957830"/>
          </a:xfrm>
          <a:prstGeom prst="roundRect">
            <a:avLst>
              <a:gd name="adj" fmla="val 5691"/>
            </a:avLst>
          </a:prstGeom>
          <a:solidFill>
            <a:srgbClr val="FBF0E2"/>
          </a:solidFill>
          <a:ln/>
        </p:spPr>
      </p:sp>
      <p:sp>
        <p:nvSpPr>
          <p:cNvPr id="16" name="Text 13"/>
          <p:cNvSpPr/>
          <p:nvPr/>
        </p:nvSpPr>
        <p:spPr>
          <a:xfrm>
            <a:off x="3340100" y="1150621"/>
            <a:ext cx="1358900" cy="229870"/>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8A5518"/>
                </a:solidFill>
                <a:latin typeface="Space Grotesk" pitchFamily="34" charset="0"/>
                <a:ea typeface="Space Grotesk" pitchFamily="34" charset="-122"/>
                <a:cs typeface="Space Grotesk" pitchFamily="34" charset="-120"/>
              </a:rPr>
              <a:t>INGESTION</a:t>
            </a:r>
            <a:endParaRPr lang="en-US" sz="1150" dirty="0"/>
          </a:p>
        </p:txBody>
      </p:sp>
      <p:sp>
        <p:nvSpPr>
          <p:cNvPr id="17" name="Text 14"/>
          <p:cNvSpPr/>
          <p:nvPr/>
        </p:nvSpPr>
        <p:spPr>
          <a:xfrm>
            <a:off x="3340100" y="1405892"/>
            <a:ext cx="1358900"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Inter" pitchFamily="34" charset="0"/>
                <a:ea typeface="Inter" pitchFamily="34" charset="-122"/>
                <a:cs typeface="Inter" pitchFamily="34" charset="-120"/>
              </a:rPr>
              <a:t>AWS Glue batch</a:t>
            </a:r>
            <a:endParaRPr lang="en-US" sz="1250" dirty="0"/>
          </a:p>
        </p:txBody>
      </p:sp>
      <p:sp>
        <p:nvSpPr>
          <p:cNvPr id="18" name="Text 15"/>
          <p:cNvSpPr/>
          <p:nvPr/>
        </p:nvSpPr>
        <p:spPr>
          <a:xfrm>
            <a:off x="3340100" y="1647192"/>
            <a:ext cx="1358900" cy="1390571"/>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8A5518"/>
                </a:solidFill>
                <a:latin typeface="Inter" pitchFamily="34" charset="0"/>
                <a:ea typeface="Inter" pitchFamily="34" charset="-122"/>
                <a:cs typeface="Inter" pitchFamily="34" charset="-120"/>
              </a:rPr>
              <a:t>Validation</a:t>
            </a:r>
            <a:endParaRPr lang="en-US" sz="1200" dirty="0"/>
          </a:p>
          <a:p>
            <a:pPr algn="l" marL="182880" indent="-148844">
              <a:lnSpc>
                <a:spcPts val="1536"/>
              </a:lnSpc>
              <a:buSzPct val="100000"/>
              <a:buChar char="•"/>
            </a:pPr>
            <a:r>
              <a:rPr lang="en-US" sz="1200" dirty="0">
                <a:solidFill>
                  <a:srgbClr val="8A5518"/>
                </a:solidFill>
                <a:latin typeface="Inter" pitchFamily="34" charset="0"/>
                <a:ea typeface="Inter" pitchFamily="34" charset="-122"/>
                <a:cs typeface="Inter" pitchFamily="34" charset="-120"/>
              </a:rPr>
              <a:t>Delta detection</a:t>
            </a:r>
            <a:endParaRPr lang="en-US" sz="1200" dirty="0"/>
          </a:p>
          <a:p>
            <a:pPr algn="l" marL="182880" indent="-148844">
              <a:lnSpc>
                <a:spcPts val="1536"/>
              </a:lnSpc>
              <a:buSzPct val="100000"/>
              <a:buChar char="•"/>
            </a:pPr>
            <a:r>
              <a:rPr lang="en-US" sz="1200" dirty="0">
                <a:solidFill>
                  <a:srgbClr val="8A5518"/>
                </a:solidFill>
                <a:latin typeface="Inter" pitchFamily="34" charset="0"/>
                <a:ea typeface="Inter" pitchFamily="34" charset="-122"/>
                <a:cs typeface="Inter" pitchFamily="34" charset="-120"/>
              </a:rPr>
              <a:t>Checkpoint and resume</a:t>
            </a:r>
            <a:endParaRPr lang="en-US" sz="1200" dirty="0"/>
          </a:p>
          <a:p>
            <a:pPr algn="l" marL="182880" indent="-148844">
              <a:lnSpc>
                <a:spcPts val="1536"/>
              </a:lnSpc>
              <a:buSzPct val="100000"/>
              <a:buChar char="•"/>
            </a:pPr>
            <a:r>
              <a:rPr lang="en-US" sz="1200" dirty="0">
                <a:solidFill>
                  <a:srgbClr val="8A5518"/>
                </a:solidFill>
                <a:latin typeface="Inter" pitchFamily="34" charset="0"/>
                <a:ea typeface="Inter" pitchFamily="34" charset="-122"/>
                <a:cs typeface="Inter" pitchFamily="34" charset="-120"/>
              </a:rPr>
              <a:t>Type correction at load</a:t>
            </a:r>
            <a:endParaRPr lang="en-US" sz="1200" dirty="0"/>
          </a:p>
        </p:txBody>
      </p:sp>
      <p:pic>
        <p:nvPicPr>
          <p:cNvPr id="19" name="Image 1" descr="arrow-right">    </p:cNvPr>
          <p:cNvPicPr>
            <a:picLocks noChangeAspect="1"/>
          </p:cNvPicPr>
          <p:nvPr/>
        </p:nvPicPr>
        <p:blipFill>
          <a:blip r:embed="rId2"/>
          <a:srcRect l="0" r="0" t="0" b="0"/>
          <a:stretch/>
        </p:blipFill>
        <p:spPr>
          <a:xfrm>
            <a:off x="4889500" y="2419989"/>
            <a:ext cx="355600" cy="190500"/>
          </a:xfrm>
          <a:prstGeom prst="rect">
            <a:avLst/>
          </a:prstGeom>
        </p:spPr>
      </p:pic>
      <p:sp>
        <p:nvSpPr>
          <p:cNvPr id="20" name="Shape 16"/>
          <p:cNvSpPr/>
          <p:nvPr/>
        </p:nvSpPr>
        <p:spPr>
          <a:xfrm>
            <a:off x="5359400" y="1036321"/>
            <a:ext cx="3987800" cy="2957830"/>
          </a:xfrm>
          <a:prstGeom prst="roundRect">
            <a:avLst>
              <a:gd name="adj" fmla="val 3006"/>
            </a:avLst>
          </a:prstGeom>
          <a:solidFill>
            <a:srgbClr val="0B1622"/>
          </a:solidFill>
          <a:ln/>
        </p:spPr>
      </p:sp>
      <p:sp>
        <p:nvSpPr>
          <p:cNvPr id="21" name="Text 17"/>
          <p:cNvSpPr/>
          <p:nvPr/>
        </p:nvSpPr>
        <p:spPr>
          <a:xfrm>
            <a:off x="5499100" y="1150621"/>
            <a:ext cx="3819652" cy="434340"/>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6FD3C0"/>
                </a:solidFill>
                <a:latin typeface="Space Grotesk" pitchFamily="34" charset="0"/>
                <a:ea typeface="Space Grotesk" pitchFamily="34" charset="-122"/>
                <a:cs typeface="Space Grotesk" pitchFamily="34" charset="-120"/>
              </a:rPr>
              <a:t>TIGERGRAPH — THE PLATFORM'S OPERATIONAL STORE</a:t>
            </a:r>
            <a:endParaRPr lang="en-US" sz="1150" dirty="0"/>
          </a:p>
        </p:txBody>
      </p:sp>
      <p:sp>
        <p:nvSpPr>
          <p:cNvPr id="22" name="Text 18"/>
          <p:cNvSpPr/>
          <p:nvPr/>
        </p:nvSpPr>
        <p:spPr>
          <a:xfrm>
            <a:off x="5499100" y="1610364"/>
            <a:ext cx="1835150" cy="528320"/>
          </a:xfrm>
          <a:prstGeom prst="roundRect">
            <a:avLst>
              <a:gd name="adj" fmla="val 9615"/>
            </a:avLst>
          </a:prstGeom>
          <a:solidFill>
            <a:srgbClr val="142639"/>
          </a:solidFill>
          <a:ln/>
        </p:spPr>
        <p:txBody>
          <a:bodyPr wrap="square" lIns="61321" tIns="35921" rIns="10521" bIns="10521" rtlCol="0" anchor="t">
            <a:normAutofit/>
          </a:bodyPr>
          <a:lstStyle/>
          <a:p>
            <a:pPr algn="l" indent="0" marL="0">
              <a:lnSpc>
                <a:spcPts val="1680"/>
              </a:lnSpc>
              <a:buNone/>
            </a:pPr>
            <a:r>
              <a:rPr lang="en-US" sz="1200" dirty="0">
                <a:solidFill>
                  <a:srgbClr val="CFE3DC"/>
                </a:solidFill>
                <a:latin typeface="Inter" pitchFamily="34" charset="0"/>
                <a:ea typeface="Inter" pitchFamily="34" charset="-122"/>
                <a:cs typeface="Inter" pitchFamily="34" charset="-120"/>
              </a:rPr>
              <a:t>Temporal knowledge graph</a:t>
            </a:r>
            <a:endParaRPr lang="en-US" sz="1200" dirty="0"/>
          </a:p>
        </p:txBody>
      </p:sp>
      <p:sp>
        <p:nvSpPr>
          <p:cNvPr id="23" name="Text 19"/>
          <p:cNvSpPr/>
          <p:nvPr/>
        </p:nvSpPr>
        <p:spPr>
          <a:xfrm>
            <a:off x="7372350" y="1610364"/>
            <a:ext cx="1835150" cy="528320"/>
          </a:xfrm>
          <a:prstGeom prst="roundRect">
            <a:avLst>
              <a:gd name="adj" fmla="val 9615"/>
            </a:avLst>
          </a:prstGeom>
          <a:solidFill>
            <a:srgbClr val="142639"/>
          </a:solidFill>
          <a:ln/>
        </p:spPr>
        <p:txBody>
          <a:bodyPr wrap="square" lIns="61321" tIns="35921" rIns="10521" bIns="10521" rtlCol="0" anchor="t">
            <a:normAutofit/>
          </a:bodyPr>
          <a:lstStyle/>
          <a:p>
            <a:pPr algn="l" indent="0" marL="0">
              <a:lnSpc>
                <a:spcPts val="1680"/>
              </a:lnSpc>
              <a:buNone/>
            </a:pPr>
            <a:r>
              <a:rPr lang="en-US" sz="1200" dirty="0">
                <a:solidFill>
                  <a:srgbClr val="CFE3DC"/>
                </a:solidFill>
                <a:latin typeface="Inter" pitchFamily="34" charset="0"/>
                <a:ea typeface="Inter" pitchFamily="34" charset="-122"/>
                <a:cs typeface="Inter" pitchFamily="34" charset="-120"/>
              </a:rPr>
              <a:t>Raw transactions</a:t>
            </a:r>
            <a:endParaRPr lang="en-US" sz="1200" dirty="0"/>
          </a:p>
        </p:txBody>
      </p:sp>
      <p:sp>
        <p:nvSpPr>
          <p:cNvPr id="24" name="Text 20"/>
          <p:cNvSpPr/>
          <p:nvPr/>
        </p:nvSpPr>
        <p:spPr>
          <a:xfrm>
            <a:off x="5499100" y="2176779"/>
            <a:ext cx="1835150" cy="528320"/>
          </a:xfrm>
          <a:prstGeom prst="roundRect">
            <a:avLst>
              <a:gd name="adj" fmla="val 9615"/>
            </a:avLst>
          </a:prstGeom>
          <a:solidFill>
            <a:srgbClr val="1B3D39"/>
          </a:solidFill>
          <a:ln/>
        </p:spPr>
        <p:txBody>
          <a:bodyPr wrap="square" lIns="61321" tIns="35921" rIns="10521" bIns="10521" rtlCol="0" anchor="t">
            <a:normAutofit/>
          </a:bodyPr>
          <a:lstStyle/>
          <a:p>
            <a:pPr algn="l" indent="0" marL="0">
              <a:lnSpc>
                <a:spcPts val="1680"/>
              </a:lnSpc>
              <a:buNone/>
            </a:pPr>
            <a:r>
              <a:rPr lang="en-US" sz="1200" dirty="0">
                <a:solidFill>
                  <a:srgbClr val="9BE0CE"/>
                </a:solidFill>
                <a:latin typeface="Inter" pitchFamily="34" charset="0"/>
                <a:ea typeface="Inter" pitchFamily="34" charset="-122"/>
                <a:cs typeface="Inter" pitchFamily="34" charset="-120"/>
              </a:rPr>
              <a:t>Context graph &amp; memory ✎</a:t>
            </a:r>
            <a:endParaRPr lang="en-US" sz="1200" dirty="0"/>
          </a:p>
        </p:txBody>
      </p:sp>
      <p:sp>
        <p:nvSpPr>
          <p:cNvPr id="25" name="Text 21"/>
          <p:cNvSpPr/>
          <p:nvPr/>
        </p:nvSpPr>
        <p:spPr>
          <a:xfrm>
            <a:off x="7372350" y="2176779"/>
            <a:ext cx="1835150" cy="528320"/>
          </a:xfrm>
          <a:prstGeom prst="roundRect">
            <a:avLst>
              <a:gd name="adj" fmla="val 9615"/>
            </a:avLst>
          </a:prstGeom>
          <a:solidFill>
            <a:srgbClr val="1B3D39"/>
          </a:solidFill>
          <a:ln/>
        </p:spPr>
        <p:txBody>
          <a:bodyPr wrap="square" lIns="61321" tIns="35921" rIns="10521" bIns="10521" rtlCol="0" anchor="t">
            <a:normAutofit/>
          </a:bodyPr>
          <a:lstStyle/>
          <a:p>
            <a:pPr algn="l" indent="0" marL="0">
              <a:lnSpc>
                <a:spcPts val="1680"/>
              </a:lnSpc>
              <a:buNone/>
            </a:pPr>
            <a:r>
              <a:rPr lang="en-US" sz="1200" dirty="0">
                <a:solidFill>
                  <a:srgbClr val="9BE0CE"/>
                </a:solidFill>
                <a:latin typeface="Inter" pitchFamily="34" charset="0"/>
                <a:ea typeface="Inter" pitchFamily="34" charset="-122"/>
                <a:cs typeface="Inter" pitchFamily="34" charset="-120"/>
              </a:rPr>
              <a:t>Insight &amp; run history ✎</a:t>
            </a:r>
            <a:endParaRPr lang="en-US" sz="1200" dirty="0"/>
          </a:p>
        </p:txBody>
      </p:sp>
      <p:sp>
        <p:nvSpPr>
          <p:cNvPr id="26" name="Text 22"/>
          <p:cNvSpPr/>
          <p:nvPr/>
        </p:nvSpPr>
        <p:spPr>
          <a:xfrm>
            <a:off x="5499100" y="2743200"/>
            <a:ext cx="1835150" cy="314960"/>
          </a:xfrm>
          <a:prstGeom prst="roundRect">
            <a:avLst>
              <a:gd name="adj" fmla="val 16129"/>
            </a:avLst>
          </a:prstGeom>
          <a:solidFill>
            <a:srgbClr val="142639"/>
          </a:solidFill>
          <a:ln/>
        </p:spPr>
        <p:txBody>
          <a:bodyPr wrap="square" lIns="61321" tIns="35921" rIns="10521" bIns="10521" rtlCol="0" anchor="t">
            <a:normAutofit/>
          </a:bodyPr>
          <a:lstStyle/>
          <a:p>
            <a:pPr algn="l" indent="0" marL="0">
              <a:lnSpc>
                <a:spcPts val="1680"/>
              </a:lnSpc>
              <a:buNone/>
            </a:pPr>
            <a:r>
              <a:rPr lang="en-US" sz="1200" dirty="0">
                <a:solidFill>
                  <a:srgbClr val="CFE3DC"/>
                </a:solidFill>
                <a:latin typeface="Inter" pitchFamily="34" charset="0"/>
                <a:ea typeface="Inter" pitchFamily="34" charset="-122"/>
                <a:cs typeface="Inter" pitchFamily="34" charset="-120"/>
              </a:rPr>
              <a:t>Compensation rules</a:t>
            </a:r>
            <a:endParaRPr lang="en-US" sz="1200" dirty="0"/>
          </a:p>
        </p:txBody>
      </p:sp>
      <p:sp>
        <p:nvSpPr>
          <p:cNvPr id="27" name="Text 23"/>
          <p:cNvSpPr/>
          <p:nvPr/>
        </p:nvSpPr>
        <p:spPr>
          <a:xfrm>
            <a:off x="7372350" y="2743200"/>
            <a:ext cx="1835150" cy="314960"/>
          </a:xfrm>
          <a:prstGeom prst="roundRect">
            <a:avLst>
              <a:gd name="adj" fmla="val 16129"/>
            </a:avLst>
          </a:prstGeom>
          <a:solidFill>
            <a:srgbClr val="142639"/>
          </a:solidFill>
          <a:ln/>
        </p:spPr>
        <p:txBody>
          <a:bodyPr wrap="square" lIns="61321" tIns="35921" rIns="10521" bIns="10521" rtlCol="0" anchor="t">
            <a:normAutofit/>
          </a:bodyPr>
          <a:lstStyle/>
          <a:p>
            <a:pPr algn="l" indent="0" marL="0">
              <a:lnSpc>
                <a:spcPts val="1680"/>
              </a:lnSpc>
              <a:buNone/>
            </a:pPr>
            <a:r>
              <a:rPr lang="en-US" sz="1200" dirty="0">
                <a:solidFill>
                  <a:srgbClr val="CFE3DC"/>
                </a:solidFill>
                <a:latin typeface="Inter" pitchFamily="34" charset="0"/>
                <a:ea typeface="Inter" pitchFamily="34" charset="-122"/>
                <a:cs typeface="Inter" pitchFamily="34" charset="-120"/>
              </a:rPr>
              <a:t>Vectors &amp; algorithms</a:t>
            </a:r>
            <a:endParaRPr lang="en-US" sz="1200" dirty="0"/>
          </a:p>
        </p:txBody>
      </p:sp>
      <p:sp>
        <p:nvSpPr>
          <p:cNvPr id="28" name="Text 24"/>
          <p:cNvSpPr/>
          <p:nvPr/>
        </p:nvSpPr>
        <p:spPr>
          <a:xfrm>
            <a:off x="5499100" y="3108964"/>
            <a:ext cx="3819652"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9BE0CE"/>
                </a:solidFill>
                <a:latin typeface="Inter" pitchFamily="34" charset="0"/>
                <a:ea typeface="Inter" pitchFamily="34" charset="-122"/>
                <a:cs typeface="Inter" pitchFamily="34" charset="-120"/>
              </a:rPr>
              <a:t>✎</a:t>
            </a:r>
            <a:r>
              <a:rPr lang="en-US" sz="1200" dirty="0">
                <a:solidFill>
                  <a:srgbClr val="9FB3BE"/>
                </a:solidFill>
                <a:latin typeface="Inter" pitchFamily="34" charset="0"/>
                <a:ea typeface="Inter" pitchFamily="34" charset="-122"/>
                <a:cs typeface="Inter" pitchFamily="34" charset="-120"/>
              </a:rPr>
              <a:t> written by the platform itself — memory, facts and outcomes accumulate here</a:t>
            </a:r>
            <a:endParaRPr lang="en-US" sz="1200" dirty="0"/>
          </a:p>
        </p:txBody>
      </p:sp>
      <p:pic>
        <p:nvPicPr>
          <p:cNvPr id="29" name="Image 2" descr="arrow-right">    </p:cNvPr>
          <p:cNvPicPr>
            <a:picLocks noChangeAspect="1"/>
          </p:cNvPicPr>
          <p:nvPr/>
        </p:nvPicPr>
        <p:blipFill>
          <a:blip r:embed="rId3"/>
          <a:srcRect l="0" r="0" t="0" b="0"/>
          <a:stretch/>
        </p:blipFill>
        <p:spPr>
          <a:xfrm>
            <a:off x="9486900" y="2047398"/>
            <a:ext cx="368300" cy="177800"/>
          </a:xfrm>
          <a:prstGeom prst="rect">
            <a:avLst/>
          </a:prstGeom>
        </p:spPr>
      </p:pic>
      <p:pic>
        <p:nvPicPr>
          <p:cNvPr id="30" name="Image 3" descr="arrow-left">    </p:cNvPr>
          <p:cNvPicPr>
            <a:picLocks noChangeAspect="1"/>
          </p:cNvPicPr>
          <p:nvPr/>
        </p:nvPicPr>
        <p:blipFill>
          <a:blip r:embed="rId4"/>
          <a:srcRect l="0" r="0" t="0" b="0"/>
          <a:stretch/>
        </p:blipFill>
        <p:spPr>
          <a:xfrm>
            <a:off x="9486900" y="2263298"/>
            <a:ext cx="368300" cy="177800"/>
          </a:xfrm>
          <a:prstGeom prst="rect">
            <a:avLst/>
          </a:prstGeom>
        </p:spPr>
      </p:pic>
      <p:sp>
        <p:nvSpPr>
          <p:cNvPr id="31" name="Text 25"/>
          <p:cNvSpPr/>
          <p:nvPr/>
        </p:nvSpPr>
        <p:spPr>
          <a:xfrm>
            <a:off x="9385300" y="2479198"/>
            <a:ext cx="571500" cy="529272"/>
          </a:xfrm>
          <a:prstGeom prst="rect">
            <a:avLst/>
          </a:prstGeom>
          <a:noFill/>
          <a:ln/>
        </p:spPr>
        <p:txBody>
          <a:bodyPr wrap="square" lIns="0" tIns="0" rIns="0" bIns="0" rtlCol="0" anchor="t">
            <a:normAutofit/>
          </a:bodyPr>
          <a:lstStyle/>
          <a:p>
            <a:pPr algn="ctr" indent="0" marL="0">
              <a:lnSpc>
                <a:spcPts val="1323"/>
              </a:lnSpc>
              <a:buNone/>
            </a:pPr>
            <a:r>
              <a:rPr lang="en-US" sz="1150" dirty="0">
                <a:solidFill>
                  <a:srgbClr val="0B6B5E"/>
                </a:solidFill>
                <a:latin typeface="Inter" pitchFamily="34" charset="0"/>
                <a:ea typeface="Inter" pitchFamily="34" charset="-122"/>
                <a:cs typeface="Inter" pitchFamily="34" charset="-120"/>
              </a:rPr>
              <a:t>read</a:t>
            </a:r>
            <a:endParaRPr lang="en-US" sz="1150" dirty="0"/>
          </a:p>
          <a:p>
            <a:pPr algn="ctr" indent="0" marL="0">
              <a:lnSpc>
                <a:spcPts val="1323"/>
              </a:lnSpc>
              <a:buNone/>
            </a:pPr>
            <a:r>
              <a:rPr lang="en-US" sz="1150" dirty="0">
                <a:solidFill>
                  <a:srgbClr val="0B6B5E"/>
                </a:solidFill>
                <a:latin typeface="Inter" pitchFamily="34" charset="0"/>
                <a:ea typeface="Inter" pitchFamily="34" charset="-122"/>
                <a:cs typeface="Inter" pitchFamily="34" charset="-120"/>
              </a:rPr>
              <a:t>and write</a:t>
            </a:r>
            <a:endParaRPr lang="en-US" sz="1150" dirty="0"/>
          </a:p>
        </p:txBody>
      </p:sp>
      <p:sp>
        <p:nvSpPr>
          <p:cNvPr id="32" name="Shape 26"/>
          <p:cNvSpPr/>
          <p:nvPr/>
        </p:nvSpPr>
        <p:spPr>
          <a:xfrm>
            <a:off x="9994900" y="1036321"/>
            <a:ext cx="1384300" cy="2957830"/>
          </a:xfrm>
          <a:prstGeom prst="roundRect">
            <a:avLst>
              <a:gd name="adj" fmla="val 6422"/>
            </a:avLst>
          </a:prstGeom>
          <a:solidFill>
            <a:srgbClr val="E4F1EE"/>
          </a:solidFill>
          <a:ln/>
        </p:spPr>
      </p:sp>
      <p:sp>
        <p:nvSpPr>
          <p:cNvPr id="33" name="Text 27"/>
          <p:cNvSpPr/>
          <p:nvPr/>
        </p:nvSpPr>
        <p:spPr>
          <a:xfrm>
            <a:off x="10121900" y="1150621"/>
            <a:ext cx="1181100" cy="229870"/>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0B6B5E"/>
                </a:solidFill>
                <a:latin typeface="Space Grotesk" pitchFamily="34" charset="0"/>
                <a:ea typeface="Space Grotesk" pitchFamily="34" charset="-122"/>
                <a:cs typeface="Space Grotesk" pitchFamily="34" charset="-120"/>
              </a:rPr>
              <a:t>PLATFORM</a:t>
            </a:r>
            <a:endParaRPr lang="en-US" sz="1150" dirty="0"/>
          </a:p>
        </p:txBody>
      </p:sp>
      <p:sp>
        <p:nvSpPr>
          <p:cNvPr id="34" name="Text 28"/>
          <p:cNvSpPr/>
          <p:nvPr/>
        </p:nvSpPr>
        <p:spPr>
          <a:xfrm>
            <a:off x="10121900" y="1405892"/>
            <a:ext cx="1181100" cy="1780619"/>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0B4F46"/>
                </a:solidFill>
                <a:latin typeface="Inter" pitchFamily="34" charset="0"/>
                <a:ea typeface="Inter" pitchFamily="34" charset="-122"/>
                <a:cs typeface="Inter" pitchFamily="34" charset="-120"/>
              </a:rPr>
              <a:t>Practice AI</a:t>
            </a:r>
            <a:endParaRPr lang="en-US" sz="1200" dirty="0"/>
          </a:p>
          <a:p>
            <a:pPr algn="l" marL="182880" indent="-148844">
              <a:lnSpc>
                <a:spcPts val="1536"/>
              </a:lnSpc>
              <a:buSzPct val="100000"/>
              <a:buChar char="•"/>
            </a:pPr>
            <a:r>
              <a:rPr lang="en-US" sz="1200" dirty="0">
                <a:solidFill>
                  <a:srgbClr val="0B4F46"/>
                </a:solidFill>
                <a:latin typeface="Inter" pitchFamily="34" charset="0"/>
                <a:ea typeface="Inter" pitchFamily="34" charset="-122"/>
                <a:cs typeface="Inter" pitchFamily="34" charset="-120"/>
              </a:rPr>
              <a:t>Practice Coach</a:t>
            </a:r>
            <a:endParaRPr lang="en-US" sz="1200" dirty="0"/>
          </a:p>
          <a:p>
            <a:pPr algn="l" marL="182880" indent="-148844">
              <a:lnSpc>
                <a:spcPts val="1536"/>
              </a:lnSpc>
              <a:buSzPct val="100000"/>
              <a:buChar char="•"/>
            </a:pPr>
            <a:r>
              <a:rPr lang="en-US" sz="1200" dirty="0">
                <a:solidFill>
                  <a:srgbClr val="0B4F46"/>
                </a:solidFill>
                <a:latin typeface="Inter" pitchFamily="34" charset="0"/>
                <a:ea typeface="Inter" pitchFamily="34" charset="-122"/>
                <a:cs typeface="Inter" pitchFamily="34" charset="-120"/>
              </a:rPr>
              <a:t>iPerform AI</a:t>
            </a:r>
            <a:endParaRPr lang="en-US" sz="1200" dirty="0"/>
          </a:p>
          <a:p>
            <a:pPr algn="l" marL="182880" indent="-148844">
              <a:lnSpc>
                <a:spcPts val="1536"/>
              </a:lnSpc>
              <a:buSzPct val="100000"/>
              <a:buChar char="•"/>
            </a:pPr>
            <a:r>
              <a:rPr lang="en-US" sz="1200" dirty="0">
                <a:solidFill>
                  <a:srgbClr val="0B4F46"/>
                </a:solidFill>
                <a:latin typeface="Inter" pitchFamily="34" charset="0"/>
                <a:ea typeface="Inter" pitchFamily="34" charset="-122"/>
                <a:cs typeface="Inter" pitchFamily="34" charset="-120"/>
              </a:rPr>
              <a:t>iPerform Coach</a:t>
            </a:r>
            <a:endParaRPr lang="en-US" sz="1200" dirty="0"/>
          </a:p>
          <a:p>
            <a:pPr algn="l" marL="182880" indent="-148844">
              <a:lnSpc>
                <a:spcPts val="1536"/>
              </a:lnSpc>
              <a:buSzPct val="100000"/>
              <a:buChar char="•"/>
            </a:pPr>
            <a:r>
              <a:rPr lang="en-US" sz="1200" dirty="0">
                <a:solidFill>
                  <a:srgbClr val="0B4F46"/>
                </a:solidFill>
                <a:latin typeface="Inter" pitchFamily="34" charset="0"/>
                <a:ea typeface="Inter" pitchFamily="34" charset="-122"/>
                <a:cs typeface="Inter" pitchFamily="34" charset="-120"/>
              </a:rPr>
              <a:t>Dashboards</a:t>
            </a:r>
            <a:endParaRPr lang="en-US" sz="1200" dirty="0"/>
          </a:p>
          <a:p>
            <a:pPr algn="l" marL="182880" indent="-148844">
              <a:lnSpc>
                <a:spcPts val="1536"/>
              </a:lnSpc>
              <a:buSzPct val="100000"/>
              <a:buChar char="•"/>
            </a:pPr>
            <a:r>
              <a:rPr lang="en-US" sz="1200" dirty="0">
                <a:solidFill>
                  <a:srgbClr val="0B4F46"/>
                </a:solidFill>
                <a:latin typeface="Inter" pitchFamily="34" charset="0"/>
                <a:ea typeface="Inter" pitchFamily="34" charset="-122"/>
                <a:cs typeface="Inter" pitchFamily="34" charset="-120"/>
              </a:rPr>
              <a:t>Downstream teams</a:t>
            </a:r>
            <a:endParaRPr lang="en-US" sz="1200" dirty="0"/>
          </a:p>
        </p:txBody>
      </p:sp>
      <p:sp>
        <p:nvSpPr>
          <p:cNvPr id="35" name="Shape 29"/>
          <p:cNvSpPr/>
          <p:nvPr/>
        </p:nvSpPr>
        <p:spPr>
          <a:xfrm>
            <a:off x="812800" y="4108450"/>
            <a:ext cx="3462814" cy="1187132"/>
          </a:xfrm>
          <a:prstGeom prst="roundRect">
            <a:avLst>
              <a:gd name="adj" fmla="val 7489"/>
            </a:avLst>
          </a:prstGeom>
          <a:solidFill>
            <a:srgbClr val="F5F8F9"/>
          </a:solidFill>
          <a:ln/>
        </p:spPr>
      </p:sp>
      <p:sp>
        <p:nvSpPr>
          <p:cNvPr id="36" name="Shape 30"/>
          <p:cNvSpPr/>
          <p:nvPr/>
        </p:nvSpPr>
        <p:spPr>
          <a:xfrm>
            <a:off x="812800" y="4108450"/>
            <a:ext cx="3462814" cy="1187132"/>
          </a:xfrm>
          <a:custGeom>
            <a:avLst/>
            <a:gdLst/>
            <a:ahLst/>
            <a:cxnLst/>
            <a:rect l="l" t="t" r="r" b="b"/>
            <a:pathLst>
              <a:path w="3462814" h="1187132">
                <a:moveTo>
                  <a:pt x="88900" y="1187132"/>
                </a:moveTo>
                <a:lnTo>
                  <a:pt x="88900" y="1187132"/>
                </a:lnTo>
                <a:arcTo hR="88900" wR="88900" stAng="5400000" swAng="5400000"/>
                <a:lnTo>
                  <a:pt x="0" y="88900"/>
                </a:lnTo>
                <a:arcTo hR="88900" wR="88900" stAng="10800000" swAng="5400000"/>
                <a:lnTo>
                  <a:pt x="88900" y="0"/>
                </a:lnTo>
                <a:arcTo hR="88900" wR="57150" stAng="16200000" swAng="-5400000"/>
                <a:lnTo>
                  <a:pt x="31750" y="1098232"/>
                </a:lnTo>
                <a:arcTo hR="88900" wR="57150" stAng="10800000" swAng="-5400000"/>
                <a:close/>
              </a:path>
            </a:pathLst>
          </a:custGeom>
          <a:solidFill>
            <a:srgbClr val="10897A"/>
          </a:solidFill>
          <a:ln/>
        </p:spPr>
      </p:sp>
      <p:sp>
        <p:nvSpPr>
          <p:cNvPr id="37" name="Text 31"/>
          <p:cNvSpPr/>
          <p:nvPr/>
        </p:nvSpPr>
        <p:spPr>
          <a:xfrm>
            <a:off x="982980" y="4210050"/>
            <a:ext cx="3247522"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One store in the request path</a:t>
            </a:r>
            <a:endParaRPr lang="en-US" sz="1250" dirty="0"/>
          </a:p>
        </p:txBody>
      </p:sp>
      <p:sp>
        <p:nvSpPr>
          <p:cNvPr id="38" name="Text 32"/>
          <p:cNvSpPr/>
          <p:nvPr/>
        </p:nvSpPr>
        <p:spPr>
          <a:xfrm>
            <a:off x="982980" y="4425950"/>
            <a:ext cx="3247522" cy="793433"/>
          </a:xfrm>
          <a:prstGeom prst="rect">
            <a:avLst/>
          </a:prstGeom>
          <a:noFill/>
          <a:ln/>
        </p:spPr>
        <p:txBody>
          <a:bodyPr wrap="square" lIns="0" tIns="0" rIns="0" bIns="0" rtlCol="0" anchor="t">
            <a:normAutofit/>
          </a:bodyPr>
          <a:lstStyle/>
          <a:p>
            <a:pPr algn="l" indent="0" marL="0">
              <a:lnSpc>
                <a:spcPts val="1512"/>
              </a:lnSpc>
              <a:buNone/>
            </a:pPr>
            <a:r>
              <a:rPr lang="en-US" sz="1200" dirty="0">
                <a:solidFill>
                  <a:srgbClr val="5C6B7A"/>
                </a:solidFill>
                <a:latin typeface="Inter" pitchFamily="34" charset="0"/>
                <a:ea typeface="Inter" pitchFamily="34" charset="-122"/>
                <a:cs typeface="Inter" pitchFamily="34" charset="-120"/>
              </a:rPr>
              <a:t>Reads and writes both land in TigerGraph. Nothing queries two stores and joins the results, so there is no half-rendered page and no distributed consistency problem.</a:t>
            </a:r>
            <a:endParaRPr lang="en-US" sz="1200" dirty="0"/>
          </a:p>
        </p:txBody>
      </p:sp>
      <p:sp>
        <p:nvSpPr>
          <p:cNvPr id="39" name="Shape 33"/>
          <p:cNvSpPr/>
          <p:nvPr/>
        </p:nvSpPr>
        <p:spPr>
          <a:xfrm>
            <a:off x="4364514" y="4108450"/>
            <a:ext cx="3462893" cy="1187132"/>
          </a:xfrm>
          <a:prstGeom prst="roundRect">
            <a:avLst>
              <a:gd name="adj" fmla="val 7489"/>
            </a:avLst>
          </a:prstGeom>
          <a:solidFill>
            <a:srgbClr val="F5F8F9"/>
          </a:solidFill>
          <a:ln/>
        </p:spPr>
      </p:sp>
      <p:sp>
        <p:nvSpPr>
          <p:cNvPr id="40" name="Shape 34"/>
          <p:cNvSpPr/>
          <p:nvPr/>
        </p:nvSpPr>
        <p:spPr>
          <a:xfrm>
            <a:off x="4364514" y="4108450"/>
            <a:ext cx="3462893" cy="1187132"/>
          </a:xfrm>
          <a:custGeom>
            <a:avLst/>
            <a:gdLst/>
            <a:ahLst/>
            <a:cxnLst/>
            <a:rect l="l" t="t" r="r" b="b"/>
            <a:pathLst>
              <a:path w="3462893" h="1187132">
                <a:moveTo>
                  <a:pt x="88900" y="1187132"/>
                </a:moveTo>
                <a:lnTo>
                  <a:pt x="88900" y="1187132"/>
                </a:lnTo>
                <a:arcTo hR="88900" wR="88900" stAng="5400000" swAng="5400000"/>
                <a:lnTo>
                  <a:pt x="0" y="88900"/>
                </a:lnTo>
                <a:arcTo hR="88900" wR="88900" stAng="10800000" swAng="5400000"/>
                <a:lnTo>
                  <a:pt x="88900" y="0"/>
                </a:lnTo>
                <a:arcTo hR="88900" wR="57150" stAng="16200000" swAng="-5400000"/>
                <a:lnTo>
                  <a:pt x="31750" y="1098232"/>
                </a:lnTo>
                <a:arcTo hR="88900" wR="57150" stAng="10800000" swAng="-5400000"/>
                <a:close/>
              </a:path>
            </a:pathLst>
          </a:custGeom>
          <a:solidFill>
            <a:srgbClr val="10897A"/>
          </a:solidFill>
          <a:ln/>
        </p:spPr>
      </p:sp>
      <p:sp>
        <p:nvSpPr>
          <p:cNvPr id="41" name="Text 35"/>
          <p:cNvSpPr/>
          <p:nvPr/>
        </p:nvSpPr>
        <p:spPr>
          <a:xfrm>
            <a:off x="4534694" y="4210050"/>
            <a:ext cx="3247604"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The platform writes its own knowledge</a:t>
            </a:r>
            <a:endParaRPr lang="en-US" sz="1250" dirty="0"/>
          </a:p>
        </p:txBody>
      </p:sp>
      <p:sp>
        <p:nvSpPr>
          <p:cNvPr id="42" name="Text 36"/>
          <p:cNvSpPr/>
          <p:nvPr/>
        </p:nvSpPr>
        <p:spPr>
          <a:xfrm>
            <a:off x="4534694" y="4425950"/>
            <a:ext cx="3247604" cy="793433"/>
          </a:xfrm>
          <a:prstGeom prst="rect">
            <a:avLst/>
          </a:prstGeom>
          <a:noFill/>
          <a:ln/>
        </p:spPr>
        <p:txBody>
          <a:bodyPr wrap="square" lIns="0" tIns="0" rIns="0" bIns="0" rtlCol="0" anchor="t">
            <a:normAutofit/>
          </a:bodyPr>
          <a:lstStyle/>
          <a:p>
            <a:pPr algn="l" indent="0" marL="0">
              <a:lnSpc>
                <a:spcPts val="1512"/>
              </a:lnSpc>
              <a:buNone/>
            </a:pPr>
            <a:r>
              <a:rPr lang="en-US" sz="1200" dirty="0">
                <a:solidFill>
                  <a:srgbClr val="5C6B7A"/>
                </a:solidFill>
                <a:latin typeface="Inter" pitchFamily="34" charset="0"/>
                <a:ea typeface="Inter" pitchFamily="34" charset="-122"/>
                <a:cs typeface="Inter" pitchFamily="34" charset="-120"/>
              </a:rPr>
              <a:t>Memory, extracted facts, published rules, generated insights and outcomes are created here — they have no source system to flow from.</a:t>
            </a:r>
            <a:endParaRPr lang="en-US" sz="1200" dirty="0"/>
          </a:p>
        </p:txBody>
      </p:sp>
      <p:sp>
        <p:nvSpPr>
          <p:cNvPr id="43" name="Shape 37"/>
          <p:cNvSpPr/>
          <p:nvPr/>
        </p:nvSpPr>
        <p:spPr>
          <a:xfrm>
            <a:off x="7916307" y="4108450"/>
            <a:ext cx="3462893" cy="1187132"/>
          </a:xfrm>
          <a:prstGeom prst="roundRect">
            <a:avLst>
              <a:gd name="adj" fmla="val 7489"/>
            </a:avLst>
          </a:prstGeom>
          <a:solidFill>
            <a:srgbClr val="F5F8F9"/>
          </a:solidFill>
          <a:ln/>
        </p:spPr>
      </p:sp>
      <p:sp>
        <p:nvSpPr>
          <p:cNvPr id="44" name="Shape 38"/>
          <p:cNvSpPr/>
          <p:nvPr/>
        </p:nvSpPr>
        <p:spPr>
          <a:xfrm>
            <a:off x="7916307" y="4108450"/>
            <a:ext cx="3462893" cy="1187132"/>
          </a:xfrm>
          <a:custGeom>
            <a:avLst/>
            <a:gdLst/>
            <a:ahLst/>
            <a:cxnLst/>
            <a:rect l="l" t="t" r="r" b="b"/>
            <a:pathLst>
              <a:path w="3462893" h="1187132">
                <a:moveTo>
                  <a:pt x="88900" y="1187132"/>
                </a:moveTo>
                <a:lnTo>
                  <a:pt x="88900" y="1187132"/>
                </a:lnTo>
                <a:arcTo hR="88900" wR="88900" stAng="5400000" swAng="5400000"/>
                <a:lnTo>
                  <a:pt x="0" y="88900"/>
                </a:lnTo>
                <a:arcTo hR="88900" wR="88900" stAng="10800000" swAng="5400000"/>
                <a:lnTo>
                  <a:pt x="88900" y="0"/>
                </a:lnTo>
                <a:arcTo hR="88900" wR="57150" stAng="16200000" swAng="-5400000"/>
                <a:lnTo>
                  <a:pt x="31750" y="1098232"/>
                </a:lnTo>
                <a:arcTo hR="88900" wR="57150" stAng="10800000" swAng="-5400000"/>
                <a:close/>
              </a:path>
            </a:pathLst>
          </a:custGeom>
          <a:solidFill>
            <a:srgbClr val="10897A"/>
          </a:solidFill>
          <a:ln/>
        </p:spPr>
      </p:sp>
      <p:sp>
        <p:nvSpPr>
          <p:cNvPr id="45" name="Text 39"/>
          <p:cNvSpPr/>
          <p:nvPr/>
        </p:nvSpPr>
        <p:spPr>
          <a:xfrm>
            <a:off x="8086487" y="4210050"/>
            <a:ext cx="3247604"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Raw transactions land here too</a:t>
            </a:r>
            <a:endParaRPr lang="en-US" sz="1250" dirty="0"/>
          </a:p>
        </p:txBody>
      </p:sp>
      <p:sp>
        <p:nvSpPr>
          <p:cNvPr id="46" name="Text 40"/>
          <p:cNvSpPr/>
          <p:nvPr/>
        </p:nvSpPr>
        <p:spPr>
          <a:xfrm>
            <a:off x="8086487" y="4425950"/>
            <a:ext cx="3247604" cy="793433"/>
          </a:xfrm>
          <a:prstGeom prst="rect">
            <a:avLst/>
          </a:prstGeom>
          <a:noFill/>
          <a:ln/>
        </p:spPr>
        <p:txBody>
          <a:bodyPr wrap="square" lIns="0" tIns="0" rIns="0" bIns="0" rtlCol="0" anchor="t">
            <a:normAutofit/>
          </a:bodyPr>
          <a:lstStyle/>
          <a:p>
            <a:pPr algn="l" indent="0" marL="0">
              <a:lnSpc>
                <a:spcPts val="1512"/>
              </a:lnSpc>
              <a:buNone/>
            </a:pPr>
            <a:r>
              <a:rPr lang="en-US" sz="1200" dirty="0">
                <a:solidFill>
                  <a:srgbClr val="5C6B7A"/>
                </a:solidFill>
                <a:latin typeface="Inter" pitchFamily="34" charset="0"/>
                <a:ea typeface="Inter" pitchFamily="34" charset="-122"/>
                <a:cs typeface="Inter" pitchFamily="34" charset="-120"/>
              </a:rPr>
              <a:t>Connected to accounts, households, products and advisors — so agents research the detail and run algorithms over it, not just read summaries.</a:t>
            </a:r>
            <a:endParaRPr lang="en-US" sz="1200" dirty="0"/>
          </a:p>
        </p:txBody>
      </p:sp>
      <p:sp>
        <p:nvSpPr>
          <p:cNvPr id="47" name="Text 41"/>
          <p:cNvSpPr/>
          <p:nvPr/>
        </p:nvSpPr>
        <p:spPr>
          <a:xfrm>
            <a:off x="812800" y="633095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0897A"/>
                </a:solidFill>
                <a:latin typeface="Space Grotesk" pitchFamily="34" charset="0"/>
                <a:ea typeface="Space Grotesk" pitchFamily="34" charset="-122"/>
                <a:cs typeface="Space Grotesk" pitchFamily="34" charset="-120"/>
              </a:rPr>
              <a:t>Source data flows one way. Everything the platform creates is born here. One store, one access model, one query path.</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533400"/>
            <a:ext cx="5092106"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B1622"/>
                </a:solidFill>
                <a:latin typeface="Space Grotesk" pitchFamily="34" charset="0"/>
                <a:ea typeface="Space Grotesk" pitchFamily="34" charset="-122"/>
                <a:cs typeface="Space Grotesk" pitchFamily="34" charset="-120"/>
              </a:rPr>
              <a:t>The four questions we expect</a:t>
            </a:r>
            <a:endParaRPr lang="en-US" sz="2700" dirty="0"/>
          </a:p>
        </p:txBody>
      </p:sp>
      <p:sp>
        <p:nvSpPr>
          <p:cNvPr id="3" name="Text 1"/>
          <p:cNvSpPr/>
          <p:nvPr/>
        </p:nvSpPr>
        <p:spPr>
          <a:xfrm>
            <a:off x="5896292" y="675642"/>
            <a:ext cx="346229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Answered with what the documentation says</a:t>
            </a:r>
            <a:endParaRPr lang="en-US" sz="1250" dirty="0"/>
          </a:p>
        </p:txBody>
      </p:sp>
      <p:sp>
        <p:nvSpPr>
          <p:cNvPr id="4" name="Shape 2"/>
          <p:cNvSpPr/>
          <p:nvPr/>
        </p:nvSpPr>
        <p:spPr>
          <a:xfrm>
            <a:off x="815975" y="1002667"/>
            <a:ext cx="10560050" cy="810419"/>
          </a:xfrm>
          <a:prstGeom prst="roundRect">
            <a:avLst>
              <a:gd name="adj" fmla="val 10578"/>
            </a:avLst>
          </a:prstGeom>
          <a:solidFill>
            <a:srgbClr val="FFFFFF"/>
          </a:solidFill>
          <a:ln w="6350">
            <a:solidFill>
              <a:srgbClr val="DFE6EA"/>
            </a:solidFill>
            <a:prstDash val="solid"/>
          </a:ln>
        </p:spPr>
      </p:sp>
      <p:sp>
        <p:nvSpPr>
          <p:cNvPr id="5" name="Text 3"/>
          <p:cNvSpPr/>
          <p:nvPr/>
        </p:nvSpPr>
        <p:spPr>
          <a:xfrm>
            <a:off x="970280" y="1106171"/>
            <a:ext cx="3139440" cy="254000"/>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0B1622"/>
                </a:solidFill>
                <a:latin typeface="Instrument Serif" pitchFamily="34" charset="0"/>
                <a:ea typeface="Instrument Serif" pitchFamily="34" charset="-122"/>
                <a:cs typeface="Instrument Serif" pitchFamily="34" charset="-120"/>
              </a:rPr>
              <a:t>"PostgreSQL 19 has graph queries now."</a:t>
            </a:r>
            <a:endParaRPr lang="en-US" sz="1500" dirty="0"/>
          </a:p>
        </p:txBody>
      </p:sp>
      <p:sp>
        <p:nvSpPr>
          <p:cNvPr id="6" name="Text 4"/>
          <p:cNvSpPr/>
          <p:nvPr/>
        </p:nvSpPr>
        <p:spPr>
          <a:xfrm>
            <a:off x="4170680" y="1106171"/>
            <a:ext cx="7262571" cy="628809"/>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5C6B7A"/>
                </a:solidFill>
                <a:latin typeface="Inter" pitchFamily="34" charset="0"/>
                <a:ea typeface="Inter" pitchFamily="34" charset="-122"/>
                <a:cs typeface="Inter" pitchFamily="34" charset="-120"/>
              </a:rPr>
              <a:t>It does — and it is a parser-level rewriter. A two-hop pattern becomes a five-way join, three hops a seven-way join. It supports </a:t>
            </a:r>
            <a:r>
              <a:rPr lang="en-US" sz="1200" b="1" dirty="0">
                <a:solidFill>
                  <a:srgbClr val="5C6B7A"/>
                </a:solidFill>
                <a:latin typeface="Inter" pitchFamily="34" charset="0"/>
                <a:ea typeface="Inter" pitchFamily="34" charset="-122"/>
                <a:cs typeface="Inter" pitchFamily="34" charset="-120"/>
              </a:rPr>
              <a:t>no variable-length paths, no shortest path, no path variables</a:t>
            </a:r>
            <a:r>
              <a:rPr lang="en-US" sz="1200" dirty="0">
                <a:solidFill>
                  <a:srgbClr val="5C6B7A"/>
                </a:solidFill>
                <a:latin typeface="Inter" pitchFamily="34" charset="0"/>
                <a:ea typeface="Inter" pitchFamily="34" charset="-122"/>
                <a:cs typeface="Inter" pitchFamily="34" charset="-120"/>
              </a:rPr>
              <a:t>. Useful for fixed two-hop lookups. It is not a traversal engine, and it ships no algorithms.</a:t>
            </a:r>
            <a:endParaRPr lang="en-US" sz="1200" dirty="0"/>
          </a:p>
        </p:txBody>
      </p:sp>
      <p:sp>
        <p:nvSpPr>
          <p:cNvPr id="7" name="Shape 5"/>
          <p:cNvSpPr/>
          <p:nvPr/>
        </p:nvSpPr>
        <p:spPr>
          <a:xfrm>
            <a:off x="815975" y="1908336"/>
            <a:ext cx="10560050" cy="1011555"/>
          </a:xfrm>
          <a:prstGeom prst="roundRect">
            <a:avLst>
              <a:gd name="adj" fmla="val 8475"/>
            </a:avLst>
          </a:prstGeom>
          <a:solidFill>
            <a:srgbClr val="FFFFFF"/>
          </a:solidFill>
          <a:ln w="6350">
            <a:solidFill>
              <a:srgbClr val="DFE6EA"/>
            </a:solidFill>
            <a:prstDash val="solid"/>
          </a:ln>
        </p:spPr>
      </p:sp>
      <p:sp>
        <p:nvSpPr>
          <p:cNvPr id="8" name="Text 6"/>
          <p:cNvSpPr/>
          <p:nvPr/>
        </p:nvSpPr>
        <p:spPr>
          <a:xfrm>
            <a:off x="970280" y="2011840"/>
            <a:ext cx="3139440" cy="254000"/>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0B1622"/>
                </a:solidFill>
                <a:latin typeface="Instrument Serif" pitchFamily="34" charset="0"/>
                <a:ea typeface="Instrument Serif" pitchFamily="34" charset="-122"/>
                <a:cs typeface="Instrument Serif" pitchFamily="34" charset="-120"/>
              </a:rPr>
              <a:t>"Apache AGE gives us Cypher on Postgres."</a:t>
            </a:r>
            <a:endParaRPr lang="en-US" sz="1500" dirty="0"/>
          </a:p>
        </p:txBody>
      </p:sp>
      <p:sp>
        <p:nvSpPr>
          <p:cNvPr id="9" name="Text 7"/>
          <p:cNvSpPr/>
          <p:nvPr/>
        </p:nvSpPr>
        <p:spPr>
          <a:xfrm>
            <a:off x="4170680" y="2011840"/>
            <a:ext cx="7262571" cy="829945"/>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5C6B7A"/>
                </a:solidFill>
                <a:latin typeface="Inter" pitchFamily="34" charset="0"/>
                <a:ea typeface="Inter" pitchFamily="34" charset="-122"/>
                <a:cs typeface="Inter" pitchFamily="34" charset="-120"/>
              </a:rPr>
              <a:t>Its own FAQ concedes that relational limits still apply, "for example large amount of table joins." Independent benchmarks put its variable-length traversal at roughly </a:t>
            </a:r>
            <a:r>
              <a:rPr lang="en-US" sz="1200" b="1" dirty="0">
                <a:solidFill>
                  <a:srgbClr val="5C6B7A"/>
                </a:solidFill>
                <a:latin typeface="Inter" pitchFamily="34" charset="0"/>
                <a:ea typeface="Inter" pitchFamily="34" charset="-122"/>
                <a:cs typeface="Inter" pitchFamily="34" charset="-120"/>
              </a:rPr>
              <a:t>1.6× a hand-written recursive CTE</a:t>
            </a:r>
            <a:r>
              <a:rPr lang="en-US" sz="1200" dirty="0">
                <a:solidFill>
                  <a:srgbClr val="5C6B7A"/>
                </a:solidFill>
                <a:latin typeface="Inter" pitchFamily="34" charset="0"/>
                <a:ea typeface="Inter" pitchFamily="34" charset="-122"/>
                <a:cs typeface="Inter" pitchFamily="34" charset="-120"/>
              </a:rPr>
              <a:t>, and one production team reported </a:t>
            </a:r>
            <a:r>
              <a:rPr lang="en-US" sz="1200" b="1" dirty="0">
                <a:solidFill>
                  <a:srgbClr val="5C6B7A"/>
                </a:solidFill>
                <a:latin typeface="Inter" pitchFamily="34" charset="0"/>
                <a:ea typeface="Inter" pitchFamily="34" charset="-122"/>
                <a:cs typeface="Inter" pitchFamily="34" charset="-120"/>
              </a:rPr>
              <a:t>100 ms queries becoming 3–5 seconds</a:t>
            </a:r>
            <a:r>
              <a:rPr lang="en-US" sz="1200" dirty="0">
                <a:solidFill>
                  <a:srgbClr val="5C6B7A"/>
                </a:solidFill>
                <a:latin typeface="Inter" pitchFamily="34" charset="0"/>
                <a:ea typeface="Inter" pitchFamily="34" charset="-122"/>
                <a:cs typeface="Inter" pitchFamily="34" charset="-120"/>
              </a:rPr>
              <a:t> after moving. It creates no indexes by default.</a:t>
            </a:r>
            <a:endParaRPr lang="en-US" sz="1200" dirty="0"/>
          </a:p>
        </p:txBody>
      </p:sp>
      <p:sp>
        <p:nvSpPr>
          <p:cNvPr id="10" name="Shape 8"/>
          <p:cNvSpPr/>
          <p:nvPr/>
        </p:nvSpPr>
        <p:spPr>
          <a:xfrm>
            <a:off x="815975" y="3015140"/>
            <a:ext cx="10560050" cy="1011555"/>
          </a:xfrm>
          <a:prstGeom prst="roundRect">
            <a:avLst>
              <a:gd name="adj" fmla="val 8475"/>
            </a:avLst>
          </a:prstGeom>
          <a:solidFill>
            <a:srgbClr val="FFFFFF"/>
          </a:solidFill>
          <a:ln w="6350">
            <a:solidFill>
              <a:srgbClr val="DFE6EA"/>
            </a:solidFill>
            <a:prstDash val="solid"/>
          </a:ln>
        </p:spPr>
      </p:sp>
      <p:sp>
        <p:nvSpPr>
          <p:cNvPr id="11" name="Text 9"/>
          <p:cNvSpPr/>
          <p:nvPr/>
        </p:nvSpPr>
        <p:spPr>
          <a:xfrm>
            <a:off x="970280" y="3118644"/>
            <a:ext cx="3139440" cy="482600"/>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0B1622"/>
                </a:solidFill>
                <a:latin typeface="Instrument Serif" pitchFamily="34" charset="0"/>
                <a:ea typeface="Instrument Serif" pitchFamily="34" charset="-122"/>
                <a:cs typeface="Instrument Serif" pitchFamily="34" charset="-120"/>
              </a:rPr>
              <a:t>"Just fix the schema — add the keys, comments and indexes."</a:t>
            </a:r>
            <a:endParaRPr lang="en-US" sz="1500" dirty="0"/>
          </a:p>
        </p:txBody>
      </p:sp>
      <p:sp>
        <p:nvSpPr>
          <p:cNvPr id="12" name="Text 10"/>
          <p:cNvSpPr/>
          <p:nvPr/>
        </p:nvSpPr>
        <p:spPr>
          <a:xfrm>
            <a:off x="4170680" y="3118644"/>
            <a:ext cx="7262571" cy="829945"/>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5C6B7A"/>
                </a:solidFill>
                <a:latin typeface="Inter" pitchFamily="34" charset="0"/>
                <a:ea typeface="Inter" pitchFamily="34" charset="-122"/>
                <a:cs typeface="Inter" pitchFamily="34" charset="-120"/>
              </a:rPr>
              <a:t>We should, and we will, because the graph is built from these tables. But that gives us a </a:t>
            </a:r>
            <a:r>
              <a:rPr lang="en-US" sz="1200" b="1" dirty="0">
                <a:solidFill>
                  <a:srgbClr val="5C6B7A"/>
                </a:solidFill>
                <a:latin typeface="Inter" pitchFamily="34" charset="0"/>
                <a:ea typeface="Inter" pitchFamily="34" charset="-122"/>
                <a:cs typeface="Inter" pitchFamily="34" charset="-120"/>
              </a:rPr>
              <a:t>better relational database</a:t>
            </a:r>
            <a:r>
              <a:rPr lang="en-US" sz="1200" dirty="0">
                <a:solidFill>
                  <a:srgbClr val="5C6B7A"/>
                </a:solidFill>
                <a:latin typeface="Inter" pitchFamily="34" charset="0"/>
                <a:ea typeface="Inter" pitchFamily="34" charset="-122"/>
                <a:cs typeface="Inter" pitchFamily="34" charset="-120"/>
              </a:rPr>
              <a:t>. It does not give us variable-depth traversal, as-of relationship history, graph algorithms or agent memory — none of which PostgreSQL provides natively at any level of schema hygiene.</a:t>
            </a:r>
            <a:endParaRPr lang="en-US" sz="1200" dirty="0"/>
          </a:p>
        </p:txBody>
      </p:sp>
      <p:sp>
        <p:nvSpPr>
          <p:cNvPr id="13" name="Shape 11"/>
          <p:cNvSpPr/>
          <p:nvPr/>
        </p:nvSpPr>
        <p:spPr>
          <a:xfrm>
            <a:off x="815975" y="4121944"/>
            <a:ext cx="10560050" cy="1011555"/>
          </a:xfrm>
          <a:prstGeom prst="roundRect">
            <a:avLst>
              <a:gd name="adj" fmla="val 8475"/>
            </a:avLst>
          </a:prstGeom>
          <a:solidFill>
            <a:srgbClr val="FFFFFF"/>
          </a:solidFill>
          <a:ln w="6350">
            <a:solidFill>
              <a:srgbClr val="DFE6EA"/>
            </a:solidFill>
            <a:prstDash val="solid"/>
          </a:ln>
        </p:spPr>
      </p:sp>
      <p:sp>
        <p:nvSpPr>
          <p:cNvPr id="14" name="Text 12"/>
          <p:cNvSpPr/>
          <p:nvPr/>
        </p:nvSpPr>
        <p:spPr>
          <a:xfrm>
            <a:off x="970280" y="4225448"/>
            <a:ext cx="3139440" cy="482600"/>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0B1622"/>
                </a:solidFill>
                <a:latin typeface="Instrument Serif" pitchFamily="34" charset="0"/>
                <a:ea typeface="Instrument Serif" pitchFamily="34" charset="-122"/>
                <a:cs typeface="Instrument Serif" pitchFamily="34" charset="-120"/>
              </a:rPr>
              <a:t>"Another database means another failure point."</a:t>
            </a:r>
            <a:endParaRPr lang="en-US" sz="1500" dirty="0"/>
          </a:p>
        </p:txBody>
      </p:sp>
      <p:sp>
        <p:nvSpPr>
          <p:cNvPr id="15" name="Text 13"/>
          <p:cNvSpPr/>
          <p:nvPr/>
        </p:nvSpPr>
        <p:spPr>
          <a:xfrm>
            <a:off x="4170680" y="4225448"/>
            <a:ext cx="7262571" cy="829945"/>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5C6B7A"/>
                </a:solidFill>
                <a:latin typeface="Inter" pitchFamily="34" charset="0"/>
                <a:ea typeface="Inter" pitchFamily="34" charset="-122"/>
                <a:cs typeface="Inter" pitchFamily="34" charset="-120"/>
              </a:rPr>
              <a:t>It would, if the request path spanned both. It does not. Data flows </a:t>
            </a:r>
            <a:r>
              <a:rPr lang="en-US" sz="1200" b="1" dirty="0">
                <a:solidFill>
                  <a:srgbClr val="5C6B7A"/>
                </a:solidFill>
                <a:latin typeface="Inter" pitchFamily="34" charset="0"/>
                <a:ea typeface="Inter" pitchFamily="34" charset="-122"/>
                <a:cs typeface="Inter" pitchFamily="34" charset="-120"/>
              </a:rPr>
              <a:t>one way</a:t>
            </a:r>
            <a:r>
              <a:rPr lang="en-US" sz="1200" dirty="0">
                <a:solidFill>
                  <a:srgbClr val="5C6B7A"/>
                </a:solidFill>
                <a:latin typeface="Inter" pitchFamily="34" charset="0"/>
                <a:ea typeface="Inter" pitchFamily="34" charset="-122"/>
                <a:cs typeface="Inter" pitchFamily="34" charset="-120"/>
              </a:rPr>
              <a:t> through batch ingestion, and </a:t>
            </a:r>
            <a:r>
              <a:rPr lang="en-US" sz="1200" b="1" dirty="0">
                <a:solidFill>
                  <a:srgbClr val="5C6B7A"/>
                </a:solidFill>
                <a:latin typeface="Inter" pitchFamily="34" charset="0"/>
                <a:ea typeface="Inter" pitchFamily="34" charset="-122"/>
                <a:cs typeface="Inter" pitchFamily="34" charset="-120"/>
              </a:rPr>
              <a:t>every read is served from one store</a:t>
            </a:r>
            <a:r>
              <a:rPr lang="en-US" sz="1200" dirty="0">
                <a:solidFill>
                  <a:srgbClr val="5C6B7A"/>
                </a:solidFill>
                <a:latin typeface="Inter" pitchFamily="34" charset="0"/>
                <a:ea typeface="Inter" pitchFamily="34" charset="-122"/>
                <a:cs typeface="Inter" pitchFamily="34" charset="-120"/>
              </a:rPr>
              <a:t>. The failure mode of a stale feed is known and recoverable. The failure mode of a cross-database join in a live request is a half-rendered page.</a:t>
            </a:r>
            <a:endParaRPr lang="en-US" sz="1200" dirty="0"/>
          </a:p>
        </p:txBody>
      </p:sp>
      <p:sp>
        <p:nvSpPr>
          <p:cNvPr id="16" name="Shape 14"/>
          <p:cNvSpPr/>
          <p:nvPr/>
        </p:nvSpPr>
        <p:spPr>
          <a:xfrm>
            <a:off x="812800" y="5225573"/>
            <a:ext cx="10566400" cy="615950"/>
          </a:xfrm>
          <a:prstGeom prst="roundRect">
            <a:avLst>
              <a:gd name="adj" fmla="val 14433"/>
            </a:avLst>
          </a:prstGeom>
          <a:solidFill>
            <a:srgbClr val="0B1622"/>
          </a:solidFill>
          <a:ln/>
        </p:spPr>
      </p:sp>
      <p:pic>
        <p:nvPicPr>
          <p:cNvPr id="17" name="Image 0" descr="Verified">    </p:cNvPr>
          <p:cNvPicPr>
            <a:picLocks noChangeAspect="1"/>
          </p:cNvPicPr>
          <p:nvPr/>
        </p:nvPicPr>
        <p:blipFill>
          <a:blip r:embed="rId1"/>
          <a:srcRect l="0" r="0" t="0" b="0"/>
          <a:stretch/>
        </p:blipFill>
        <p:spPr>
          <a:xfrm>
            <a:off x="990600" y="5419248"/>
            <a:ext cx="228600" cy="228600"/>
          </a:xfrm>
          <a:prstGeom prst="rect">
            <a:avLst/>
          </a:prstGeom>
        </p:spPr>
      </p:pic>
      <p:sp>
        <p:nvSpPr>
          <p:cNvPr id="18" name="Text 15"/>
          <p:cNvSpPr/>
          <p:nvPr/>
        </p:nvSpPr>
        <p:spPr>
          <a:xfrm>
            <a:off x="1358900" y="5327173"/>
            <a:ext cx="10137775"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CFE3DC"/>
                </a:solidFill>
                <a:latin typeface="Inter" pitchFamily="34" charset="0"/>
                <a:ea typeface="Inter" pitchFamily="34" charset="-122"/>
                <a:cs typeface="Inter" pitchFamily="34" charset="-120"/>
              </a:rPr>
              <a:t>Every limitation cited here is stated in the vendors' own documentation or measured by independent benchmarks. </a:t>
            </a:r>
            <a:r>
              <a:rPr lang="en-US" sz="1250" b="1" dirty="0">
                <a:solidFill>
                  <a:srgbClr val="CFE3DC"/>
                </a:solidFill>
                <a:latin typeface="Inter" pitchFamily="34" charset="0"/>
                <a:ea typeface="Inter" pitchFamily="34" charset="-122"/>
                <a:cs typeface="Inter" pitchFamily="34" charset="-120"/>
              </a:rPr>
              <a:t>None of it depends on taking our word for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609600"/>
            <a:ext cx="2805466"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1622"/>
                </a:solidFill>
                <a:latin typeface="Space Grotesk" pitchFamily="34" charset="0"/>
                <a:ea typeface="Space Grotesk" pitchFamily="34" charset="-122"/>
                <a:cs typeface="Space Grotesk" pitchFamily="34" charset="-120"/>
              </a:rPr>
              <a:t>Why TigerGraph</a:t>
            </a:r>
            <a:endParaRPr lang="en-US" sz="2800" dirty="0"/>
          </a:p>
        </p:txBody>
      </p:sp>
      <p:sp>
        <p:nvSpPr>
          <p:cNvPr id="3" name="Text 1"/>
          <p:cNvSpPr/>
          <p:nvPr/>
        </p:nvSpPr>
        <p:spPr>
          <a:xfrm>
            <a:off x="3676253" y="756921"/>
            <a:ext cx="339885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6B7A"/>
                </a:solidFill>
                <a:latin typeface="Inter" pitchFamily="34" charset="0"/>
                <a:ea typeface="Inter" pitchFamily="34" charset="-122"/>
                <a:cs typeface="Inter" pitchFamily="34" charset="-120"/>
              </a:rPr>
              <a:t>Nine capabilities that decide this workload</a:t>
            </a:r>
            <a:endParaRPr lang="en-US" sz="1300" dirty="0"/>
          </a:p>
        </p:txBody>
      </p:sp>
      <p:sp>
        <p:nvSpPr>
          <p:cNvPr id="4" name="Shape 2"/>
          <p:cNvSpPr/>
          <p:nvPr/>
        </p:nvSpPr>
        <p:spPr>
          <a:xfrm>
            <a:off x="815975" y="1143639"/>
            <a:ext cx="3448050" cy="1084183"/>
          </a:xfrm>
          <a:prstGeom prst="roundRect">
            <a:avLst>
              <a:gd name="adj" fmla="val 6735"/>
            </a:avLst>
          </a:prstGeom>
          <a:solidFill>
            <a:srgbClr val="FFFFFF"/>
          </a:solidFill>
          <a:ln w="6350">
            <a:solidFill>
              <a:srgbClr val="DFE6EA"/>
            </a:solidFill>
            <a:prstDash val="solid"/>
          </a:ln>
        </p:spPr>
      </p:sp>
      <p:pic>
        <p:nvPicPr>
          <p:cNvPr id="5" name="Image 0" descr="Lightning">    </p:cNvPr>
          <p:cNvPicPr>
            <a:picLocks noChangeAspect="1"/>
          </p:cNvPicPr>
          <p:nvPr/>
        </p:nvPicPr>
        <p:blipFill>
          <a:blip r:embed="rId1"/>
          <a:srcRect l="0" r="0" t="0" b="0"/>
          <a:stretch/>
        </p:blipFill>
        <p:spPr>
          <a:xfrm>
            <a:off x="957580" y="1278892"/>
            <a:ext cx="177800" cy="177800"/>
          </a:xfrm>
          <a:prstGeom prst="rect">
            <a:avLst/>
          </a:prstGeom>
        </p:spPr>
      </p:pic>
      <p:sp>
        <p:nvSpPr>
          <p:cNvPr id="6" name="Text 3"/>
          <p:cNvSpPr/>
          <p:nvPr/>
        </p:nvSpPr>
        <p:spPr>
          <a:xfrm>
            <a:off x="1198880" y="1272542"/>
            <a:ext cx="1406446"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Massively parallel</a:t>
            </a:r>
            <a:endParaRPr lang="en-US" sz="1250" dirty="0"/>
          </a:p>
        </p:txBody>
      </p:sp>
      <p:sp>
        <p:nvSpPr>
          <p:cNvPr id="7" name="Text 4"/>
          <p:cNvSpPr/>
          <p:nvPr/>
        </p:nvSpPr>
        <p:spPr>
          <a:xfrm>
            <a:off x="957580" y="1513842"/>
            <a:ext cx="3259785" cy="415449"/>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Every query runs on all partitions at once</a:t>
            </a:r>
            <a:endParaRPr lang="en-US" sz="1200" dirty="0"/>
          </a:p>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Scale by adding machines</a:t>
            </a:r>
            <a:endParaRPr lang="en-US" sz="1200" dirty="0"/>
          </a:p>
        </p:txBody>
      </p:sp>
      <p:sp>
        <p:nvSpPr>
          <p:cNvPr id="8" name="Shape 5"/>
          <p:cNvSpPr/>
          <p:nvPr/>
        </p:nvSpPr>
        <p:spPr>
          <a:xfrm>
            <a:off x="4371975" y="1143639"/>
            <a:ext cx="3448050" cy="1084183"/>
          </a:xfrm>
          <a:prstGeom prst="roundRect">
            <a:avLst>
              <a:gd name="adj" fmla="val 6735"/>
            </a:avLst>
          </a:prstGeom>
          <a:solidFill>
            <a:srgbClr val="FFFFFF"/>
          </a:solidFill>
          <a:ln w="6350">
            <a:solidFill>
              <a:srgbClr val="DFE6EA"/>
            </a:solidFill>
            <a:prstDash val="solid"/>
          </a:ln>
        </p:spPr>
      </p:sp>
      <p:pic>
        <p:nvPicPr>
          <p:cNvPr id="9" name="Image 1" descr="Database">    </p:cNvPr>
          <p:cNvPicPr>
            <a:picLocks noChangeAspect="1"/>
          </p:cNvPicPr>
          <p:nvPr/>
        </p:nvPicPr>
        <p:blipFill>
          <a:blip r:embed="rId2"/>
          <a:srcRect l="0" r="0" t="0" b="0"/>
          <a:stretch/>
        </p:blipFill>
        <p:spPr>
          <a:xfrm>
            <a:off x="4513580" y="1278892"/>
            <a:ext cx="177800" cy="177800"/>
          </a:xfrm>
          <a:prstGeom prst="rect">
            <a:avLst/>
          </a:prstGeom>
        </p:spPr>
      </p:pic>
      <p:sp>
        <p:nvSpPr>
          <p:cNvPr id="10" name="Text 6"/>
          <p:cNvSpPr/>
          <p:nvPr/>
        </p:nvSpPr>
        <p:spPr>
          <a:xfrm>
            <a:off x="4754880" y="1272542"/>
            <a:ext cx="1151890"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Native vectors</a:t>
            </a:r>
            <a:endParaRPr lang="en-US" sz="1250" dirty="0"/>
          </a:p>
        </p:txBody>
      </p:sp>
      <p:sp>
        <p:nvSpPr>
          <p:cNvPr id="11" name="Text 7"/>
          <p:cNvSpPr/>
          <p:nvPr/>
        </p:nvSpPr>
        <p:spPr>
          <a:xfrm>
            <a:off x="4513580" y="1513842"/>
            <a:ext cx="3259785" cy="415449"/>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Embeddings on the vertex, indexed</a:t>
            </a:r>
            <a:endParaRPr lang="en-US" sz="1200" dirty="0"/>
          </a:p>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Vector and graph commit together</a:t>
            </a:r>
            <a:endParaRPr lang="en-US" sz="1200" dirty="0"/>
          </a:p>
        </p:txBody>
      </p:sp>
      <p:sp>
        <p:nvSpPr>
          <p:cNvPr id="12" name="Shape 8"/>
          <p:cNvSpPr/>
          <p:nvPr/>
        </p:nvSpPr>
        <p:spPr>
          <a:xfrm>
            <a:off x="7927975" y="1143639"/>
            <a:ext cx="3448050" cy="1084183"/>
          </a:xfrm>
          <a:prstGeom prst="roundRect">
            <a:avLst>
              <a:gd name="adj" fmla="val 6735"/>
            </a:avLst>
          </a:prstGeom>
          <a:solidFill>
            <a:srgbClr val="FFFFFF"/>
          </a:solidFill>
          <a:ln w="6350">
            <a:solidFill>
              <a:srgbClr val="DFE6EA"/>
            </a:solidFill>
            <a:prstDash val="solid"/>
          </a:ln>
        </p:spPr>
      </p:sp>
      <p:pic>
        <p:nvPicPr>
          <p:cNvPr id="13" name="Image 2" descr="Link">    </p:cNvPr>
          <p:cNvPicPr>
            <a:picLocks noChangeAspect="1"/>
          </p:cNvPicPr>
          <p:nvPr/>
        </p:nvPicPr>
        <p:blipFill>
          <a:blip r:embed="rId3"/>
          <a:srcRect l="0" r="0" t="0" b="0"/>
          <a:stretch/>
        </p:blipFill>
        <p:spPr>
          <a:xfrm>
            <a:off x="8069580" y="1278892"/>
            <a:ext cx="177800" cy="177800"/>
          </a:xfrm>
          <a:prstGeom prst="rect">
            <a:avLst/>
          </a:prstGeom>
        </p:spPr>
      </p:pic>
      <p:sp>
        <p:nvSpPr>
          <p:cNvPr id="14" name="Text 9"/>
          <p:cNvSpPr/>
          <p:nvPr/>
        </p:nvSpPr>
        <p:spPr>
          <a:xfrm>
            <a:off x="8310880" y="1272542"/>
            <a:ext cx="1231741"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Hybrid retrieval</a:t>
            </a:r>
            <a:endParaRPr lang="en-US" sz="1250" dirty="0"/>
          </a:p>
        </p:txBody>
      </p:sp>
      <p:sp>
        <p:nvSpPr>
          <p:cNvPr id="15" name="Text 10"/>
          <p:cNvSpPr/>
          <p:nvPr/>
        </p:nvSpPr>
        <p:spPr>
          <a:xfrm>
            <a:off x="8069580" y="1513842"/>
            <a:ext cx="3259785" cy="610473"/>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Search scoped by a traversal, then expanded</a:t>
            </a:r>
            <a:endParaRPr lang="en-US" sz="1200" dirty="0"/>
          </a:p>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Elsewhere: two systems, one join</a:t>
            </a:r>
            <a:endParaRPr lang="en-US" sz="1200" dirty="0"/>
          </a:p>
        </p:txBody>
      </p:sp>
      <p:sp>
        <p:nvSpPr>
          <p:cNvPr id="16" name="Shape 11"/>
          <p:cNvSpPr/>
          <p:nvPr/>
        </p:nvSpPr>
        <p:spPr>
          <a:xfrm>
            <a:off x="815975" y="2335771"/>
            <a:ext cx="3448050" cy="889159"/>
          </a:xfrm>
          <a:prstGeom prst="roundRect">
            <a:avLst>
              <a:gd name="adj" fmla="val 8213"/>
            </a:avLst>
          </a:prstGeom>
          <a:solidFill>
            <a:srgbClr val="FFFFFF"/>
          </a:solidFill>
          <a:ln w="6350">
            <a:solidFill>
              <a:srgbClr val="DFE6EA"/>
            </a:solidFill>
            <a:prstDash val="solid"/>
          </a:ln>
        </p:spPr>
      </p:sp>
      <p:pic>
        <p:nvPicPr>
          <p:cNvPr id="17" name="Image 3" descr="Activity">    </p:cNvPr>
          <p:cNvPicPr>
            <a:picLocks noChangeAspect="1"/>
          </p:cNvPicPr>
          <p:nvPr/>
        </p:nvPicPr>
        <p:blipFill>
          <a:blip r:embed="rId4"/>
          <a:srcRect l="0" r="0" t="0" b="0"/>
          <a:stretch/>
        </p:blipFill>
        <p:spPr>
          <a:xfrm>
            <a:off x="957580" y="2471024"/>
            <a:ext cx="177800" cy="177800"/>
          </a:xfrm>
          <a:prstGeom prst="rect">
            <a:avLst/>
          </a:prstGeom>
        </p:spPr>
      </p:pic>
      <p:sp>
        <p:nvSpPr>
          <p:cNvPr id="18" name="Text 12"/>
          <p:cNvSpPr/>
          <p:nvPr/>
        </p:nvSpPr>
        <p:spPr>
          <a:xfrm>
            <a:off x="1198880" y="2464674"/>
            <a:ext cx="1106091"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Accumulators</a:t>
            </a:r>
            <a:endParaRPr lang="en-US" sz="1250" dirty="0"/>
          </a:p>
        </p:txBody>
      </p:sp>
      <p:sp>
        <p:nvSpPr>
          <p:cNvPr id="19" name="Text 13"/>
          <p:cNvSpPr/>
          <p:nvPr/>
        </p:nvSpPr>
        <p:spPr>
          <a:xfrm>
            <a:off x="957580" y="2705974"/>
            <a:ext cx="3259785" cy="415449"/>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Totals carried as the query walks</a:t>
            </a:r>
            <a:endParaRPr lang="en-US" sz="1200" dirty="0"/>
          </a:p>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Attribution becomes one query</a:t>
            </a:r>
            <a:endParaRPr lang="en-US" sz="1200" dirty="0"/>
          </a:p>
        </p:txBody>
      </p:sp>
      <p:sp>
        <p:nvSpPr>
          <p:cNvPr id="20" name="Shape 14"/>
          <p:cNvSpPr/>
          <p:nvPr/>
        </p:nvSpPr>
        <p:spPr>
          <a:xfrm>
            <a:off x="4371975" y="2335771"/>
            <a:ext cx="3448050" cy="889159"/>
          </a:xfrm>
          <a:prstGeom prst="roundRect">
            <a:avLst>
              <a:gd name="adj" fmla="val 8213"/>
            </a:avLst>
          </a:prstGeom>
          <a:solidFill>
            <a:srgbClr val="FFFFFF"/>
          </a:solidFill>
          <a:ln w="6350">
            <a:solidFill>
              <a:srgbClr val="DFE6EA"/>
            </a:solidFill>
            <a:prstDash val="solid"/>
          </a:ln>
        </p:spPr>
      </p:sp>
      <p:pic>
        <p:nvPicPr>
          <p:cNvPr id="21" name="Image 4" descr="Chart">    </p:cNvPr>
          <p:cNvPicPr>
            <a:picLocks noChangeAspect="1"/>
          </p:cNvPicPr>
          <p:nvPr/>
        </p:nvPicPr>
        <p:blipFill>
          <a:blip r:embed="rId5"/>
          <a:srcRect l="0" r="0" t="0" b="0"/>
          <a:stretch/>
        </p:blipFill>
        <p:spPr>
          <a:xfrm>
            <a:off x="4513580" y="2471024"/>
            <a:ext cx="177800" cy="177800"/>
          </a:xfrm>
          <a:prstGeom prst="rect">
            <a:avLst/>
          </a:prstGeom>
        </p:spPr>
      </p:pic>
      <p:sp>
        <p:nvSpPr>
          <p:cNvPr id="22" name="Text 15"/>
          <p:cNvSpPr/>
          <p:nvPr/>
        </p:nvSpPr>
        <p:spPr>
          <a:xfrm>
            <a:off x="4754880" y="2464674"/>
            <a:ext cx="1212056"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50+ algorithms</a:t>
            </a:r>
            <a:endParaRPr lang="en-US" sz="1250" dirty="0"/>
          </a:p>
        </p:txBody>
      </p:sp>
      <p:sp>
        <p:nvSpPr>
          <p:cNvPr id="23" name="Text 16"/>
          <p:cNvSpPr/>
          <p:nvPr/>
        </p:nvSpPr>
        <p:spPr>
          <a:xfrm>
            <a:off x="4513580" y="2705974"/>
            <a:ext cx="3259785" cy="415449"/>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Centrality, community, ranking, paths</a:t>
            </a:r>
            <a:endParaRPr lang="en-US" sz="1200" dirty="0"/>
          </a:p>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Open — scope any to a date</a:t>
            </a:r>
            <a:endParaRPr lang="en-US" sz="1200" dirty="0"/>
          </a:p>
        </p:txBody>
      </p:sp>
      <p:sp>
        <p:nvSpPr>
          <p:cNvPr id="24" name="Shape 17"/>
          <p:cNvSpPr/>
          <p:nvPr/>
        </p:nvSpPr>
        <p:spPr>
          <a:xfrm>
            <a:off x="7927975" y="2335771"/>
            <a:ext cx="3448050" cy="889159"/>
          </a:xfrm>
          <a:prstGeom prst="roundRect">
            <a:avLst>
              <a:gd name="adj" fmla="val 8213"/>
            </a:avLst>
          </a:prstGeom>
          <a:solidFill>
            <a:srgbClr val="FFFFFF"/>
          </a:solidFill>
          <a:ln w="6350">
            <a:solidFill>
              <a:srgbClr val="DFE6EA"/>
            </a:solidFill>
            <a:prstDash val="solid"/>
          </a:ln>
        </p:spPr>
      </p:sp>
      <p:pic>
        <p:nvPicPr>
          <p:cNvPr id="25" name="Image 5" descr="Globe">    </p:cNvPr>
          <p:cNvPicPr>
            <a:picLocks noChangeAspect="1"/>
          </p:cNvPicPr>
          <p:nvPr/>
        </p:nvPicPr>
        <p:blipFill>
          <a:blip r:embed="rId6"/>
          <a:srcRect l="0" r="0" t="0" b="0"/>
          <a:stretch/>
        </p:blipFill>
        <p:spPr>
          <a:xfrm>
            <a:off x="8069580" y="2471024"/>
            <a:ext cx="177800" cy="177800"/>
          </a:xfrm>
          <a:prstGeom prst="rect">
            <a:avLst/>
          </a:prstGeom>
        </p:spPr>
      </p:pic>
      <p:sp>
        <p:nvSpPr>
          <p:cNvPr id="26" name="Text 18"/>
          <p:cNvSpPr/>
          <p:nvPr/>
        </p:nvSpPr>
        <p:spPr>
          <a:xfrm>
            <a:off x="8310880" y="2464674"/>
            <a:ext cx="1254284"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Multiple graphs</a:t>
            </a:r>
            <a:endParaRPr lang="en-US" sz="1250" dirty="0"/>
          </a:p>
        </p:txBody>
      </p:sp>
      <p:sp>
        <p:nvSpPr>
          <p:cNvPr id="27" name="Text 19"/>
          <p:cNvSpPr/>
          <p:nvPr/>
        </p:nvSpPr>
        <p:spPr>
          <a:xfrm>
            <a:off x="8069580" y="2705974"/>
            <a:ext cx="3259785" cy="415449"/>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Separate governed views, one dataset</a:t>
            </a:r>
            <a:endParaRPr lang="en-US" sz="1200" dirty="0"/>
          </a:p>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Independent access control</a:t>
            </a:r>
            <a:endParaRPr lang="en-US" sz="1200" dirty="0"/>
          </a:p>
        </p:txBody>
      </p:sp>
      <p:sp>
        <p:nvSpPr>
          <p:cNvPr id="28" name="Shape 20"/>
          <p:cNvSpPr/>
          <p:nvPr/>
        </p:nvSpPr>
        <p:spPr>
          <a:xfrm>
            <a:off x="815975" y="3332876"/>
            <a:ext cx="3448050" cy="889159"/>
          </a:xfrm>
          <a:prstGeom prst="roundRect">
            <a:avLst>
              <a:gd name="adj" fmla="val 8213"/>
            </a:avLst>
          </a:prstGeom>
          <a:solidFill>
            <a:srgbClr val="FFFFFF"/>
          </a:solidFill>
          <a:ln w="6350">
            <a:solidFill>
              <a:srgbClr val="DFE6EA"/>
            </a:solidFill>
            <a:prstDash val="solid"/>
          </a:ln>
        </p:spPr>
      </p:sp>
      <p:pic>
        <p:nvPicPr>
          <p:cNvPr id="29" name="Image 6" descr="Clock">    </p:cNvPr>
          <p:cNvPicPr>
            <a:picLocks noChangeAspect="1"/>
          </p:cNvPicPr>
          <p:nvPr/>
        </p:nvPicPr>
        <p:blipFill>
          <a:blip r:embed="rId7"/>
          <a:srcRect l="0" r="0" t="0" b="0"/>
          <a:stretch/>
        </p:blipFill>
        <p:spPr>
          <a:xfrm>
            <a:off x="957580" y="3468136"/>
            <a:ext cx="177800" cy="177800"/>
          </a:xfrm>
          <a:prstGeom prst="rect">
            <a:avLst/>
          </a:prstGeom>
        </p:spPr>
      </p:pic>
      <p:sp>
        <p:nvSpPr>
          <p:cNvPr id="30" name="Text 21"/>
          <p:cNvSpPr/>
          <p:nvPr/>
        </p:nvSpPr>
        <p:spPr>
          <a:xfrm>
            <a:off x="1198880" y="3461786"/>
            <a:ext cx="940118"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Time-aware</a:t>
            </a:r>
            <a:endParaRPr lang="en-US" sz="1250" dirty="0"/>
          </a:p>
        </p:txBody>
      </p:sp>
      <p:sp>
        <p:nvSpPr>
          <p:cNvPr id="31" name="Text 22"/>
          <p:cNvSpPr/>
          <p:nvPr/>
        </p:nvSpPr>
        <p:spPr>
          <a:xfrm>
            <a:off x="957580" y="3703086"/>
            <a:ext cx="3259785" cy="415449"/>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Relationships carry validity periods</a:t>
            </a:r>
            <a:endParaRPr lang="en-US" sz="1200" dirty="0"/>
          </a:p>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Query the graph as of any date</a:t>
            </a:r>
            <a:endParaRPr lang="en-US" sz="1200" dirty="0"/>
          </a:p>
        </p:txBody>
      </p:sp>
      <p:sp>
        <p:nvSpPr>
          <p:cNvPr id="32" name="Shape 23"/>
          <p:cNvSpPr/>
          <p:nvPr/>
        </p:nvSpPr>
        <p:spPr>
          <a:xfrm>
            <a:off x="4371975" y="3332876"/>
            <a:ext cx="3448050" cy="889159"/>
          </a:xfrm>
          <a:prstGeom prst="roundRect">
            <a:avLst>
              <a:gd name="adj" fmla="val 8213"/>
            </a:avLst>
          </a:prstGeom>
          <a:solidFill>
            <a:srgbClr val="FFFFFF"/>
          </a:solidFill>
          <a:ln w="6350">
            <a:solidFill>
              <a:srgbClr val="DFE6EA"/>
            </a:solidFill>
            <a:prstDash val="solid"/>
          </a:ln>
        </p:spPr>
      </p:sp>
      <p:pic>
        <p:nvPicPr>
          <p:cNvPr id="33" name="Image 7" descr="Code">    </p:cNvPr>
          <p:cNvPicPr>
            <a:picLocks noChangeAspect="1"/>
          </p:cNvPicPr>
          <p:nvPr/>
        </p:nvPicPr>
        <p:blipFill>
          <a:blip r:embed="rId8"/>
          <a:srcRect l="0" r="0" t="0" b="0"/>
          <a:stretch/>
        </p:blipFill>
        <p:spPr>
          <a:xfrm>
            <a:off x="4513580" y="3468136"/>
            <a:ext cx="177800" cy="177800"/>
          </a:xfrm>
          <a:prstGeom prst="rect">
            <a:avLst/>
          </a:prstGeom>
        </p:spPr>
      </p:pic>
      <p:sp>
        <p:nvSpPr>
          <p:cNvPr id="34" name="Text 24"/>
          <p:cNvSpPr/>
          <p:nvPr/>
        </p:nvSpPr>
        <p:spPr>
          <a:xfrm>
            <a:off x="4754880" y="3461786"/>
            <a:ext cx="1408986"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SQL-familiar GSQL</a:t>
            </a:r>
            <a:endParaRPr lang="en-US" sz="1250" dirty="0"/>
          </a:p>
        </p:txBody>
      </p:sp>
      <p:sp>
        <p:nvSpPr>
          <p:cNvPr id="35" name="Text 25"/>
          <p:cNvSpPr/>
          <p:nvPr/>
        </p:nvSpPr>
        <p:spPr>
          <a:xfrm>
            <a:off x="4513580" y="3703086"/>
            <a:ext cx="3259785" cy="415449"/>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SQL conventions — readable day one</a:t>
            </a:r>
            <a:endParaRPr lang="en-US" sz="1200" dirty="0"/>
          </a:p>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Builds on skills we already have</a:t>
            </a:r>
            <a:endParaRPr lang="en-US" sz="1200" dirty="0"/>
          </a:p>
        </p:txBody>
      </p:sp>
      <p:sp>
        <p:nvSpPr>
          <p:cNvPr id="36" name="Shape 26"/>
          <p:cNvSpPr/>
          <p:nvPr/>
        </p:nvSpPr>
        <p:spPr>
          <a:xfrm>
            <a:off x="7927975" y="3332876"/>
            <a:ext cx="3448050" cy="889159"/>
          </a:xfrm>
          <a:prstGeom prst="roundRect">
            <a:avLst>
              <a:gd name="adj" fmla="val 8213"/>
            </a:avLst>
          </a:prstGeom>
          <a:solidFill>
            <a:srgbClr val="FFFFFF"/>
          </a:solidFill>
          <a:ln w="6350">
            <a:solidFill>
              <a:srgbClr val="DFE6EA"/>
            </a:solidFill>
            <a:prstDash val="solid"/>
          </a:ln>
        </p:spPr>
      </p:sp>
      <p:pic>
        <p:nvPicPr>
          <p:cNvPr id="37" name="Image 8" descr="Lock">    </p:cNvPr>
          <p:cNvPicPr>
            <a:picLocks noChangeAspect="1"/>
          </p:cNvPicPr>
          <p:nvPr/>
        </p:nvPicPr>
        <p:blipFill>
          <a:blip r:embed="rId9"/>
          <a:srcRect l="0" r="0" t="0" b="0"/>
          <a:stretch/>
        </p:blipFill>
        <p:spPr>
          <a:xfrm>
            <a:off x="8069580" y="3468136"/>
            <a:ext cx="177800" cy="177800"/>
          </a:xfrm>
          <a:prstGeom prst="rect">
            <a:avLst/>
          </a:prstGeom>
        </p:spPr>
      </p:pic>
      <p:sp>
        <p:nvSpPr>
          <p:cNvPr id="38" name="Text 27"/>
          <p:cNvSpPr/>
          <p:nvPr/>
        </p:nvSpPr>
        <p:spPr>
          <a:xfrm>
            <a:off x="8310880" y="3461786"/>
            <a:ext cx="1519555"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Enterprise controls</a:t>
            </a:r>
            <a:endParaRPr lang="en-US" sz="1250" dirty="0"/>
          </a:p>
        </p:txBody>
      </p:sp>
      <p:sp>
        <p:nvSpPr>
          <p:cNvPr id="39" name="Text 28"/>
          <p:cNvSpPr/>
          <p:nvPr/>
        </p:nvSpPr>
        <p:spPr>
          <a:xfrm>
            <a:off x="8069580" y="3703086"/>
            <a:ext cx="3259785" cy="415449"/>
          </a:xfrm>
          <a:prstGeom prst="rect">
            <a:avLst/>
          </a:prstGeom>
          <a:noFill/>
          <a:ln/>
        </p:spPr>
        <p:txBody>
          <a:bodyPr wrap="square" lIns="0" tIns="0" rIns="0" bIns="0" rtlCol="0" anchor="t">
            <a:normAutofit/>
          </a:bodyPr>
          <a:lstStyle/>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Row policies, ACID, HA, replication</a:t>
            </a:r>
            <a:endParaRPr lang="en-US" sz="1200" dirty="0"/>
          </a:p>
          <a:p>
            <a:pPr algn="l" marL="182880" indent="-148844">
              <a:lnSpc>
                <a:spcPts val="1536"/>
              </a:lnSpc>
              <a:buSzPct val="100000"/>
              <a:buChar char="•"/>
            </a:pPr>
            <a:r>
              <a:rPr lang="en-US" sz="1200" dirty="0">
                <a:solidFill>
                  <a:srgbClr val="5C6B7A"/>
                </a:solidFill>
                <a:latin typeface="Inter" pitchFamily="34" charset="0"/>
                <a:ea typeface="Inter" pitchFamily="34" charset="-122"/>
                <a:cs typeface="Inter" pitchFamily="34" charset="-120"/>
              </a:rPr>
              <a:t>Online schema change · EKS operator</a:t>
            </a:r>
            <a:endParaRPr lang="en-US" sz="1200" dirty="0"/>
          </a:p>
        </p:txBody>
      </p:sp>
      <p:sp>
        <p:nvSpPr>
          <p:cNvPr id="40" name="Text 29"/>
          <p:cNvSpPr/>
          <p:nvPr/>
        </p:nvSpPr>
        <p:spPr>
          <a:xfrm>
            <a:off x="812800" y="6271264"/>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897A"/>
                </a:solidFill>
                <a:latin typeface="Space Grotesk" pitchFamily="34" charset="0"/>
                <a:ea typeface="Space Grotesk" pitchFamily="34" charset="-122"/>
                <a:cs typeface="Space Grotesk" pitchFamily="34" charset="-120"/>
              </a:rPr>
              <a:t>Today we use a fraction of what the engine does. The target state uses the capabilities that have no relational equivalent.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09600"/>
            <a:ext cx="3407192"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B1622"/>
                </a:solidFill>
                <a:latin typeface="Space Grotesk" pitchFamily="34" charset="0"/>
                <a:ea typeface="Space Grotesk" pitchFamily="34" charset="-122"/>
                <a:cs typeface="Space Grotesk" pitchFamily="34" charset="-120"/>
              </a:rPr>
              <a:t>TigerGraph vs Neo4j</a:t>
            </a:r>
            <a:endParaRPr lang="en-US" sz="2700" dirty="0"/>
          </a:p>
        </p:txBody>
      </p:sp>
      <p:sp>
        <p:nvSpPr>
          <p:cNvPr id="3" name="Text 1"/>
          <p:cNvSpPr/>
          <p:nvPr/>
        </p:nvSpPr>
        <p:spPr>
          <a:xfrm>
            <a:off x="4260453" y="751842"/>
            <a:ext cx="5129387"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Both as self-managed deployments on AWS, against this workload</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149352"/>
          <a:ext cx="10556240" cy="3463290"/>
        </p:xfrm>
        <a:graphic>
          <a:graphicData uri="http://schemas.openxmlformats.org/drawingml/2006/table">
            <a:tbl>
              <a:tblPr/>
              <a:tblGrid>
                <a:gridCol w="2744622"/>
                <a:gridCol w="4222496"/>
                <a:gridCol w="3589122"/>
              </a:tblGrid>
              <a:tr h="384810">
                <a:tc>
                  <a:txBody>
                    <a:bodyPr/>
                    <a:lstStyle/>
                    <a:p>
                      <a:pPr indent="0" marL="0">
                        <a:lnSpc>
                          <a:spcPts val="1750"/>
                        </a:lnSpc>
                        <a:buNone/>
                      </a:pPr>
                      <a:r>
                        <a:rPr lang="en-US" sz="1250" b="1" dirty="0">
                          <a:solidFill>
                            <a:srgbClr val="9FB3BE"/>
                          </a:solidFill>
                          <a:latin typeface="Inter" pitchFamily="34" charset="0"/>
                          <a:ea typeface="Inter" pitchFamily="34" charset="-122"/>
                          <a:cs typeface="Inter" pitchFamily="34" charset="-120"/>
                        </a:rPr>
                        <a:t> </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0D161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161F"/>
                      </a:solidFill>
                      <a:prstDash val="solid"/>
                      <a:round/>
                      <a:headEnd type="none" w="med" len="med"/>
                      <a:tailEnd type="none" w="med" len="med"/>
                    </a:lnB>
                    <a:solidFill>
                      <a:srgbClr val="0B1622"/>
                    </a:solidFill>
                  </a:tcPr>
                </a:tc>
                <a:tc>
                  <a:txBody>
                    <a:bodyPr/>
                    <a:lstStyle/>
                    <a:p>
                      <a:pPr indent="0" marL="0">
                        <a:lnSpc>
                          <a:spcPts val="1750"/>
                        </a:lnSpc>
                        <a:buNone/>
                      </a:pPr>
                      <a:r>
                        <a:rPr lang="en-US" sz="1250" b="1" dirty="0">
                          <a:solidFill>
                            <a:srgbClr val="6FD3C0"/>
                          </a:solidFill>
                          <a:latin typeface="Inter" pitchFamily="34" charset="0"/>
                          <a:ea typeface="Inter" pitchFamily="34" charset="-122"/>
                          <a:cs typeface="Inter" pitchFamily="34" charset="-120"/>
                        </a:rPr>
                        <a:t>TigerGraph</a:t>
                      </a:r>
                      <a:endParaRPr lang="en-US" sz="1250" dirty="0">
                        <a:latin typeface="Inter" charset="0"/>
                        <a:ea typeface="Inter" charset="0"/>
                        <a:cs typeface="Inter" charset="0"/>
                      </a:endParaRPr>
                    </a:p>
                  </a:txBody>
                  <a:tcPr marL="114300" marR="114300" marT="76200" marB="76200" anchor="t">
                    <a:lnL w="12700" cap="flat" cmpd="sng" algn="ctr">
                      <a:solidFill>
                        <a:srgbClr val="0D161F"/>
                      </a:solidFill>
                      <a:prstDash val="solid"/>
                      <a:round/>
                      <a:headEnd type="none" w="med" len="med"/>
                      <a:tailEnd type="none" w="med" len="med"/>
                    </a:lnL>
                    <a:lnR w="12700" cap="flat" cmpd="sng" algn="ctr">
                      <a:solidFill>
                        <a:srgbClr val="0D161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161F"/>
                      </a:solidFill>
                      <a:prstDash val="solid"/>
                      <a:round/>
                      <a:headEnd type="none" w="med" len="med"/>
                      <a:tailEnd type="none" w="med" len="med"/>
                    </a:lnB>
                    <a:solidFill>
                      <a:srgbClr val="0B1622"/>
                    </a:solidFill>
                  </a:tcPr>
                </a:tc>
                <a:tc>
                  <a:txBody>
                    <a:bodyPr/>
                    <a:lstStyle/>
                    <a:p>
                      <a:pPr indent="0" marL="0">
                        <a:lnSpc>
                          <a:spcPts val="1750"/>
                        </a:lnSpc>
                        <a:buNone/>
                      </a:pPr>
                      <a:r>
                        <a:rPr lang="en-US" sz="1250" b="1" dirty="0">
                          <a:solidFill>
                            <a:srgbClr val="9FB3BE"/>
                          </a:solidFill>
                          <a:latin typeface="Inter" pitchFamily="34" charset="0"/>
                          <a:ea typeface="Inter" pitchFamily="34" charset="-122"/>
                          <a:cs typeface="Inter" pitchFamily="34" charset="-120"/>
                        </a:rPr>
                        <a:t>Neo4j</a:t>
                      </a:r>
                      <a:endParaRPr lang="en-US" sz="1250" dirty="0">
                        <a:latin typeface="Inter" charset="0"/>
                        <a:ea typeface="Inter" charset="0"/>
                        <a:cs typeface="Inter" charset="0"/>
                      </a:endParaRPr>
                    </a:p>
                  </a:txBody>
                  <a:tcPr marL="114300" marR="114300" marT="76200" marB="76200" anchor="t">
                    <a:lnL w="12700" cap="flat" cmpd="sng" algn="ctr">
                      <a:solidFill>
                        <a:srgbClr val="0D161F"/>
                      </a:solidFill>
                      <a:prstDash val="solid"/>
                      <a:round/>
                      <a:headEnd type="none" w="med" len="med"/>
                      <a:tailEnd type="none" w="med" len="med"/>
                    </a:lnL>
                    <a:lnR w="12700" cap="flat" cmpd="sng" algn="ctr">
                      <a:solidFill>
                        <a:srgbClr val="0D161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161F"/>
                      </a:solidFill>
                      <a:prstDash val="solid"/>
                      <a:round/>
                      <a:headEnd type="none" w="med" len="med"/>
                      <a:tailEnd type="none" w="med" len="med"/>
                    </a:lnB>
                    <a:solidFill>
                      <a:srgbClr val="0B1622"/>
                    </a:solidFill>
                  </a:tcPr>
                </a:tc>
              </a:tr>
              <a:tr h="384810">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Parallel execution</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161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0B1622"/>
                          </a:solidFill>
                          <a:latin typeface="Inter" pitchFamily="34" charset="0"/>
                          <a:ea typeface="Inter" pitchFamily="34" charset="-122"/>
                          <a:cs typeface="Inter" pitchFamily="34" charset="-120"/>
                        </a:rPr>
                        <a:t>Native MPP — graph and compute partitioned</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161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Topology on a single shard</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161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810">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Audited scale</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750"/>
                        </a:lnSpc>
                        <a:buNone/>
                      </a:pPr>
                      <a:r>
                        <a:rPr lang="en-US" sz="1250" dirty="0">
                          <a:solidFill>
                            <a:srgbClr val="0B1622"/>
                          </a:solidFill>
                          <a:latin typeface="Inter" pitchFamily="34" charset="0"/>
                          <a:ea typeface="Inter" pitchFamily="34" charset="-122"/>
                          <a:cs typeface="Inter" pitchFamily="34" charset="-120"/>
                        </a:rPr>
                        <a:t>Audited to 10,000× our data volume</a:t>
                      </a:r>
                      <a:endParaRPr lang="en-US" sz="1250" dirty="0">
                        <a:latin typeface="Inter" charset="0"/>
                        <a:ea typeface="Inter" charset="0"/>
                        <a:cs typeface="Inter" charset="0"/>
                      </a:endParaRPr>
                    </a:p>
                  </a:txBody>
                  <a:tcPr marL="114300" marR="1143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No audited result at this benchmark</a:t>
                      </a:r>
                      <a:endParaRPr lang="en-US" sz="1250" dirty="0">
                        <a:latin typeface="Inter" charset="0"/>
                        <a:ea typeface="Inter" charset="0"/>
                        <a:cs typeface="Inter" charset="0"/>
                      </a:endParaRPr>
                    </a:p>
                  </a:txBody>
                  <a:tcPr marL="114300" marR="1143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r>
              <a:tr h="384810">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Query expressiveness</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0B1622"/>
                          </a:solidFill>
                          <a:latin typeface="Inter" pitchFamily="34" charset="0"/>
                          <a:ea typeface="Inter" pitchFamily="34" charset="-122"/>
                          <a:cs typeface="Inter" pitchFamily="34" charset="-120"/>
                        </a:rPr>
                        <a:t>Accumulators — aggregation in a single pass</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Procedure chains or app-side loops</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810">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Vector and graph</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750"/>
                        </a:lnSpc>
                        <a:buNone/>
                      </a:pPr>
                      <a:r>
                        <a:rPr lang="en-US" sz="1250" dirty="0">
                          <a:solidFill>
                            <a:srgbClr val="0B1622"/>
                          </a:solidFill>
                          <a:latin typeface="Inter" pitchFamily="34" charset="0"/>
                          <a:ea typeface="Inter" pitchFamily="34" charset="-122"/>
                          <a:cs typeface="Inter" pitchFamily="34" charset="-120"/>
                        </a:rPr>
                        <a:t>Composable with traversal in one query</a:t>
                      </a:r>
                      <a:endParaRPr lang="en-US" sz="1250" dirty="0">
                        <a:latin typeface="Inter" charset="0"/>
                        <a:ea typeface="Inter" charset="0"/>
                        <a:cs typeface="Inter" charset="0"/>
                      </a:endParaRPr>
                    </a:p>
                  </a:txBody>
                  <a:tcPr marL="114300" marR="1143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Queried, then joined separately</a:t>
                      </a:r>
                      <a:endParaRPr lang="en-US" sz="1250" dirty="0">
                        <a:latin typeface="Inter" charset="0"/>
                        <a:ea typeface="Inter" charset="0"/>
                        <a:cs typeface="Inter" charset="0"/>
                      </a:endParaRPr>
                    </a:p>
                  </a:txBody>
                  <a:tcPr marL="114300" marR="1143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r>
              <a:tr h="384810">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Multiple graphs</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0B1622"/>
                          </a:solidFill>
                          <a:latin typeface="Inter" pitchFamily="34" charset="0"/>
                          <a:ea typeface="Inter" pitchFamily="34" charset="-122"/>
                          <a:cs typeface="Inter" pitchFamily="34" charset="-120"/>
                        </a:rPr>
                        <a:t>Native — shared types, one dataset</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Separate databases</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810">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Algorithm library</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750"/>
                        </a:lnSpc>
                        <a:buNone/>
                      </a:pPr>
                      <a:r>
                        <a:rPr lang="en-US" sz="1250" dirty="0">
                          <a:solidFill>
                            <a:srgbClr val="0B1622"/>
                          </a:solidFill>
                          <a:latin typeface="Inter" pitchFamily="34" charset="0"/>
                          <a:ea typeface="Inter" pitchFamily="34" charset="-122"/>
                          <a:cs typeface="Inter" pitchFamily="34" charset="-120"/>
                        </a:rPr>
                        <a:t>Open, customisable, distributed</a:t>
                      </a:r>
                      <a:endParaRPr lang="en-US" sz="1250" dirty="0">
                        <a:latin typeface="Inter" charset="0"/>
                        <a:ea typeface="Inter" charset="0"/>
                        <a:cs typeface="Inter" charset="0"/>
                      </a:endParaRPr>
                    </a:p>
                  </a:txBody>
                  <a:tcPr marL="114300" marR="1143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Fixed procedures</a:t>
                      </a:r>
                      <a:endParaRPr lang="en-US" sz="1250" dirty="0">
                        <a:latin typeface="Inter" charset="0"/>
                        <a:ea typeface="Inter" charset="0"/>
                        <a:cs typeface="Inter" charset="0"/>
                      </a:endParaRPr>
                    </a:p>
                  </a:txBody>
                  <a:tcPr marL="114300" marR="1143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r>
              <a:tr h="384810">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Query language</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0B1622"/>
                          </a:solidFill>
                          <a:latin typeface="Inter" pitchFamily="34" charset="0"/>
                          <a:ea typeface="Inter" pitchFamily="34" charset="-122"/>
                          <a:cs typeface="Inter" pitchFamily="34" charset="-120"/>
                        </a:rPr>
                        <a:t>GSQL — SQL-like, familiar on day one</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Cypher — a new paradigm</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810">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GraphQL API</a:t>
                      </a:r>
                      <a:endParaRPr lang="en-US" sz="1250" dirty="0">
                        <a:latin typeface="Inter" charset="0"/>
                        <a:ea typeface="Inter" charset="0"/>
                        <a:cs typeface="Inter" charset="0"/>
                      </a:endParaRPr>
                    </a:p>
                  </a:txBody>
                  <a:tcPr marL="114300" marR="114300" marT="76200" marB="76200" anchor="t">
                    <a:lnL w="12700" cap="flat" cmpd="sng" algn="ctr">
                      <a:solidFill>
                        <a:srgbClr val="CBCBCB"/>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750"/>
                        </a:lnSpc>
                        <a:buNone/>
                      </a:pPr>
                      <a:r>
                        <a:rPr lang="en-US" sz="1250" dirty="0">
                          <a:solidFill>
                            <a:srgbClr val="0B1622"/>
                          </a:solidFill>
                          <a:latin typeface="Inter" pitchFamily="34" charset="0"/>
                          <a:ea typeface="Inter" pitchFamily="34" charset="-122"/>
                          <a:cs typeface="Inter" pitchFamily="34" charset="-120"/>
                        </a:rPr>
                        <a:t>Native from the database — no resolver tier</a:t>
                      </a:r>
                      <a:endParaRPr lang="en-US" sz="1250" dirty="0">
                        <a:latin typeface="Inter" charset="0"/>
                        <a:ea typeface="Inter" charset="0"/>
                        <a:cs typeface="Inter" charset="0"/>
                      </a:endParaRPr>
                    </a:p>
                  </a:txBody>
                  <a:tcPr marL="114300" marR="1143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750"/>
                        </a:lnSpc>
                        <a:buNone/>
                      </a:pPr>
                      <a:r>
                        <a:rPr lang="en-US" sz="1250" dirty="0">
                          <a:solidFill>
                            <a:srgbClr val="5C6B7A"/>
                          </a:solidFill>
                          <a:latin typeface="Inter" pitchFamily="34" charset="0"/>
                          <a:ea typeface="Inter" pitchFamily="34" charset="-122"/>
                          <a:cs typeface="Inter" pitchFamily="34" charset="-120"/>
                        </a:rPr>
                        <a:t>Library you host and maintain</a:t>
                      </a:r>
                      <a:endParaRPr lang="en-US" sz="1250" dirty="0">
                        <a:latin typeface="Inter" charset="0"/>
                        <a:ea typeface="Inter" charset="0"/>
                        <a:cs typeface="Inter" charset="0"/>
                      </a:endParaRPr>
                    </a:p>
                  </a:txBody>
                  <a:tcPr marL="114300" marR="1143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r>
            </a:tbl>
          </a:graphicData>
        </a:graphic>
      </p:graphicFrame>
      <p:sp>
        <p:nvSpPr>
          <p:cNvPr id="5" name="Shape 2"/>
          <p:cNvSpPr/>
          <p:nvPr/>
        </p:nvSpPr>
        <p:spPr>
          <a:xfrm>
            <a:off x="812800" y="4765042"/>
            <a:ext cx="10566400" cy="708660"/>
          </a:xfrm>
          <a:prstGeom prst="roundRect">
            <a:avLst>
              <a:gd name="adj" fmla="val 12545"/>
            </a:avLst>
          </a:prstGeom>
          <a:solidFill>
            <a:srgbClr val="E4F1EE"/>
          </a:solidFill>
          <a:ln/>
        </p:spPr>
      </p:sp>
      <p:sp>
        <p:nvSpPr>
          <p:cNvPr id="6" name="Shape 3"/>
          <p:cNvSpPr/>
          <p:nvPr/>
        </p:nvSpPr>
        <p:spPr>
          <a:xfrm>
            <a:off x="812800" y="4765042"/>
            <a:ext cx="10566400" cy="708660"/>
          </a:xfrm>
          <a:custGeom>
            <a:avLst/>
            <a:gdLst/>
            <a:ahLst/>
            <a:cxnLst/>
            <a:rect l="l" t="t" r="r" b="b"/>
            <a:pathLst>
              <a:path w="10566400" h="708660">
                <a:moveTo>
                  <a:pt x="88900" y="708660"/>
                </a:moveTo>
                <a:lnTo>
                  <a:pt x="88900" y="708660"/>
                </a:lnTo>
                <a:arcTo hR="88900" wR="88900" stAng="5400000" swAng="5400000"/>
                <a:lnTo>
                  <a:pt x="0" y="88900"/>
                </a:lnTo>
                <a:arcTo hR="88900" wR="88900" stAng="10800000" swAng="5400000"/>
                <a:lnTo>
                  <a:pt x="88900" y="0"/>
                </a:lnTo>
                <a:arcTo hR="88900" wR="57150" stAng="16200000" swAng="-5400000"/>
                <a:lnTo>
                  <a:pt x="31750" y="619760"/>
                </a:lnTo>
                <a:arcTo hR="88900" wR="57150" stAng="10800000" swAng="-5400000"/>
                <a:close/>
              </a:path>
            </a:pathLst>
          </a:custGeom>
          <a:solidFill>
            <a:srgbClr val="10897A"/>
          </a:solidFill>
          <a:ln/>
        </p:spPr>
      </p:sp>
      <p:pic>
        <p:nvPicPr>
          <p:cNvPr id="7" name="Image 0" descr="Key">    </p:cNvPr>
          <p:cNvPicPr>
            <a:picLocks noChangeAspect="1"/>
          </p:cNvPicPr>
          <p:nvPr/>
        </p:nvPicPr>
        <p:blipFill>
          <a:blip r:embed="rId1"/>
          <a:srcRect l="0" r="0" t="0" b="0"/>
          <a:stretch/>
        </p:blipFill>
        <p:spPr>
          <a:xfrm>
            <a:off x="1021080" y="5005071"/>
            <a:ext cx="228600" cy="228600"/>
          </a:xfrm>
          <a:prstGeom prst="rect">
            <a:avLst/>
          </a:prstGeom>
        </p:spPr>
      </p:pic>
      <p:sp>
        <p:nvSpPr>
          <p:cNvPr id="8" name="Text 4"/>
          <p:cNvSpPr/>
          <p:nvPr/>
        </p:nvSpPr>
        <p:spPr>
          <a:xfrm>
            <a:off x="1389380" y="4904742"/>
            <a:ext cx="10106381"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4F46"/>
                </a:solidFill>
                <a:latin typeface="Inter" pitchFamily="34" charset="0"/>
                <a:ea typeface="Inter" pitchFamily="34" charset="-122"/>
                <a:cs typeface="Inter" pitchFamily="34" charset="-120"/>
              </a:rPr>
              <a:t>Aggregation-heavy, multi-tenant, joining semantic retrieval to traversal — the stronger fit on capability, and the lower published rate at both tiers.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609600"/>
            <a:ext cx="10883392"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B1622"/>
                </a:solidFill>
                <a:latin typeface="Space Grotesk" pitchFamily="34" charset="0"/>
                <a:ea typeface="Space Grotesk" pitchFamily="34" charset="-122"/>
                <a:cs typeface="Space Grotesk" pitchFamily="34" charset="-120"/>
              </a:rPr>
              <a:t>TigerGraph capability to our use cases</a:t>
            </a:r>
            <a:endParaRPr lang="en-US" sz="2600" dirty="0"/>
          </a:p>
        </p:txBody>
      </p:sp>
      <p:sp>
        <p:nvSpPr>
          <p:cNvPr id="3" name="Text 1"/>
          <p:cNvSpPr/>
          <p:nvPr/>
        </p:nvSpPr>
        <p:spPr>
          <a:xfrm>
            <a:off x="812800" y="113792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MPP execution</a:t>
            </a:r>
            <a:endParaRPr lang="en-US" sz="1250" dirty="0"/>
          </a:p>
        </p:txBody>
      </p:sp>
      <p:sp>
        <p:nvSpPr>
          <p:cNvPr id="4" name="Text 2"/>
          <p:cNvSpPr/>
          <p:nvPr/>
        </p:nvSpPr>
        <p:spPr>
          <a:xfrm>
            <a:off x="2616200" y="113792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Firm-wide evaluation in one pass</a:t>
            </a:r>
            <a:endParaRPr lang="en-US" sz="1250" dirty="0"/>
          </a:p>
        </p:txBody>
      </p:sp>
      <p:sp>
        <p:nvSpPr>
          <p:cNvPr id="5" name="Text 3"/>
          <p:cNvSpPr/>
          <p:nvPr/>
        </p:nvSpPr>
        <p:spPr>
          <a:xfrm>
            <a:off x="812800" y="143637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Deep traversal</a:t>
            </a:r>
            <a:endParaRPr lang="en-US" sz="1250" dirty="0"/>
          </a:p>
        </p:txBody>
      </p:sp>
      <p:sp>
        <p:nvSpPr>
          <p:cNvPr id="6" name="Text 4"/>
          <p:cNvSpPr/>
          <p:nvPr/>
        </p:nvSpPr>
        <p:spPr>
          <a:xfrm>
            <a:off x="2616200" y="143637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Household discovery · book transfer</a:t>
            </a:r>
            <a:endParaRPr lang="en-US" sz="1250" dirty="0"/>
          </a:p>
        </p:txBody>
      </p:sp>
      <p:sp>
        <p:nvSpPr>
          <p:cNvPr id="7" name="Text 5"/>
          <p:cNvSpPr/>
          <p:nvPr/>
        </p:nvSpPr>
        <p:spPr>
          <a:xfrm>
            <a:off x="812800" y="173482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Accumulators</a:t>
            </a:r>
            <a:endParaRPr lang="en-US" sz="1250" dirty="0"/>
          </a:p>
        </p:txBody>
      </p:sp>
      <p:sp>
        <p:nvSpPr>
          <p:cNvPr id="8" name="Text 6"/>
          <p:cNvSpPr/>
          <p:nvPr/>
        </p:nvSpPr>
        <p:spPr>
          <a:xfrm>
            <a:off x="2616200" y="173482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Attribution · rule evaluation</a:t>
            </a:r>
            <a:endParaRPr lang="en-US" sz="1250" dirty="0"/>
          </a:p>
        </p:txBody>
      </p:sp>
      <p:sp>
        <p:nvSpPr>
          <p:cNvPr id="9" name="Text 7"/>
          <p:cNvSpPr/>
          <p:nvPr/>
        </p:nvSpPr>
        <p:spPr>
          <a:xfrm>
            <a:off x="812800" y="203327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Vector + graph</a:t>
            </a:r>
            <a:endParaRPr lang="en-US" sz="1250" dirty="0"/>
          </a:p>
        </p:txBody>
      </p:sp>
      <p:sp>
        <p:nvSpPr>
          <p:cNvPr id="10" name="Text 8"/>
          <p:cNvSpPr/>
          <p:nvPr/>
        </p:nvSpPr>
        <p:spPr>
          <a:xfrm>
            <a:off x="2616200" y="203327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Q&amp;A grounded in this client's holdings</a:t>
            </a:r>
            <a:endParaRPr lang="en-US" sz="1250" dirty="0"/>
          </a:p>
        </p:txBody>
      </p:sp>
      <p:sp>
        <p:nvSpPr>
          <p:cNvPr id="11" name="Text 9"/>
          <p:cNvSpPr/>
          <p:nvPr/>
        </p:nvSpPr>
        <p:spPr>
          <a:xfrm>
            <a:off x="812800" y="233172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Ranking · similarity</a:t>
            </a:r>
            <a:endParaRPr lang="en-US" sz="1250" dirty="0"/>
          </a:p>
        </p:txBody>
      </p:sp>
      <p:sp>
        <p:nvSpPr>
          <p:cNvPr id="12" name="Text 10"/>
          <p:cNvSpPr/>
          <p:nvPr/>
        </p:nvSpPr>
        <p:spPr>
          <a:xfrm>
            <a:off x="2616200" y="233172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Peer ranking · advisor cohorts</a:t>
            </a:r>
            <a:endParaRPr lang="en-US" sz="1250" dirty="0"/>
          </a:p>
        </p:txBody>
      </p:sp>
      <p:sp>
        <p:nvSpPr>
          <p:cNvPr id="13" name="Text 11"/>
          <p:cNvSpPr/>
          <p:nvPr/>
        </p:nvSpPr>
        <p:spPr>
          <a:xfrm>
            <a:off x="812800" y="263017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Centrality</a:t>
            </a:r>
            <a:endParaRPr lang="en-US" sz="1250" dirty="0"/>
          </a:p>
        </p:txBody>
      </p:sp>
      <p:sp>
        <p:nvSpPr>
          <p:cNvPr id="14" name="Text 12"/>
          <p:cNvSpPr/>
          <p:nvPr/>
        </p:nvSpPr>
        <p:spPr>
          <a:xfrm>
            <a:off x="2616200" y="263017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Influence networks · key clients</a:t>
            </a:r>
            <a:endParaRPr lang="en-US" sz="1250" dirty="0"/>
          </a:p>
        </p:txBody>
      </p:sp>
      <p:sp>
        <p:nvSpPr>
          <p:cNvPr id="15" name="Text 13"/>
          <p:cNvSpPr/>
          <p:nvPr/>
        </p:nvSpPr>
        <p:spPr>
          <a:xfrm>
            <a:off x="6165850" y="113792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Community detection</a:t>
            </a:r>
            <a:endParaRPr lang="en-US" sz="1250" dirty="0"/>
          </a:p>
        </p:txBody>
      </p:sp>
      <p:sp>
        <p:nvSpPr>
          <p:cNvPr id="16" name="Text 14"/>
          <p:cNvSpPr/>
          <p:nvPr/>
        </p:nvSpPr>
        <p:spPr>
          <a:xfrm>
            <a:off x="7969250" y="113792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Household resolution · segmentation</a:t>
            </a:r>
            <a:endParaRPr lang="en-US" sz="1250" dirty="0"/>
          </a:p>
        </p:txBody>
      </p:sp>
      <p:sp>
        <p:nvSpPr>
          <p:cNvPr id="17" name="Text 15"/>
          <p:cNvSpPr/>
          <p:nvPr/>
        </p:nvSpPr>
        <p:spPr>
          <a:xfrm>
            <a:off x="6165850" y="143637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Link prediction</a:t>
            </a:r>
            <a:endParaRPr lang="en-US" sz="1250" dirty="0"/>
          </a:p>
        </p:txBody>
      </p:sp>
      <p:sp>
        <p:nvSpPr>
          <p:cNvPr id="18" name="Text 16"/>
          <p:cNvSpPr/>
          <p:nvPr/>
        </p:nvSpPr>
        <p:spPr>
          <a:xfrm>
            <a:off x="7969250" y="143637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Cross-sell · churn · next best action</a:t>
            </a:r>
            <a:endParaRPr lang="en-US" sz="1250" dirty="0"/>
          </a:p>
        </p:txBody>
      </p:sp>
      <p:sp>
        <p:nvSpPr>
          <p:cNvPr id="19" name="Text 17"/>
          <p:cNvSpPr/>
          <p:nvPr/>
        </p:nvSpPr>
        <p:spPr>
          <a:xfrm>
            <a:off x="6165850" y="173482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Temporal · as-of</a:t>
            </a:r>
            <a:endParaRPr lang="en-US" sz="1250" dirty="0"/>
          </a:p>
        </p:txBody>
      </p:sp>
      <p:sp>
        <p:nvSpPr>
          <p:cNvPr id="20" name="Text 18"/>
          <p:cNvSpPr/>
          <p:nvPr/>
        </p:nvSpPr>
        <p:spPr>
          <a:xfrm>
            <a:off x="7969250" y="173482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Client 360 on any date · suitability</a:t>
            </a:r>
            <a:endParaRPr lang="en-US" sz="1250" dirty="0"/>
          </a:p>
        </p:txBody>
      </p:sp>
      <p:sp>
        <p:nvSpPr>
          <p:cNvPr id="21" name="Text 19"/>
          <p:cNvSpPr/>
          <p:nvPr/>
        </p:nvSpPr>
        <p:spPr>
          <a:xfrm>
            <a:off x="6165850" y="203327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Path finding</a:t>
            </a:r>
            <a:endParaRPr lang="en-US" sz="1250" dirty="0"/>
          </a:p>
        </p:txBody>
      </p:sp>
      <p:sp>
        <p:nvSpPr>
          <p:cNvPr id="22" name="Text 20"/>
          <p:cNvSpPr/>
          <p:nvPr/>
        </p:nvSpPr>
        <p:spPr>
          <a:xfrm>
            <a:off x="7969250" y="203327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Why a recommendation was made</a:t>
            </a:r>
            <a:endParaRPr lang="en-US" sz="1250" dirty="0"/>
          </a:p>
        </p:txBody>
      </p:sp>
      <p:sp>
        <p:nvSpPr>
          <p:cNvPr id="23" name="Text 21"/>
          <p:cNvSpPr/>
          <p:nvPr/>
        </p:nvSpPr>
        <p:spPr>
          <a:xfrm>
            <a:off x="6165850" y="233172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Anomaly detection</a:t>
            </a:r>
            <a:endParaRPr lang="en-US" sz="1250" dirty="0"/>
          </a:p>
        </p:txBody>
      </p:sp>
      <p:sp>
        <p:nvSpPr>
          <p:cNvPr id="24" name="Text 22"/>
          <p:cNvSpPr/>
          <p:nvPr/>
        </p:nvSpPr>
        <p:spPr>
          <a:xfrm>
            <a:off x="7969250" y="233172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Fee leakage · variance outliers</a:t>
            </a:r>
            <a:endParaRPr lang="en-US" sz="1250" dirty="0"/>
          </a:p>
        </p:txBody>
      </p:sp>
      <p:sp>
        <p:nvSpPr>
          <p:cNvPr id="25" name="Text 23"/>
          <p:cNvSpPr/>
          <p:nvPr/>
        </p:nvSpPr>
        <p:spPr>
          <a:xfrm>
            <a:off x="6165850" y="2630171"/>
            <a:ext cx="176593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6B5E"/>
                </a:solidFill>
                <a:latin typeface="Inter" pitchFamily="34" charset="0"/>
                <a:ea typeface="Inter" pitchFamily="34" charset="-122"/>
                <a:cs typeface="Inter" pitchFamily="34" charset="-120"/>
              </a:rPr>
              <a:t>Pattern matching</a:t>
            </a:r>
            <a:endParaRPr lang="en-US" sz="1250" dirty="0"/>
          </a:p>
        </p:txBody>
      </p:sp>
      <p:sp>
        <p:nvSpPr>
          <p:cNvPr id="26" name="Text 24"/>
          <p:cNvSpPr/>
          <p:nvPr/>
        </p:nvSpPr>
        <p:spPr>
          <a:xfrm>
            <a:off x="7969250" y="2630171"/>
            <a:ext cx="35122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Conflicting rules · orphan accounts</a:t>
            </a:r>
            <a:endParaRPr lang="en-US" sz="1250" dirty="0"/>
          </a:p>
        </p:txBody>
      </p:sp>
      <p:sp>
        <p:nvSpPr>
          <p:cNvPr id="27" name="Shape 25"/>
          <p:cNvSpPr/>
          <p:nvPr/>
        </p:nvSpPr>
        <p:spPr>
          <a:xfrm>
            <a:off x="812800" y="3017521"/>
            <a:ext cx="10566400" cy="1550670"/>
          </a:xfrm>
          <a:prstGeom prst="roundRect">
            <a:avLst>
              <a:gd name="adj" fmla="val 5733"/>
            </a:avLst>
          </a:prstGeom>
          <a:solidFill>
            <a:srgbClr val="0B1622"/>
          </a:solidFill>
          <a:ln/>
        </p:spPr>
      </p:sp>
      <p:sp>
        <p:nvSpPr>
          <p:cNvPr id="28" name="Text 26"/>
          <p:cNvSpPr/>
          <p:nvPr/>
        </p:nvSpPr>
        <p:spPr>
          <a:xfrm>
            <a:off x="1003300" y="3169921"/>
            <a:ext cx="104909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8F9"/>
                </a:solidFill>
                <a:latin typeface="Instrument Serif" pitchFamily="34" charset="0"/>
                <a:ea typeface="Instrument Serif" pitchFamily="34" charset="-122"/>
                <a:cs typeface="Instrument Serif" pitchFamily="34" charset="-120"/>
              </a:rPr>
              <a:t>Worked example — "Where does this advisor rank against peers, and who moved most this quarter?"</a:t>
            </a:r>
            <a:endParaRPr lang="en-US" sz="1500" dirty="0"/>
          </a:p>
        </p:txBody>
      </p:sp>
      <p:sp>
        <p:nvSpPr>
          <p:cNvPr id="29" name="Text 27"/>
          <p:cNvSpPr/>
          <p:nvPr/>
        </p:nvSpPr>
        <p:spPr>
          <a:xfrm>
            <a:off x="1003300" y="3525521"/>
            <a:ext cx="2479675" cy="579120"/>
          </a:xfrm>
          <a:prstGeom prst="roundRect">
            <a:avLst>
              <a:gd name="adj" fmla="val 9868"/>
            </a:avLst>
          </a:prstGeom>
          <a:solidFill>
            <a:srgbClr val="142639"/>
          </a:solidFill>
          <a:ln/>
        </p:spPr>
        <p:txBody>
          <a:bodyPr wrap="square" lIns="84861" tIns="59461" rIns="16567" bIns="34061" rtlCol="0" anchor="t">
            <a:normAutofit/>
          </a:bodyPr>
          <a:lstStyle/>
          <a:p>
            <a:pPr algn="l" indent="0" marL="0">
              <a:lnSpc>
                <a:spcPts val="1680"/>
              </a:lnSpc>
              <a:buNone/>
            </a:pPr>
            <a:r>
              <a:rPr lang="en-US" sz="1200" b="1" dirty="0">
                <a:solidFill>
                  <a:srgbClr val="CFE3DC"/>
                </a:solidFill>
                <a:latin typeface="Inter" pitchFamily="34" charset="0"/>
                <a:ea typeface="Inter" pitchFamily="34" charset="-122"/>
                <a:cs typeface="Inter" pitchFamily="34" charset="-120"/>
              </a:rPr>
              <a:t>1 ·</a:t>
            </a:r>
            <a:r>
              <a:rPr lang="en-US" sz="1200" dirty="0">
                <a:solidFill>
                  <a:srgbClr val="CFE3DC"/>
                </a:solidFill>
                <a:latin typeface="Inter" pitchFamily="34" charset="0"/>
                <a:ea typeface="Inter" pitchFamily="34" charset="-122"/>
                <a:cs typeface="Inter" pitchFamily="34" charset="-120"/>
              </a:rPr>
              <a:t> Similarity forms peer cohorts</a:t>
            </a:r>
            <a:endParaRPr lang="en-US" sz="1200" dirty="0"/>
          </a:p>
        </p:txBody>
      </p:sp>
      <p:sp>
        <p:nvSpPr>
          <p:cNvPr id="30" name="Text 28"/>
          <p:cNvSpPr/>
          <p:nvPr/>
        </p:nvSpPr>
        <p:spPr>
          <a:xfrm>
            <a:off x="3571875" y="3525521"/>
            <a:ext cx="2479675" cy="579120"/>
          </a:xfrm>
          <a:prstGeom prst="roundRect">
            <a:avLst>
              <a:gd name="adj" fmla="val 9868"/>
            </a:avLst>
          </a:prstGeom>
          <a:solidFill>
            <a:srgbClr val="142639"/>
          </a:solidFill>
          <a:ln/>
        </p:spPr>
        <p:txBody>
          <a:bodyPr wrap="square" lIns="84861" tIns="59461" rIns="16567" bIns="34061" rtlCol="0" anchor="t">
            <a:normAutofit/>
          </a:bodyPr>
          <a:lstStyle/>
          <a:p>
            <a:pPr algn="l" indent="0" marL="0">
              <a:lnSpc>
                <a:spcPts val="1680"/>
              </a:lnSpc>
              <a:buNone/>
            </a:pPr>
            <a:r>
              <a:rPr lang="en-US" sz="1200" b="1" dirty="0">
                <a:solidFill>
                  <a:srgbClr val="CFE3DC"/>
                </a:solidFill>
                <a:latin typeface="Inter" pitchFamily="34" charset="0"/>
                <a:ea typeface="Inter" pitchFamily="34" charset="-122"/>
                <a:cs typeface="Inter" pitchFamily="34" charset="-120"/>
              </a:rPr>
              <a:t>2 ·</a:t>
            </a:r>
            <a:r>
              <a:rPr lang="en-US" sz="1200" dirty="0">
                <a:solidFill>
                  <a:srgbClr val="CFE3DC"/>
                </a:solidFill>
                <a:latin typeface="Inter" pitchFamily="34" charset="0"/>
                <a:ea typeface="Inter" pitchFamily="34" charset="-122"/>
                <a:cs typeface="Inter" pitchFamily="34" charset="-120"/>
              </a:rPr>
              <a:t> Aggregation by advisor</a:t>
            </a:r>
            <a:endParaRPr lang="en-US" sz="1200" dirty="0"/>
          </a:p>
        </p:txBody>
      </p:sp>
      <p:sp>
        <p:nvSpPr>
          <p:cNvPr id="31" name="Text 29"/>
          <p:cNvSpPr/>
          <p:nvPr/>
        </p:nvSpPr>
        <p:spPr>
          <a:xfrm>
            <a:off x="6140450" y="3525521"/>
            <a:ext cx="2479675" cy="579120"/>
          </a:xfrm>
          <a:prstGeom prst="roundRect">
            <a:avLst>
              <a:gd name="adj" fmla="val 9868"/>
            </a:avLst>
          </a:prstGeom>
          <a:solidFill>
            <a:srgbClr val="142639"/>
          </a:solidFill>
          <a:ln/>
        </p:spPr>
        <p:txBody>
          <a:bodyPr wrap="square" lIns="84861" tIns="59461" rIns="16567" bIns="34061" rtlCol="0" anchor="t">
            <a:normAutofit/>
          </a:bodyPr>
          <a:lstStyle/>
          <a:p>
            <a:pPr algn="l" indent="0" marL="0">
              <a:lnSpc>
                <a:spcPts val="1680"/>
              </a:lnSpc>
              <a:buNone/>
            </a:pPr>
            <a:r>
              <a:rPr lang="en-US" sz="1200" b="1" dirty="0">
                <a:solidFill>
                  <a:srgbClr val="CFE3DC"/>
                </a:solidFill>
                <a:latin typeface="Inter" pitchFamily="34" charset="0"/>
                <a:ea typeface="Inter" pitchFamily="34" charset="-122"/>
                <a:cs typeface="Inter" pitchFamily="34" charset="-120"/>
              </a:rPr>
              <a:t>3 ·</a:t>
            </a:r>
            <a:r>
              <a:rPr lang="en-US" sz="1200" dirty="0">
                <a:solidFill>
                  <a:srgbClr val="CFE3DC"/>
                </a:solidFill>
                <a:latin typeface="Inter" pitchFamily="34" charset="0"/>
                <a:ea typeface="Inter" pitchFamily="34" charset="-122"/>
                <a:cs typeface="Inter" pitchFamily="34" charset="-120"/>
              </a:rPr>
              <a:t> Ranking and percentile</a:t>
            </a:r>
            <a:endParaRPr lang="en-US" sz="1200" dirty="0"/>
          </a:p>
        </p:txBody>
      </p:sp>
      <p:sp>
        <p:nvSpPr>
          <p:cNvPr id="32" name="Text 30"/>
          <p:cNvSpPr/>
          <p:nvPr/>
        </p:nvSpPr>
        <p:spPr>
          <a:xfrm>
            <a:off x="8709025" y="3525521"/>
            <a:ext cx="2479675" cy="579120"/>
          </a:xfrm>
          <a:prstGeom prst="roundRect">
            <a:avLst>
              <a:gd name="adj" fmla="val 9868"/>
            </a:avLst>
          </a:prstGeom>
          <a:solidFill>
            <a:srgbClr val="142639"/>
          </a:solidFill>
          <a:ln/>
        </p:spPr>
        <p:txBody>
          <a:bodyPr wrap="square" lIns="84861" tIns="59461" rIns="16567" bIns="34061" rtlCol="0" anchor="t">
            <a:normAutofit/>
          </a:bodyPr>
          <a:lstStyle/>
          <a:p>
            <a:pPr algn="l" indent="0" marL="0">
              <a:lnSpc>
                <a:spcPts val="1680"/>
              </a:lnSpc>
              <a:buNone/>
            </a:pPr>
            <a:r>
              <a:rPr lang="en-US" sz="1200" b="1" dirty="0">
                <a:solidFill>
                  <a:srgbClr val="CFE3DC"/>
                </a:solidFill>
                <a:latin typeface="Inter" pitchFamily="34" charset="0"/>
                <a:ea typeface="Inter" pitchFamily="34" charset="-122"/>
                <a:cs typeface="Inter" pitchFamily="34" charset="-120"/>
              </a:rPr>
              <a:t>4 ·</a:t>
            </a:r>
            <a:r>
              <a:rPr lang="en-US" sz="1200" dirty="0">
                <a:solidFill>
                  <a:srgbClr val="CFE3DC"/>
                </a:solidFill>
                <a:latin typeface="Inter" pitchFamily="34" charset="0"/>
                <a:ea typeface="Inter" pitchFamily="34" charset="-122"/>
                <a:cs typeface="Inter" pitchFamily="34" charset="-120"/>
              </a:rPr>
              <a:t> Temporal comparison</a:t>
            </a:r>
            <a:endParaRPr lang="en-US" sz="1200" dirty="0"/>
          </a:p>
        </p:txBody>
      </p:sp>
      <p:sp>
        <p:nvSpPr>
          <p:cNvPr id="33" name="Text 31"/>
          <p:cNvSpPr/>
          <p:nvPr/>
        </p:nvSpPr>
        <p:spPr>
          <a:xfrm>
            <a:off x="1003300" y="4193542"/>
            <a:ext cx="1049096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0C99A"/>
                </a:solidFill>
                <a:latin typeface="Inter" pitchFamily="34" charset="0"/>
                <a:ea typeface="Inter" pitchFamily="34" charset="-122"/>
                <a:cs typeface="Inter" pitchFamily="34" charset="-120"/>
              </a:rPr>
              <a:t>Four algorithms · one query · no data leaves the database.</a:t>
            </a:r>
            <a:endParaRPr lang="en-US" sz="1250" dirty="0"/>
          </a:p>
        </p:txBody>
      </p:sp>
      <p:sp>
        <p:nvSpPr>
          <p:cNvPr id="34" name="Text 32"/>
          <p:cNvSpPr/>
          <p:nvPr/>
        </p:nvSpPr>
        <p:spPr>
          <a:xfrm>
            <a:off x="812800" y="628015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0897A"/>
                </a:solidFill>
                <a:latin typeface="Space Grotesk" pitchFamily="34" charset="0"/>
                <a:ea typeface="Space Grotesk" pitchFamily="34" charset="-122"/>
                <a:cs typeface="Space Grotesk" pitchFamily="34" charset="-120"/>
              </a:rPr>
              <a:t>Everything on the left ships with the engine. Everything on the right is a product decision.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5707894"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B1622"/>
                </a:solidFill>
                <a:latin typeface="Space Grotesk" pitchFamily="34" charset="0"/>
                <a:ea typeface="Space Grotesk" pitchFamily="34" charset="-122"/>
                <a:cs typeface="Space Grotesk" pitchFamily="34" charset="-120"/>
              </a:rPr>
              <a:t>Temporal graph and context graph</a:t>
            </a:r>
            <a:endParaRPr lang="en-US" sz="2600" dirty="0"/>
          </a:p>
        </p:txBody>
      </p:sp>
      <p:sp>
        <p:nvSpPr>
          <p:cNvPr id="3" name="Text 1"/>
          <p:cNvSpPr/>
          <p:nvPr/>
        </p:nvSpPr>
        <p:spPr>
          <a:xfrm>
            <a:off x="6494145" y="690879"/>
            <a:ext cx="422573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What makes agents auditable rather than merely fluent</a:t>
            </a:r>
            <a:endParaRPr lang="en-US" sz="1250" dirty="0"/>
          </a:p>
        </p:txBody>
      </p:sp>
      <p:sp>
        <p:nvSpPr>
          <p:cNvPr id="4" name="Shape 2"/>
          <p:cNvSpPr/>
          <p:nvPr/>
        </p:nvSpPr>
        <p:spPr>
          <a:xfrm>
            <a:off x="812800" y="1036321"/>
            <a:ext cx="5219700" cy="3997642"/>
          </a:xfrm>
          <a:prstGeom prst="roundRect">
            <a:avLst>
              <a:gd name="adj" fmla="val 2224"/>
            </a:avLst>
          </a:prstGeom>
          <a:solidFill>
            <a:srgbClr val="F5F8F9"/>
          </a:solidFill>
          <a:ln/>
        </p:spPr>
      </p:sp>
      <p:sp>
        <p:nvSpPr>
          <p:cNvPr id="5" name="Shape 3"/>
          <p:cNvSpPr/>
          <p:nvPr/>
        </p:nvSpPr>
        <p:spPr>
          <a:xfrm>
            <a:off x="812800" y="1036321"/>
            <a:ext cx="5219700" cy="3997642"/>
          </a:xfrm>
          <a:custGeom>
            <a:avLst/>
            <a:gdLst/>
            <a:ahLst/>
            <a:cxnLst/>
            <a:rect l="l" t="t" r="r" b="b"/>
            <a:pathLst>
              <a:path w="5219700" h="3997642">
                <a:moveTo>
                  <a:pt x="0" y="88900"/>
                </a:moveTo>
                <a:lnTo>
                  <a:pt x="0" y="88900"/>
                </a:lnTo>
                <a:arcTo hR="88900" wR="88900" stAng="10800000" swAng="5400000"/>
                <a:lnTo>
                  <a:pt x="5130800" y="0"/>
                </a:lnTo>
                <a:arcTo hR="88900" wR="88900" stAng="16200000" swAng="5400000"/>
                <a:lnTo>
                  <a:pt x="5219700" y="88900"/>
                </a:lnTo>
                <a:arcTo hR="57150" wR="88900" stAng="0" swAng="-5400000"/>
                <a:lnTo>
                  <a:pt x="88900" y="31750"/>
                </a:lnTo>
                <a:arcTo hR="57150" wR="88900" stAng="16200000" swAng="-5400000"/>
                <a:close/>
              </a:path>
            </a:pathLst>
          </a:custGeom>
          <a:solidFill>
            <a:srgbClr val="10897A"/>
          </a:solidFill>
          <a:ln/>
        </p:spPr>
      </p:sp>
      <p:pic>
        <p:nvPicPr>
          <p:cNvPr id="6" name="Image 0" descr="Clock">    </p:cNvPr>
          <p:cNvPicPr>
            <a:picLocks noChangeAspect="1"/>
          </p:cNvPicPr>
          <p:nvPr/>
        </p:nvPicPr>
        <p:blipFill>
          <a:blip r:embed="rId1"/>
          <a:srcRect l="0" r="0" t="0" b="0"/>
          <a:stretch/>
        </p:blipFill>
        <p:spPr>
          <a:xfrm>
            <a:off x="977900" y="1212850"/>
            <a:ext cx="215900" cy="215900"/>
          </a:xfrm>
          <a:prstGeom prst="rect">
            <a:avLst/>
          </a:prstGeom>
        </p:spPr>
      </p:pic>
      <p:sp>
        <p:nvSpPr>
          <p:cNvPr id="7" name="Text 4"/>
          <p:cNvSpPr/>
          <p:nvPr/>
        </p:nvSpPr>
        <p:spPr>
          <a:xfrm>
            <a:off x="1270000" y="1206500"/>
            <a:ext cx="255578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622"/>
                </a:solidFill>
                <a:latin typeface="Space Grotesk" pitchFamily="34" charset="0"/>
                <a:ea typeface="Space Grotesk" pitchFamily="34" charset="-122"/>
                <a:cs typeface="Space Grotesk" pitchFamily="34" charset="-120"/>
              </a:rPr>
              <a:t>Temporal knowledge graph</a:t>
            </a:r>
            <a:endParaRPr lang="en-US" sz="1500" dirty="0"/>
          </a:p>
        </p:txBody>
      </p:sp>
      <p:sp>
        <p:nvSpPr>
          <p:cNvPr id="8" name="Text 5"/>
          <p:cNvSpPr/>
          <p:nvPr/>
        </p:nvSpPr>
        <p:spPr>
          <a:xfrm>
            <a:off x="977900" y="1498600"/>
            <a:ext cx="5036185" cy="28321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0B6B5E"/>
                </a:solidFill>
                <a:latin typeface="Instrument Serif" pitchFamily="34" charset="0"/>
                <a:ea typeface="Instrument Serif" pitchFamily="34" charset="-122"/>
                <a:cs typeface="Instrument Serif" pitchFamily="34" charset="-120"/>
              </a:rPr>
              <a:t>What was true, and when</a:t>
            </a:r>
            <a:endParaRPr lang="en-US" sz="1450" dirty="0"/>
          </a:p>
        </p:txBody>
      </p:sp>
      <p:sp>
        <p:nvSpPr>
          <p:cNvPr id="9" name="Text 6"/>
          <p:cNvSpPr/>
          <p:nvPr/>
        </p:nvSpPr>
        <p:spPr>
          <a:xfrm>
            <a:off x="977900" y="1819914"/>
            <a:ext cx="50361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622"/>
                </a:solidFill>
                <a:latin typeface="Inter" pitchFamily="34" charset="0"/>
                <a:ea typeface="Inter" pitchFamily="34" charset="-122"/>
                <a:cs typeface="Inter" pitchFamily="34" charset="-120"/>
              </a:rPr>
              <a:t>The problem it solves</a:t>
            </a:r>
            <a:endParaRPr lang="en-US" sz="1200" dirty="0"/>
          </a:p>
        </p:txBody>
      </p:sp>
      <p:sp>
        <p:nvSpPr>
          <p:cNvPr id="10" name="Text 7"/>
          <p:cNvSpPr/>
          <p:nvPr/>
        </p:nvSpPr>
        <p:spPr>
          <a:xfrm>
            <a:off x="977900" y="2096771"/>
            <a:ext cx="5036185" cy="1016000"/>
          </a:xfrm>
          <a:prstGeom prst="rect">
            <a:avLst/>
          </a:prstGeom>
          <a:noFill/>
          <a:ln/>
        </p:spPr>
        <p:txBody>
          <a:bodyPr wrap="square" lIns="0" tIns="0" rIns="0" bIns="0" rtlCol="0" anchor="t">
            <a:normAutofit/>
          </a:bodyPr>
          <a:lstStyle/>
          <a:p>
            <a:pPr algn="l" marL="182880" indent="-148844">
              <a:lnSpc>
                <a:spcPts val="1560"/>
              </a:lnSpc>
              <a:buSzPct val="100000"/>
              <a:buChar char="•"/>
            </a:pPr>
            <a:r>
              <a:rPr lang="en-US" sz="1200" i="1" dirty="0">
                <a:solidFill>
                  <a:srgbClr val="5C6B7A"/>
                </a:solidFill>
                <a:latin typeface="Inter" pitchFamily="34" charset="0"/>
                <a:ea typeface="Inter" pitchFamily="34" charset="-122"/>
                <a:cs typeface="Inter" pitchFamily="34" charset="-120"/>
              </a:rPr>
              <a:t>Why was I paid this in April?</a:t>
            </a:r>
            <a:r>
              <a:rPr lang="en-US" sz="1200" dirty="0">
                <a:solidFill>
                  <a:srgbClr val="5C6B7A"/>
                </a:solidFill>
                <a:latin typeface="Inter" pitchFamily="34" charset="0"/>
                <a:ea typeface="Inter" pitchFamily="34" charset="-122"/>
                <a:cs typeface="Inter" pitchFamily="34" charset="-120"/>
              </a:rPr>
              <a:t> — plan, hierarchy and rule have all changed since</a:t>
            </a:r>
            <a:endParaRPr lang="en-US" sz="1200" dirty="0"/>
          </a:p>
          <a:p>
            <a:pPr algn="l" marL="182880" indent="-148844">
              <a:lnSpc>
                <a:spcPts val="1560"/>
              </a:lnSpc>
              <a:buSzPct val="100000"/>
              <a:buChar char="•"/>
            </a:pPr>
            <a:r>
              <a:rPr lang="en-US" sz="1200" i="1" dirty="0">
                <a:solidFill>
                  <a:srgbClr val="5C6B7A"/>
                </a:solidFill>
                <a:latin typeface="Inter" pitchFamily="34" charset="0"/>
                <a:ea typeface="Inter" pitchFamily="34" charset="-122"/>
                <a:cs typeface="Inter" pitchFamily="34" charset="-120"/>
              </a:rPr>
              <a:t>Was this recommendation suitable?</a:t>
            </a:r>
            <a:r>
              <a:rPr lang="en-US" sz="1200" dirty="0">
                <a:solidFill>
                  <a:srgbClr val="5C6B7A"/>
                </a:solidFill>
                <a:latin typeface="Inter" pitchFamily="34" charset="0"/>
                <a:ea typeface="Inter" pitchFamily="34" charset="-122"/>
                <a:cs typeface="Inter" pitchFamily="34" charset="-120"/>
              </a:rPr>
              <a:t> — judged against the goal at the time</a:t>
            </a:r>
            <a:endParaRPr lang="en-US" sz="1200" dirty="0"/>
          </a:p>
          <a:p>
            <a:pPr algn="l" marL="182880" indent="-148844">
              <a:lnSpc>
                <a:spcPts val="1560"/>
              </a:lnSpc>
              <a:buSzPct val="100000"/>
              <a:buChar char="•"/>
            </a:pPr>
            <a:r>
              <a:rPr lang="en-US" sz="1200" i="1" dirty="0">
                <a:solidFill>
                  <a:srgbClr val="5C6B7A"/>
                </a:solidFill>
                <a:latin typeface="Inter" pitchFamily="34" charset="0"/>
                <a:ea typeface="Inter" pitchFamily="34" charset="-122"/>
                <a:cs typeface="Inter" pitchFamily="34" charset="-120"/>
              </a:rPr>
              <a:t>What did we know when we decided?</a:t>
            </a:r>
            <a:r>
              <a:rPr lang="en-US" sz="1200" dirty="0">
                <a:solidFill>
                  <a:srgbClr val="5C6B7A"/>
                </a:solidFill>
                <a:latin typeface="Inter" pitchFamily="34" charset="0"/>
                <a:ea typeface="Inter" pitchFamily="34" charset="-122"/>
                <a:cs typeface="Inter" pitchFamily="34" charset="-120"/>
              </a:rPr>
              <a:t> — the regulator's question</a:t>
            </a:r>
            <a:endParaRPr lang="en-US" sz="1200" dirty="0"/>
          </a:p>
        </p:txBody>
      </p:sp>
      <p:sp>
        <p:nvSpPr>
          <p:cNvPr id="11" name="Text 8"/>
          <p:cNvSpPr/>
          <p:nvPr/>
        </p:nvSpPr>
        <p:spPr>
          <a:xfrm>
            <a:off x="977900" y="3150871"/>
            <a:ext cx="50361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622"/>
                </a:solidFill>
                <a:latin typeface="Inter" pitchFamily="34" charset="0"/>
                <a:ea typeface="Inter" pitchFamily="34" charset="-122"/>
                <a:cs typeface="Inter" pitchFamily="34" charset="-120"/>
              </a:rPr>
              <a:t>What it gives us</a:t>
            </a:r>
            <a:endParaRPr lang="en-US" sz="1200" dirty="0"/>
          </a:p>
        </p:txBody>
      </p:sp>
      <p:sp>
        <p:nvSpPr>
          <p:cNvPr id="12" name="Text 9"/>
          <p:cNvSpPr/>
          <p:nvPr/>
        </p:nvSpPr>
        <p:spPr>
          <a:xfrm>
            <a:off x="977900" y="3427729"/>
            <a:ext cx="5036185" cy="817880"/>
          </a:xfrm>
          <a:prstGeom prst="rect">
            <a:avLst/>
          </a:prstGeom>
          <a:noFill/>
          <a:ln/>
        </p:spPr>
        <p:txBody>
          <a:bodyPr wrap="square" lIns="0" tIns="0" rIns="0" bIns="0" rtlCol="0" anchor="t">
            <a:normAutofit/>
          </a:bodyPr>
          <a:lstStyle/>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Client 360 as it stood on any date</a:t>
            </a:r>
            <a:endParaRPr lang="en-US" sz="1200" dirty="0"/>
          </a:p>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Rule and plan version in force at calculation</a:t>
            </a:r>
            <a:endParaRPr lang="en-US" sz="1200" dirty="0"/>
          </a:p>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Advisor hierarchy as it existed on a date</a:t>
            </a:r>
            <a:endParaRPr lang="en-US" sz="1200" dirty="0"/>
          </a:p>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Money-in-motion across rolling windows</a:t>
            </a:r>
            <a:endParaRPr lang="en-US" sz="1200" dirty="0"/>
          </a:p>
        </p:txBody>
      </p:sp>
      <p:sp>
        <p:nvSpPr>
          <p:cNvPr id="13" name="Text 10"/>
          <p:cNvSpPr/>
          <p:nvPr/>
        </p:nvSpPr>
        <p:spPr>
          <a:xfrm>
            <a:off x="977900" y="4283714"/>
            <a:ext cx="4889500" cy="561816"/>
          </a:xfrm>
          <a:prstGeom prst="roundRect">
            <a:avLst>
              <a:gd name="adj" fmla="val 11303"/>
            </a:avLst>
          </a:prstGeom>
          <a:solidFill>
            <a:srgbClr val="E4F1EE"/>
          </a:solidFill>
          <a:ln/>
        </p:spPr>
        <p:txBody>
          <a:bodyPr wrap="square" lIns="95701" tIns="70301" rIns="0" bIns="44901" rtlCol="0" anchor="t">
            <a:normAutofit/>
          </a:bodyPr>
          <a:lstStyle/>
          <a:p>
            <a:pPr algn="l" indent="0" marL="0">
              <a:lnSpc>
                <a:spcPts val="1512"/>
              </a:lnSpc>
              <a:buNone/>
            </a:pPr>
            <a:r>
              <a:rPr lang="en-US" sz="1200" dirty="0">
                <a:solidFill>
                  <a:srgbClr val="0B4F46"/>
                </a:solidFill>
                <a:latin typeface="Inter" pitchFamily="34" charset="0"/>
                <a:ea typeface="Inter" pitchFamily="34" charset="-122"/>
                <a:cs typeface="Inter" pitchFamily="34" charset="-120"/>
              </a:rPr>
              <a:t>Relationships carry validity, so one query asks for the graph </a:t>
            </a:r>
            <a:r>
              <a:rPr lang="en-US" sz="1200" b="1" dirty="0">
                <a:solidFill>
                  <a:srgbClr val="0B4F46"/>
                </a:solidFill>
                <a:latin typeface="Inter" pitchFamily="34" charset="0"/>
                <a:ea typeface="Inter" pitchFamily="34" charset="-122"/>
                <a:cs typeface="Inter" pitchFamily="34" charset="-120"/>
              </a:rPr>
              <a:t>as of</a:t>
            </a:r>
            <a:r>
              <a:rPr lang="en-US" sz="1200" dirty="0">
                <a:solidFill>
                  <a:srgbClr val="0B4F46"/>
                </a:solidFill>
                <a:latin typeface="Inter" pitchFamily="34" charset="0"/>
                <a:ea typeface="Inter" pitchFamily="34" charset="-122"/>
                <a:cs typeface="Inter" pitchFamily="34" charset="-120"/>
              </a:rPr>
              <a:t> any date. The filter applies while traversing, not after.</a:t>
            </a:r>
            <a:endParaRPr lang="en-US" sz="1200" dirty="0"/>
          </a:p>
        </p:txBody>
      </p:sp>
      <p:sp>
        <p:nvSpPr>
          <p:cNvPr id="14" name="Shape 11"/>
          <p:cNvSpPr/>
          <p:nvPr/>
        </p:nvSpPr>
        <p:spPr>
          <a:xfrm>
            <a:off x="6159500" y="1036321"/>
            <a:ext cx="5219700" cy="3997642"/>
          </a:xfrm>
          <a:prstGeom prst="roundRect">
            <a:avLst>
              <a:gd name="adj" fmla="val 2224"/>
            </a:avLst>
          </a:prstGeom>
          <a:solidFill>
            <a:srgbClr val="F5F8F9"/>
          </a:solidFill>
          <a:ln/>
        </p:spPr>
      </p:sp>
      <p:sp>
        <p:nvSpPr>
          <p:cNvPr id="15" name="Shape 12"/>
          <p:cNvSpPr/>
          <p:nvPr/>
        </p:nvSpPr>
        <p:spPr>
          <a:xfrm>
            <a:off x="6159500" y="1036321"/>
            <a:ext cx="5219700" cy="3997642"/>
          </a:xfrm>
          <a:custGeom>
            <a:avLst/>
            <a:gdLst/>
            <a:ahLst/>
            <a:cxnLst/>
            <a:rect l="l" t="t" r="r" b="b"/>
            <a:pathLst>
              <a:path w="5219700" h="3997642">
                <a:moveTo>
                  <a:pt x="0" y="88900"/>
                </a:moveTo>
                <a:lnTo>
                  <a:pt x="0" y="88900"/>
                </a:lnTo>
                <a:arcTo hR="88900" wR="88900" stAng="10800000" swAng="5400000"/>
                <a:lnTo>
                  <a:pt x="5130800" y="0"/>
                </a:lnTo>
                <a:arcTo hR="88900" wR="88900" stAng="16200000" swAng="5400000"/>
                <a:lnTo>
                  <a:pt x="5219700" y="88900"/>
                </a:lnTo>
                <a:arcTo hR="57150" wR="88900" stAng="0" swAng="-5400000"/>
                <a:lnTo>
                  <a:pt x="88900" y="31750"/>
                </a:lnTo>
                <a:arcTo hR="57150" wR="88900" stAng="16200000" swAng="-5400000"/>
                <a:close/>
              </a:path>
            </a:pathLst>
          </a:custGeom>
          <a:solidFill>
            <a:srgbClr val="D98324"/>
          </a:solidFill>
          <a:ln/>
        </p:spPr>
      </p:sp>
      <p:pic>
        <p:nvPicPr>
          <p:cNvPr id="16" name="Image 1" descr="Book">    </p:cNvPr>
          <p:cNvPicPr>
            <a:picLocks noChangeAspect="1"/>
          </p:cNvPicPr>
          <p:nvPr/>
        </p:nvPicPr>
        <p:blipFill>
          <a:blip r:embed="rId2"/>
          <a:srcRect l="0" r="0" t="0" b="0"/>
          <a:stretch/>
        </p:blipFill>
        <p:spPr>
          <a:xfrm>
            <a:off x="6324600" y="1212850"/>
            <a:ext cx="215900" cy="215900"/>
          </a:xfrm>
          <a:prstGeom prst="rect">
            <a:avLst/>
          </a:prstGeom>
        </p:spPr>
      </p:pic>
      <p:sp>
        <p:nvSpPr>
          <p:cNvPr id="17" name="Text 13"/>
          <p:cNvSpPr/>
          <p:nvPr/>
        </p:nvSpPr>
        <p:spPr>
          <a:xfrm>
            <a:off x="6616700" y="1206500"/>
            <a:ext cx="1383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622"/>
                </a:solidFill>
                <a:latin typeface="Space Grotesk" pitchFamily="34" charset="0"/>
                <a:ea typeface="Space Grotesk" pitchFamily="34" charset="-122"/>
                <a:cs typeface="Space Grotesk" pitchFamily="34" charset="-120"/>
              </a:rPr>
              <a:t>Context graph</a:t>
            </a:r>
            <a:endParaRPr lang="en-US" sz="1500" dirty="0"/>
          </a:p>
        </p:txBody>
      </p:sp>
      <p:sp>
        <p:nvSpPr>
          <p:cNvPr id="18" name="Text 14"/>
          <p:cNvSpPr/>
          <p:nvPr/>
        </p:nvSpPr>
        <p:spPr>
          <a:xfrm>
            <a:off x="6324600" y="1498600"/>
            <a:ext cx="5036185" cy="28321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B06A1E"/>
                </a:solidFill>
                <a:latin typeface="Instrument Serif" pitchFamily="34" charset="0"/>
                <a:ea typeface="Instrument Serif" pitchFamily="34" charset="-122"/>
                <a:cs typeface="Instrument Serif" pitchFamily="34" charset="-120"/>
              </a:rPr>
              <a:t>What the agent knows, and where it came from</a:t>
            </a:r>
            <a:endParaRPr lang="en-US" sz="1450" dirty="0"/>
          </a:p>
        </p:txBody>
      </p:sp>
      <p:sp>
        <p:nvSpPr>
          <p:cNvPr id="19" name="Text 15"/>
          <p:cNvSpPr/>
          <p:nvPr/>
        </p:nvSpPr>
        <p:spPr>
          <a:xfrm>
            <a:off x="6324600" y="1819914"/>
            <a:ext cx="50361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622"/>
                </a:solidFill>
                <a:latin typeface="Inter" pitchFamily="34" charset="0"/>
                <a:ea typeface="Inter" pitchFamily="34" charset="-122"/>
                <a:cs typeface="Inter" pitchFamily="34" charset="-120"/>
              </a:rPr>
              <a:t>The problem it solves</a:t>
            </a:r>
            <a:endParaRPr lang="en-US" sz="1200" dirty="0"/>
          </a:p>
        </p:txBody>
      </p:sp>
      <p:sp>
        <p:nvSpPr>
          <p:cNvPr id="20" name="Text 16"/>
          <p:cNvSpPr/>
          <p:nvPr/>
        </p:nvSpPr>
        <p:spPr>
          <a:xfrm>
            <a:off x="6324600" y="2096771"/>
            <a:ext cx="5036185" cy="817880"/>
          </a:xfrm>
          <a:prstGeom prst="rect">
            <a:avLst/>
          </a:prstGeom>
          <a:noFill/>
          <a:ln/>
        </p:spPr>
        <p:txBody>
          <a:bodyPr wrap="square" lIns="0" tIns="0" rIns="0" bIns="0" rtlCol="0" anchor="t">
            <a:normAutofit/>
          </a:bodyPr>
          <a:lstStyle/>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Agents that forget what was already discussed</a:t>
            </a:r>
            <a:endParaRPr lang="en-US" sz="1200" dirty="0"/>
          </a:p>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Answers ignoring prior decisions and outcomes</a:t>
            </a:r>
            <a:endParaRPr lang="en-US" sz="1200" dirty="0"/>
          </a:p>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Coaching repeating advice already rejected</a:t>
            </a:r>
            <a:endParaRPr lang="en-US" sz="1200" dirty="0"/>
          </a:p>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No way to show why the agent said what it said</a:t>
            </a:r>
            <a:endParaRPr lang="en-US" sz="1200" dirty="0"/>
          </a:p>
        </p:txBody>
      </p:sp>
      <p:sp>
        <p:nvSpPr>
          <p:cNvPr id="21" name="Text 17"/>
          <p:cNvSpPr/>
          <p:nvPr/>
        </p:nvSpPr>
        <p:spPr>
          <a:xfrm>
            <a:off x="6324600" y="2952750"/>
            <a:ext cx="50361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622"/>
                </a:solidFill>
                <a:latin typeface="Inter" pitchFamily="34" charset="0"/>
                <a:ea typeface="Inter" pitchFamily="34" charset="-122"/>
                <a:cs typeface="Inter" pitchFamily="34" charset="-120"/>
              </a:rPr>
              <a:t>Five memory types, linked</a:t>
            </a:r>
            <a:endParaRPr lang="en-US" sz="1200" dirty="0"/>
          </a:p>
        </p:txBody>
      </p:sp>
      <p:sp>
        <p:nvSpPr>
          <p:cNvPr id="22" name="Text 18"/>
          <p:cNvSpPr/>
          <p:nvPr/>
        </p:nvSpPr>
        <p:spPr>
          <a:xfrm>
            <a:off x="6324600" y="3229614"/>
            <a:ext cx="1131491" cy="302260"/>
          </a:xfrm>
          <a:prstGeom prst="roundRect">
            <a:avLst>
              <a:gd name="adj" fmla="val 16807"/>
            </a:avLst>
          </a:prstGeom>
          <a:solidFill>
            <a:srgbClr val="FBF0E2"/>
          </a:solidFill>
          <a:ln/>
        </p:spPr>
        <p:txBody>
          <a:bodyPr wrap="none" lIns="0" tIns="0" rIns="0" bIns="0" rtlCol="0" anchor="ctr">
            <a:normAutofit/>
          </a:bodyPr>
          <a:lstStyle/>
          <a:p>
            <a:pPr algn="ctr" indent="0" marL="0">
              <a:lnSpc>
                <a:spcPts val="1680"/>
              </a:lnSpc>
              <a:buNone/>
            </a:pPr>
            <a:r>
              <a:rPr lang="en-US" sz="1200" dirty="0">
                <a:solidFill>
                  <a:srgbClr val="8A5518"/>
                </a:solidFill>
                <a:latin typeface="Inter" pitchFamily="34" charset="0"/>
                <a:ea typeface="Inter" pitchFamily="34" charset="-122"/>
                <a:cs typeface="Inter" pitchFamily="34" charset="-120"/>
              </a:rPr>
              <a:t>Conversation</a:t>
            </a:r>
            <a:endParaRPr lang="en-US" sz="1200" dirty="0"/>
          </a:p>
        </p:txBody>
      </p:sp>
      <p:sp>
        <p:nvSpPr>
          <p:cNvPr id="23" name="Text 19"/>
          <p:cNvSpPr/>
          <p:nvPr/>
        </p:nvSpPr>
        <p:spPr>
          <a:xfrm>
            <a:off x="7506891" y="3229614"/>
            <a:ext cx="847407" cy="302260"/>
          </a:xfrm>
          <a:prstGeom prst="roundRect">
            <a:avLst>
              <a:gd name="adj" fmla="val 16807"/>
            </a:avLst>
          </a:prstGeom>
          <a:solidFill>
            <a:srgbClr val="FBF0E2"/>
          </a:solidFill>
          <a:ln/>
        </p:spPr>
        <p:txBody>
          <a:bodyPr wrap="none" lIns="0" tIns="0" rIns="0" bIns="0" rtlCol="0" anchor="ctr">
            <a:normAutofit/>
          </a:bodyPr>
          <a:lstStyle/>
          <a:p>
            <a:pPr algn="ctr" indent="0" marL="0">
              <a:lnSpc>
                <a:spcPts val="1680"/>
              </a:lnSpc>
              <a:buNone/>
            </a:pPr>
            <a:r>
              <a:rPr lang="en-US" sz="1200" dirty="0">
                <a:solidFill>
                  <a:srgbClr val="8A5518"/>
                </a:solidFill>
                <a:latin typeface="Inter" pitchFamily="34" charset="0"/>
                <a:ea typeface="Inter" pitchFamily="34" charset="-122"/>
                <a:cs typeface="Inter" pitchFamily="34" charset="-120"/>
              </a:rPr>
              <a:t>Semantic</a:t>
            </a:r>
            <a:endParaRPr lang="en-US" sz="1200" dirty="0"/>
          </a:p>
        </p:txBody>
      </p:sp>
      <p:sp>
        <p:nvSpPr>
          <p:cNvPr id="24" name="Text 20"/>
          <p:cNvSpPr/>
          <p:nvPr/>
        </p:nvSpPr>
        <p:spPr>
          <a:xfrm>
            <a:off x="8405099" y="3229614"/>
            <a:ext cx="788749" cy="302260"/>
          </a:xfrm>
          <a:prstGeom prst="roundRect">
            <a:avLst>
              <a:gd name="adj" fmla="val 16807"/>
            </a:avLst>
          </a:prstGeom>
          <a:solidFill>
            <a:srgbClr val="FBF0E2"/>
          </a:solidFill>
          <a:ln/>
        </p:spPr>
        <p:txBody>
          <a:bodyPr wrap="none" lIns="0" tIns="0" rIns="0" bIns="0" rtlCol="0" anchor="ctr">
            <a:normAutofit/>
          </a:bodyPr>
          <a:lstStyle/>
          <a:p>
            <a:pPr algn="ctr" indent="0" marL="0">
              <a:lnSpc>
                <a:spcPts val="1680"/>
              </a:lnSpc>
              <a:buNone/>
            </a:pPr>
            <a:r>
              <a:rPr lang="en-US" sz="1200" dirty="0">
                <a:solidFill>
                  <a:srgbClr val="8A5518"/>
                </a:solidFill>
                <a:latin typeface="Inter" pitchFamily="34" charset="0"/>
                <a:ea typeface="Inter" pitchFamily="34" charset="-122"/>
                <a:cs typeface="Inter" pitchFamily="34" charset="-120"/>
              </a:rPr>
              <a:t>Episodic</a:t>
            </a:r>
            <a:endParaRPr lang="en-US" sz="1200" dirty="0"/>
          </a:p>
        </p:txBody>
      </p:sp>
      <p:sp>
        <p:nvSpPr>
          <p:cNvPr id="25" name="Text 21"/>
          <p:cNvSpPr/>
          <p:nvPr/>
        </p:nvSpPr>
        <p:spPr>
          <a:xfrm>
            <a:off x="9244647" y="3229614"/>
            <a:ext cx="960596" cy="302260"/>
          </a:xfrm>
          <a:prstGeom prst="roundRect">
            <a:avLst>
              <a:gd name="adj" fmla="val 16807"/>
            </a:avLst>
          </a:prstGeom>
          <a:solidFill>
            <a:srgbClr val="FBF0E2"/>
          </a:solidFill>
          <a:ln/>
        </p:spPr>
        <p:txBody>
          <a:bodyPr wrap="none" lIns="0" tIns="0" rIns="0" bIns="0" rtlCol="0" anchor="ctr">
            <a:normAutofit/>
          </a:bodyPr>
          <a:lstStyle/>
          <a:p>
            <a:pPr algn="ctr" indent="0" marL="0">
              <a:lnSpc>
                <a:spcPts val="1680"/>
              </a:lnSpc>
              <a:buNone/>
            </a:pPr>
            <a:r>
              <a:rPr lang="en-US" sz="1200" dirty="0">
                <a:solidFill>
                  <a:srgbClr val="8A5518"/>
                </a:solidFill>
                <a:latin typeface="Inter" pitchFamily="34" charset="0"/>
                <a:ea typeface="Inter" pitchFamily="34" charset="-122"/>
                <a:cs typeface="Inter" pitchFamily="34" charset="-120"/>
              </a:rPr>
              <a:t>Procedural</a:t>
            </a:r>
            <a:endParaRPr lang="en-US" sz="1200" dirty="0"/>
          </a:p>
        </p:txBody>
      </p:sp>
      <p:sp>
        <p:nvSpPr>
          <p:cNvPr id="26" name="Text 22"/>
          <p:cNvSpPr/>
          <p:nvPr/>
        </p:nvSpPr>
        <p:spPr>
          <a:xfrm>
            <a:off x="6324600" y="3582671"/>
            <a:ext cx="969328" cy="302260"/>
          </a:xfrm>
          <a:prstGeom prst="roundRect">
            <a:avLst>
              <a:gd name="adj" fmla="val 16807"/>
            </a:avLst>
          </a:prstGeom>
          <a:solidFill>
            <a:srgbClr val="FBF0E2"/>
          </a:solidFill>
          <a:ln/>
        </p:spPr>
        <p:txBody>
          <a:bodyPr wrap="none" lIns="0" tIns="0" rIns="0" bIns="0" rtlCol="0" anchor="ctr">
            <a:normAutofit/>
          </a:bodyPr>
          <a:lstStyle/>
          <a:p>
            <a:pPr algn="ctr" indent="0" marL="0">
              <a:lnSpc>
                <a:spcPts val="1680"/>
              </a:lnSpc>
              <a:buNone/>
            </a:pPr>
            <a:r>
              <a:rPr lang="en-US" sz="1200" dirty="0">
                <a:solidFill>
                  <a:srgbClr val="8A5518"/>
                </a:solidFill>
                <a:latin typeface="Inter" pitchFamily="34" charset="0"/>
                <a:ea typeface="Inter" pitchFamily="34" charset="-122"/>
                <a:cs typeface="Inter" pitchFamily="34" charset="-120"/>
              </a:rPr>
              <a:t>Preference</a:t>
            </a:r>
            <a:endParaRPr lang="en-US" sz="1200" dirty="0"/>
          </a:p>
        </p:txBody>
      </p:sp>
      <p:sp>
        <p:nvSpPr>
          <p:cNvPr id="27" name="Text 23"/>
          <p:cNvSpPr/>
          <p:nvPr/>
        </p:nvSpPr>
        <p:spPr>
          <a:xfrm>
            <a:off x="6324600" y="3948429"/>
            <a:ext cx="4889500" cy="945832"/>
          </a:xfrm>
          <a:prstGeom prst="roundRect">
            <a:avLst>
              <a:gd name="adj" fmla="val 6714"/>
            </a:avLst>
          </a:prstGeom>
          <a:solidFill>
            <a:srgbClr val="FBF0E2"/>
          </a:solidFill>
          <a:ln/>
        </p:spPr>
        <p:txBody>
          <a:bodyPr wrap="square" lIns="95701" tIns="70301" rIns="0" bIns="44901" rtlCol="0" anchor="t">
            <a:normAutofit/>
          </a:bodyPr>
          <a:lstStyle/>
          <a:p>
            <a:pPr algn="l" indent="0" marL="0">
              <a:lnSpc>
                <a:spcPts val="1512"/>
              </a:lnSpc>
              <a:buNone/>
            </a:pPr>
            <a:r>
              <a:rPr lang="en-US" sz="1200" dirty="0">
                <a:solidFill>
                  <a:srgbClr val="8A5518"/>
                </a:solidFill>
                <a:latin typeface="Inter" pitchFamily="34" charset="0"/>
                <a:ea typeface="Inter" pitchFamily="34" charset="-122"/>
                <a:cs typeface="Inter" pitchFamily="34" charset="-120"/>
              </a:rPr>
              <a:t>Memory is useful only when linked — this fact came from that interaction, superseded this one, applies to that household. A vector store holds them side by side with </a:t>
            </a:r>
            <a:r>
              <a:rPr lang="en-US" sz="1200" b="1" dirty="0">
                <a:solidFill>
                  <a:srgbClr val="8A5518"/>
                </a:solidFill>
                <a:latin typeface="Inter" pitchFamily="34" charset="0"/>
                <a:ea typeface="Inter" pitchFamily="34" charset="-122"/>
                <a:cs typeface="Inter" pitchFamily="34" charset="-120"/>
              </a:rPr>
              <a:t>no relationship between them</a:t>
            </a:r>
            <a:r>
              <a:rPr lang="en-US" sz="1200" dirty="0">
                <a:solidFill>
                  <a:srgbClr val="8A5518"/>
                </a:solidFill>
                <a:latin typeface="Inter" pitchFamily="34" charset="0"/>
                <a:ea typeface="Inter" pitchFamily="34" charset="-122"/>
                <a:cs typeface="Inter" pitchFamily="34" charset="-120"/>
              </a:rPr>
              <a:t>.</a:t>
            </a:r>
            <a:endParaRPr lang="en-US" sz="1200" dirty="0"/>
          </a:p>
        </p:txBody>
      </p:sp>
      <p:sp>
        <p:nvSpPr>
          <p:cNvPr id="28" name="Text 24"/>
          <p:cNvSpPr/>
          <p:nvPr/>
        </p:nvSpPr>
        <p:spPr>
          <a:xfrm>
            <a:off x="812800" y="633095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0897A"/>
                </a:solidFill>
                <a:latin typeface="Space Grotesk" pitchFamily="34" charset="0"/>
                <a:ea typeface="Space Grotesk" pitchFamily="34" charset="-122"/>
                <a:cs typeface="Space Grotesk" pitchFamily="34" charset="-120"/>
              </a:rPr>
              <a:t>Temporal answers </a:t>
            </a:r>
            <a:r>
              <a:rPr lang="en-US" sz="1250" b="1" i="1" dirty="0">
                <a:solidFill>
                  <a:srgbClr val="10897A"/>
                </a:solidFill>
                <a:latin typeface="Space Grotesk" pitchFamily="34" charset="0"/>
                <a:ea typeface="Space Grotesk" pitchFamily="34" charset="-122"/>
                <a:cs typeface="Space Grotesk" pitchFamily="34" charset="-120"/>
              </a:rPr>
              <a:t>when</a:t>
            </a:r>
            <a:r>
              <a:rPr lang="en-US" sz="1250" b="1" dirty="0">
                <a:solidFill>
                  <a:srgbClr val="10897A"/>
                </a:solidFill>
                <a:latin typeface="Space Grotesk" pitchFamily="34" charset="0"/>
                <a:ea typeface="Space Grotesk" pitchFamily="34" charset="-122"/>
                <a:cs typeface="Space Grotesk" pitchFamily="34" charset="-120"/>
              </a:rPr>
              <a:t>. Context answers </a:t>
            </a:r>
            <a:r>
              <a:rPr lang="en-US" sz="1250" b="1" i="1" dirty="0">
                <a:solidFill>
                  <a:srgbClr val="10897A"/>
                </a:solidFill>
                <a:latin typeface="Space Grotesk" pitchFamily="34" charset="0"/>
                <a:ea typeface="Space Grotesk" pitchFamily="34" charset="-122"/>
                <a:cs typeface="Space Grotesk" pitchFamily="34" charset="-120"/>
              </a:rPr>
              <a:t>why</a:t>
            </a:r>
            <a:r>
              <a:rPr lang="en-US" sz="1250" b="1" dirty="0">
                <a:solidFill>
                  <a:srgbClr val="10897A"/>
                </a:solidFill>
                <a:latin typeface="Space Grotesk" pitchFamily="34" charset="0"/>
                <a:ea typeface="Space Grotesk" pitchFamily="34" charset="-122"/>
                <a:cs typeface="Space Grotesk" pitchFamily="34" charset="-120"/>
              </a:rPr>
              <a:t>. Together they turn a fluent assistant into an auditable one.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62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403C"/>
              </a:gs>
              <a:gs pos="60000">
                <a:srgbClr val="0B1622"/>
              </a:gs>
            </a:gsLst>
            <a:path path="circle">
              <a:fillToRect l="15000" t="90000" r="85000" b="10000"/>
            </a:path>
          </a:gradFill>
          <a:ln/>
        </p:spPr>
      </p:sp>
      <p:sp>
        <p:nvSpPr>
          <p:cNvPr id="3" name="Text 1"/>
          <p:cNvSpPr/>
          <p:nvPr/>
        </p:nvSpPr>
        <p:spPr>
          <a:xfrm>
            <a:off x="812800" y="609600"/>
            <a:ext cx="3958556"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F5F8F9"/>
                </a:solidFill>
                <a:latin typeface="Space Grotesk" pitchFamily="34" charset="0"/>
                <a:ea typeface="Space Grotesk" pitchFamily="34" charset="-122"/>
                <a:cs typeface="Space Grotesk" pitchFamily="34" charset="-120"/>
              </a:rPr>
              <a:t>Scale and performance</a:t>
            </a:r>
            <a:endParaRPr lang="en-US" sz="2700" dirty="0"/>
          </a:p>
        </p:txBody>
      </p:sp>
      <p:sp>
        <p:nvSpPr>
          <p:cNvPr id="4" name="Text 2"/>
          <p:cNvSpPr/>
          <p:nvPr/>
        </p:nvSpPr>
        <p:spPr>
          <a:xfrm>
            <a:off x="4795758" y="751842"/>
            <a:ext cx="2454323"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9FB3BE"/>
                </a:solidFill>
                <a:latin typeface="Inter" pitchFamily="34" charset="0"/>
                <a:ea typeface="Inter" pitchFamily="34" charset="-122"/>
                <a:cs typeface="Inter" pitchFamily="34" charset="-120"/>
              </a:rPr>
              <a:t>Built for where the data is going</a:t>
            </a:r>
            <a:endParaRPr lang="en-US" sz="1250" dirty="0"/>
          </a:p>
        </p:txBody>
      </p:sp>
      <p:sp>
        <p:nvSpPr>
          <p:cNvPr id="5" name="Shape 3"/>
          <p:cNvSpPr/>
          <p:nvPr/>
        </p:nvSpPr>
        <p:spPr>
          <a:xfrm>
            <a:off x="812800" y="1151892"/>
            <a:ext cx="2095500" cy="1677035"/>
          </a:xfrm>
          <a:prstGeom prst="roundRect">
            <a:avLst>
              <a:gd name="adj" fmla="val 5301"/>
            </a:avLst>
          </a:prstGeom>
          <a:solidFill>
            <a:srgbClr val="142639"/>
          </a:solidFill>
          <a:ln/>
        </p:spPr>
      </p:sp>
      <p:sp>
        <p:nvSpPr>
          <p:cNvPr id="6" name="Text 4"/>
          <p:cNvSpPr/>
          <p:nvPr/>
        </p:nvSpPr>
        <p:spPr>
          <a:xfrm>
            <a:off x="977900" y="1304292"/>
            <a:ext cx="18182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3C0"/>
                </a:solidFill>
                <a:latin typeface="Space Grotesk" pitchFamily="34" charset="0"/>
                <a:ea typeface="Space Grotesk" pitchFamily="34" charset="-122"/>
                <a:cs typeface="Space Grotesk" pitchFamily="34" charset="-120"/>
              </a:rPr>
              <a:t>WHERE WE ARE</a:t>
            </a:r>
            <a:endParaRPr lang="en-US" sz="1200" dirty="0"/>
          </a:p>
        </p:txBody>
      </p:sp>
      <p:sp>
        <p:nvSpPr>
          <p:cNvPr id="7" name="Text 5"/>
          <p:cNvSpPr/>
          <p:nvPr/>
        </p:nvSpPr>
        <p:spPr>
          <a:xfrm>
            <a:off x="977900" y="1568450"/>
            <a:ext cx="1818259" cy="393700"/>
          </a:xfrm>
          <a:prstGeom prst="rect">
            <a:avLst/>
          </a:prstGeom>
          <a:noFill/>
          <a:ln/>
        </p:spPr>
        <p:txBody>
          <a:bodyPr wrap="square" lIns="0" tIns="0" rIns="0" bIns="0" rtlCol="0" anchor="t">
            <a:normAutofit/>
          </a:bodyPr>
          <a:lstStyle/>
          <a:p>
            <a:pPr algn="l" indent="0" marL="0">
              <a:lnSpc>
                <a:spcPts val="2900"/>
              </a:lnSpc>
              <a:buNone/>
            </a:pPr>
            <a:r>
              <a:rPr lang="en-US" sz="2900" dirty="0">
                <a:solidFill>
                  <a:srgbClr val="F5F8F9"/>
                </a:solidFill>
                <a:latin typeface="Instrument Serif" pitchFamily="34" charset="0"/>
                <a:ea typeface="Instrument Serif" pitchFamily="34" charset="-122"/>
                <a:cs typeface="Instrument Serif" pitchFamily="34" charset="-120"/>
              </a:rPr>
              <a:t>40M</a:t>
            </a:r>
            <a:endParaRPr lang="en-US" sz="2900" dirty="0"/>
          </a:p>
        </p:txBody>
      </p:sp>
      <p:sp>
        <p:nvSpPr>
          <p:cNvPr id="8" name="Text 6"/>
          <p:cNvSpPr/>
          <p:nvPr/>
        </p:nvSpPr>
        <p:spPr>
          <a:xfrm>
            <a:off x="977900" y="1987550"/>
            <a:ext cx="181825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9FB3BE"/>
                </a:solidFill>
                <a:latin typeface="Inter" pitchFamily="34" charset="0"/>
                <a:ea typeface="Inter" pitchFamily="34" charset="-122"/>
                <a:cs typeface="Inter" pitchFamily="34" charset="-120"/>
              </a:rPr>
              <a:t>vertices · 104M edges · 12.4M transactions</a:t>
            </a:r>
            <a:endParaRPr lang="en-US" sz="1250" dirty="0"/>
          </a:p>
        </p:txBody>
      </p:sp>
      <p:pic>
        <p:nvPicPr>
          <p:cNvPr id="9" name="Image 0" descr="arrow-right">    </p:cNvPr>
          <p:cNvPicPr>
            <a:picLocks noChangeAspect="1"/>
          </p:cNvPicPr>
          <p:nvPr/>
        </p:nvPicPr>
        <p:blipFill>
          <a:blip r:embed="rId1"/>
          <a:srcRect l="0" r="0" t="0" b="0"/>
          <a:stretch/>
        </p:blipFill>
        <p:spPr>
          <a:xfrm>
            <a:off x="3086100" y="1882459"/>
            <a:ext cx="406400" cy="215900"/>
          </a:xfrm>
          <a:prstGeom prst="rect">
            <a:avLst/>
          </a:prstGeom>
        </p:spPr>
      </p:pic>
      <p:sp>
        <p:nvSpPr>
          <p:cNvPr id="10" name="Shape 7"/>
          <p:cNvSpPr/>
          <p:nvPr/>
        </p:nvSpPr>
        <p:spPr>
          <a:xfrm>
            <a:off x="3670300" y="1151892"/>
            <a:ext cx="2095500" cy="1677035"/>
          </a:xfrm>
          <a:prstGeom prst="roundRect">
            <a:avLst>
              <a:gd name="adj" fmla="val 5301"/>
            </a:avLst>
          </a:prstGeom>
          <a:solidFill>
            <a:srgbClr val="2A1B0C"/>
          </a:solidFill>
          <a:ln/>
        </p:spPr>
      </p:sp>
      <p:sp>
        <p:nvSpPr>
          <p:cNvPr id="11" name="Text 8"/>
          <p:cNvSpPr/>
          <p:nvPr/>
        </p:nvSpPr>
        <p:spPr>
          <a:xfrm>
            <a:off x="3835400" y="1304292"/>
            <a:ext cx="18182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C99A"/>
                </a:solidFill>
                <a:latin typeface="Space Grotesk" pitchFamily="34" charset="0"/>
                <a:ea typeface="Space Grotesk" pitchFamily="34" charset="-122"/>
                <a:cs typeface="Space Grotesk" pitchFamily="34" charset="-120"/>
              </a:rPr>
              <a:t>WHERE IT GOES</a:t>
            </a:r>
            <a:endParaRPr lang="en-US" sz="1200" dirty="0"/>
          </a:p>
        </p:txBody>
      </p:sp>
      <p:sp>
        <p:nvSpPr>
          <p:cNvPr id="12" name="Text 9"/>
          <p:cNvSpPr/>
          <p:nvPr/>
        </p:nvSpPr>
        <p:spPr>
          <a:xfrm>
            <a:off x="3835400" y="1568450"/>
            <a:ext cx="1818259" cy="393700"/>
          </a:xfrm>
          <a:prstGeom prst="rect">
            <a:avLst/>
          </a:prstGeom>
          <a:noFill/>
          <a:ln/>
        </p:spPr>
        <p:txBody>
          <a:bodyPr wrap="square" lIns="0" tIns="0" rIns="0" bIns="0" rtlCol="0" anchor="t">
            <a:normAutofit/>
          </a:bodyPr>
          <a:lstStyle/>
          <a:p>
            <a:pPr algn="l" indent="0" marL="0">
              <a:lnSpc>
                <a:spcPts val="2900"/>
              </a:lnSpc>
              <a:buNone/>
            </a:pPr>
            <a:r>
              <a:rPr lang="en-US" sz="2900" dirty="0">
                <a:solidFill>
                  <a:srgbClr val="FFFFFF"/>
                </a:solidFill>
                <a:latin typeface="Instrument Serif" pitchFamily="34" charset="0"/>
                <a:ea typeface="Instrument Serif" pitchFamily="34" charset="-122"/>
                <a:cs typeface="Instrument Serif" pitchFamily="34" charset="-120"/>
              </a:rPr>
              <a:t>Billions</a:t>
            </a:r>
            <a:endParaRPr lang="en-US" sz="2900" dirty="0"/>
          </a:p>
        </p:txBody>
      </p:sp>
      <p:sp>
        <p:nvSpPr>
          <p:cNvPr id="13" name="Text 10"/>
          <p:cNvSpPr/>
          <p:nvPr/>
        </p:nvSpPr>
        <p:spPr>
          <a:xfrm>
            <a:off x="3835400" y="1987550"/>
            <a:ext cx="1818259"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D9C3A8"/>
                </a:solidFill>
                <a:latin typeface="Inter" pitchFamily="34" charset="0"/>
                <a:ea typeface="Inter" pitchFamily="34" charset="-122"/>
                <a:cs typeface="Inter" pitchFamily="34" charset="-120"/>
              </a:rPr>
              <a:t>Full history, all business lines, multi-year retention</a:t>
            </a:r>
            <a:endParaRPr lang="en-US" sz="1250" dirty="0"/>
          </a:p>
        </p:txBody>
      </p:sp>
      <p:sp>
        <p:nvSpPr>
          <p:cNvPr id="14" name="Shape 11"/>
          <p:cNvSpPr/>
          <p:nvPr/>
        </p:nvSpPr>
        <p:spPr>
          <a:xfrm>
            <a:off x="5892800" y="1151892"/>
            <a:ext cx="5486400" cy="1677035"/>
          </a:xfrm>
          <a:prstGeom prst="roundRect">
            <a:avLst>
              <a:gd name="adj" fmla="val 5301"/>
            </a:avLst>
          </a:prstGeom>
          <a:solidFill>
            <a:srgbClr val="142639"/>
          </a:solidFill>
          <a:ln/>
        </p:spPr>
      </p:sp>
      <p:sp>
        <p:nvSpPr>
          <p:cNvPr id="15" name="Shape 12"/>
          <p:cNvSpPr/>
          <p:nvPr/>
        </p:nvSpPr>
        <p:spPr>
          <a:xfrm>
            <a:off x="5892800" y="1151892"/>
            <a:ext cx="5486400" cy="1677035"/>
          </a:xfrm>
          <a:custGeom>
            <a:avLst/>
            <a:gdLst/>
            <a:ahLst/>
            <a:cxnLst/>
            <a:rect l="l" t="t" r="r" b="b"/>
            <a:pathLst>
              <a:path w="5486400" h="1677035">
                <a:moveTo>
                  <a:pt x="88900" y="1677035"/>
                </a:moveTo>
                <a:lnTo>
                  <a:pt x="88900" y="1677035"/>
                </a:lnTo>
                <a:arcTo hR="88900" wR="88900" stAng="5400000" swAng="5400000"/>
                <a:lnTo>
                  <a:pt x="0" y="88900"/>
                </a:lnTo>
                <a:arcTo hR="88900" wR="88900" stAng="10800000" swAng="5400000"/>
                <a:lnTo>
                  <a:pt x="88900" y="0"/>
                </a:lnTo>
                <a:arcTo hR="88900" wR="57150" stAng="16200000" swAng="-5400000"/>
                <a:lnTo>
                  <a:pt x="31750" y="1588135"/>
                </a:lnTo>
                <a:arcTo hR="88900" wR="57150" stAng="10800000" swAng="-5400000"/>
                <a:close/>
              </a:path>
            </a:pathLst>
          </a:custGeom>
          <a:solidFill>
            <a:srgbClr val="10897A"/>
          </a:solidFill>
          <a:ln/>
        </p:spPr>
      </p:sp>
      <p:sp>
        <p:nvSpPr>
          <p:cNvPr id="16" name="Text 13"/>
          <p:cNvSpPr/>
          <p:nvPr/>
        </p:nvSpPr>
        <p:spPr>
          <a:xfrm>
            <a:off x="6088380" y="1304292"/>
            <a:ext cx="52794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3C0"/>
                </a:solidFill>
                <a:latin typeface="Space Grotesk" pitchFamily="34" charset="0"/>
                <a:ea typeface="Space Grotesk" pitchFamily="34" charset="-122"/>
                <a:cs typeface="Space Grotesk" pitchFamily="34" charset="-120"/>
              </a:rPr>
              <a:t>WHAT THE ENGINE HAS DEMONSTRATED</a:t>
            </a:r>
            <a:endParaRPr lang="en-US" sz="1200" dirty="0"/>
          </a:p>
        </p:txBody>
      </p:sp>
      <p:sp>
        <p:nvSpPr>
          <p:cNvPr id="17" name="Text 14"/>
          <p:cNvSpPr/>
          <p:nvPr/>
        </p:nvSpPr>
        <p:spPr>
          <a:xfrm>
            <a:off x="6088380" y="1581150"/>
            <a:ext cx="5279492" cy="438150"/>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5F8F9"/>
                </a:solidFill>
                <a:latin typeface="Inter" pitchFamily="34" charset="0"/>
                <a:ea typeface="Inter" pitchFamily="34" charset="-122"/>
                <a:cs typeface="Inter" pitchFamily="34" charset="-120"/>
              </a:rPr>
              <a:t>Independently audited</a:t>
            </a:r>
            <a:r>
              <a:rPr lang="en-US" sz="1250" dirty="0">
                <a:solidFill>
                  <a:srgbClr val="F5F8F9"/>
                </a:solidFill>
                <a:latin typeface="Inter" pitchFamily="34" charset="0"/>
                <a:ea typeface="Inter" pitchFamily="34" charset="-122"/>
                <a:cs typeface="Inter" pitchFamily="34" charset="-120"/>
              </a:rPr>
              <a:t> at every published scale — to </a:t>
            </a:r>
            <a:r>
              <a:rPr lang="en-US" sz="1250" b="1" dirty="0">
                <a:solidFill>
                  <a:srgbClr val="F5F8F9"/>
                </a:solidFill>
                <a:latin typeface="Inter" pitchFamily="34" charset="0"/>
                <a:ea typeface="Inter" pitchFamily="34" charset="-122"/>
                <a:cs typeface="Inter" pitchFamily="34" charset="-120"/>
              </a:rPr>
              <a:t>10,000×</a:t>
            </a:r>
            <a:r>
              <a:rPr lang="en-US" sz="1250" dirty="0">
                <a:solidFill>
                  <a:srgbClr val="F5F8F9"/>
                </a:solidFill>
                <a:latin typeface="Inter" pitchFamily="34" charset="0"/>
                <a:ea typeface="Inter" pitchFamily="34" charset="-122"/>
                <a:cs typeface="Inter" pitchFamily="34" charset="-120"/>
              </a:rPr>
              <a:t> our data volume</a:t>
            </a:r>
            <a:endParaRPr lang="en-US" sz="1250" dirty="0"/>
          </a:p>
        </p:txBody>
      </p:sp>
      <p:sp>
        <p:nvSpPr>
          <p:cNvPr id="18" name="Text 15"/>
          <p:cNvSpPr/>
          <p:nvPr/>
        </p:nvSpPr>
        <p:spPr>
          <a:xfrm>
            <a:off x="6088380" y="2057400"/>
            <a:ext cx="5279492" cy="64452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F5F8F9"/>
                </a:solidFill>
                <a:latin typeface="Inter" pitchFamily="34" charset="0"/>
                <a:ea typeface="Inter" pitchFamily="34" charset="-122"/>
                <a:cs typeface="Inter" pitchFamily="34" charset="-120"/>
              </a:rPr>
              <a:t>72.6bn vertices · 539.6bn edges · 36 TB</a:t>
            </a:r>
            <a:r>
              <a:rPr lang="en-US" sz="1250" dirty="0">
                <a:solidFill>
                  <a:srgbClr val="F5F8F9"/>
                </a:solidFill>
                <a:latin typeface="Inter" pitchFamily="34" charset="0"/>
                <a:ea typeface="Inter" pitchFamily="34" charset="-122"/>
                <a:cs typeface="Inter" pitchFamily="34" charset="-120"/>
              </a:rPr>
              <a:t> on a 40-machine cluster — half of complex analytical queries under one minute, the rest in one to eight</a:t>
            </a:r>
            <a:endParaRPr lang="en-US" sz="1250" dirty="0"/>
          </a:p>
        </p:txBody>
      </p:sp>
      <p:sp>
        <p:nvSpPr>
          <p:cNvPr id="19" name="Text 16"/>
          <p:cNvSpPr/>
          <p:nvPr/>
        </p:nvSpPr>
        <p:spPr>
          <a:xfrm>
            <a:off x="812800" y="2994025"/>
            <a:ext cx="2565400" cy="847725"/>
          </a:xfrm>
          <a:prstGeom prst="roundRect">
            <a:avLst>
              <a:gd name="adj" fmla="val 8989"/>
            </a:avLst>
          </a:prstGeom>
          <a:solidFill>
            <a:srgbClr val="142639"/>
          </a:solidFill>
          <a:ln/>
        </p:spPr>
        <p:txBody>
          <a:bodyPr wrap="square" lIns="117382" tIns="91982" rIns="48802" bIns="66582" rtlCol="0" anchor="t">
            <a:normAutofit/>
          </a:bodyPr>
          <a:lstStyle/>
          <a:p>
            <a:pPr algn="l" indent="0" marL="0">
              <a:lnSpc>
                <a:spcPts val="1625"/>
              </a:lnSpc>
              <a:buNone/>
            </a:pPr>
            <a:r>
              <a:rPr lang="en-US" sz="1250" b="1" dirty="0">
                <a:solidFill>
                  <a:srgbClr val="9FB3BE"/>
                </a:solidFill>
                <a:latin typeface="Inter" pitchFamily="34" charset="0"/>
                <a:ea typeface="Inter" pitchFamily="34" charset="-122"/>
                <a:cs typeface="Inter" pitchFamily="34" charset="-120"/>
              </a:rPr>
              <a:t>Parallel by default</a:t>
            </a:r>
            <a:r>
              <a:rPr lang="en-US" sz="1250" dirty="0">
                <a:solidFill>
                  <a:srgbClr val="9FB3BE"/>
                </a:solidFill>
                <a:latin typeface="Inter" pitchFamily="34" charset="0"/>
                <a:ea typeface="Inter" pitchFamily="34" charset="-122"/>
                <a:cs typeface="Inter" pitchFamily="34" charset="-120"/>
              </a:rPr>
              <a:t> — every query runs across all partitions</a:t>
            </a:r>
            <a:endParaRPr lang="en-US" sz="1250" dirty="0"/>
          </a:p>
        </p:txBody>
      </p:sp>
      <p:sp>
        <p:nvSpPr>
          <p:cNvPr id="20" name="Text 17"/>
          <p:cNvSpPr/>
          <p:nvPr/>
        </p:nvSpPr>
        <p:spPr>
          <a:xfrm>
            <a:off x="3479800" y="2994025"/>
            <a:ext cx="2565400" cy="847725"/>
          </a:xfrm>
          <a:prstGeom prst="roundRect">
            <a:avLst>
              <a:gd name="adj" fmla="val 8989"/>
            </a:avLst>
          </a:prstGeom>
          <a:solidFill>
            <a:srgbClr val="142639"/>
          </a:solidFill>
          <a:ln/>
        </p:spPr>
        <p:txBody>
          <a:bodyPr wrap="square" lIns="117382" tIns="91982" rIns="48802" bIns="66582" rtlCol="0" anchor="t">
            <a:normAutofit/>
          </a:bodyPr>
          <a:lstStyle/>
          <a:p>
            <a:pPr algn="l" indent="0" marL="0">
              <a:lnSpc>
                <a:spcPts val="1625"/>
              </a:lnSpc>
              <a:buNone/>
            </a:pPr>
            <a:r>
              <a:rPr lang="en-US" sz="1250" b="1" dirty="0">
                <a:solidFill>
                  <a:srgbClr val="9FB3BE"/>
                </a:solidFill>
                <a:latin typeface="Inter" pitchFamily="34" charset="0"/>
                <a:ea typeface="Inter" pitchFamily="34" charset="-122"/>
                <a:cs typeface="Inter" pitchFamily="34" charset="-120"/>
              </a:rPr>
              <a:t>Scale by adding machines</a:t>
            </a:r>
            <a:r>
              <a:rPr lang="en-US" sz="1250" dirty="0">
                <a:solidFill>
                  <a:srgbClr val="9FB3BE"/>
                </a:solidFill>
                <a:latin typeface="Inter" pitchFamily="34" charset="0"/>
                <a:ea typeface="Inter" pitchFamily="34" charset="-122"/>
                <a:cs typeface="Inter" pitchFamily="34" charset="-120"/>
              </a:rPr>
              <a:t> — repartitioning is online</a:t>
            </a:r>
            <a:endParaRPr lang="en-US" sz="1250" dirty="0"/>
          </a:p>
        </p:txBody>
      </p:sp>
      <p:sp>
        <p:nvSpPr>
          <p:cNvPr id="21" name="Text 18"/>
          <p:cNvSpPr/>
          <p:nvPr/>
        </p:nvSpPr>
        <p:spPr>
          <a:xfrm>
            <a:off x="6146800" y="2994025"/>
            <a:ext cx="2565400" cy="847725"/>
          </a:xfrm>
          <a:prstGeom prst="roundRect">
            <a:avLst>
              <a:gd name="adj" fmla="val 8989"/>
            </a:avLst>
          </a:prstGeom>
          <a:solidFill>
            <a:srgbClr val="142639"/>
          </a:solidFill>
          <a:ln/>
        </p:spPr>
        <p:txBody>
          <a:bodyPr wrap="square" lIns="117382" tIns="91982" rIns="48802" bIns="66582" rtlCol="0" anchor="t">
            <a:normAutofit/>
          </a:bodyPr>
          <a:lstStyle/>
          <a:p>
            <a:pPr algn="l" indent="0" marL="0">
              <a:lnSpc>
                <a:spcPts val="1625"/>
              </a:lnSpc>
              <a:buNone/>
            </a:pPr>
            <a:r>
              <a:rPr lang="en-US" sz="1250" b="1" dirty="0">
                <a:solidFill>
                  <a:srgbClr val="9FB3BE"/>
                </a:solidFill>
                <a:latin typeface="Inter" pitchFamily="34" charset="0"/>
                <a:ea typeface="Inter" pitchFamily="34" charset="-122"/>
                <a:cs typeface="Inter" pitchFamily="34" charset="-120"/>
              </a:rPr>
              <a:t>Compression</a:t>
            </a:r>
            <a:r>
              <a:rPr lang="en-US" sz="1250" dirty="0">
                <a:solidFill>
                  <a:srgbClr val="9FB3BE"/>
                </a:solidFill>
                <a:latin typeface="Inter" pitchFamily="34" charset="0"/>
                <a:ea typeface="Inter" pitchFamily="34" charset="-122"/>
                <a:cs typeface="Inter" pitchFamily="34" charset="-120"/>
              </a:rPr>
              <a:t> — stored graph smaller than the raw input</a:t>
            </a:r>
            <a:endParaRPr lang="en-US" sz="1250" dirty="0"/>
          </a:p>
        </p:txBody>
      </p:sp>
      <p:sp>
        <p:nvSpPr>
          <p:cNvPr id="22" name="Text 19"/>
          <p:cNvSpPr/>
          <p:nvPr/>
        </p:nvSpPr>
        <p:spPr>
          <a:xfrm>
            <a:off x="8813800" y="2994025"/>
            <a:ext cx="2565400" cy="847725"/>
          </a:xfrm>
          <a:prstGeom prst="roundRect">
            <a:avLst>
              <a:gd name="adj" fmla="val 8989"/>
            </a:avLst>
          </a:prstGeom>
          <a:solidFill>
            <a:srgbClr val="142639"/>
          </a:solidFill>
          <a:ln/>
        </p:spPr>
        <p:txBody>
          <a:bodyPr wrap="square" lIns="117382" tIns="91982" rIns="48802" bIns="66582" rtlCol="0" anchor="t">
            <a:normAutofit/>
          </a:bodyPr>
          <a:lstStyle/>
          <a:p>
            <a:pPr algn="l" indent="0" marL="0">
              <a:lnSpc>
                <a:spcPts val="1625"/>
              </a:lnSpc>
              <a:buNone/>
            </a:pPr>
            <a:r>
              <a:rPr lang="en-US" sz="1250" b="1" dirty="0">
                <a:solidFill>
                  <a:srgbClr val="9FB3BE"/>
                </a:solidFill>
                <a:latin typeface="Inter" pitchFamily="34" charset="0"/>
                <a:ea typeface="Inter" pitchFamily="34" charset="-122"/>
                <a:cs typeface="Inter" pitchFamily="34" charset="-120"/>
              </a:rPr>
              <a:t>Workload separation</a:t>
            </a:r>
            <a:r>
              <a:rPr lang="en-US" sz="1250" dirty="0">
                <a:solidFill>
                  <a:srgbClr val="9FB3BE"/>
                </a:solidFill>
                <a:latin typeface="Inter" pitchFamily="34" charset="0"/>
                <a:ea typeface="Inter" pitchFamily="34" charset="-122"/>
                <a:cs typeface="Inter" pitchFamily="34" charset="-120"/>
              </a:rPr>
              <a:t> — advisor queries and batch on separate capacity</a:t>
            </a:r>
            <a:endParaRPr lang="en-US" sz="1250" dirty="0"/>
          </a:p>
        </p:txBody>
      </p:sp>
      <p:sp>
        <p:nvSpPr>
          <p:cNvPr id="23" name="Text 20"/>
          <p:cNvSpPr/>
          <p:nvPr/>
        </p:nvSpPr>
        <p:spPr>
          <a:xfrm>
            <a:off x="812800" y="628015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9FB3BE"/>
                </a:solidFill>
                <a:latin typeface="Inter" pitchFamily="34" charset="0"/>
                <a:ea typeface="Inter" pitchFamily="34" charset="-122"/>
                <a:cs typeface="Inter" pitchFamily="34" charset="-120"/>
              </a:rPr>
              <a:t>The tested configuration is roughly </a:t>
            </a:r>
            <a:r>
              <a:rPr lang="en-US" sz="1250" b="1" dirty="0">
                <a:solidFill>
                  <a:srgbClr val="9FB3BE"/>
                </a:solidFill>
                <a:latin typeface="Inter" pitchFamily="34" charset="0"/>
                <a:ea typeface="Inter" pitchFamily="34" charset="-122"/>
                <a:cs typeface="Inter" pitchFamily="34" charset="-120"/>
              </a:rPr>
              <a:t>1,800×</a:t>
            </a:r>
            <a:r>
              <a:rPr lang="en-US" sz="1250" dirty="0">
                <a:solidFill>
                  <a:srgbClr val="9FB3BE"/>
                </a:solidFill>
                <a:latin typeface="Inter" pitchFamily="34" charset="0"/>
                <a:ea typeface="Inter" pitchFamily="34" charset="-122"/>
                <a:cs typeface="Inter" pitchFamily="34" charset="-120"/>
              </a:rPr>
              <a:t> our current data volume. The same architecture still holds at a thousand times the data.</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33400"/>
            <a:ext cx="2775870"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B1622"/>
                </a:solidFill>
                <a:latin typeface="Space Grotesk" pitchFamily="34" charset="0"/>
                <a:ea typeface="Space Grotesk" pitchFamily="34" charset="-122"/>
                <a:cs typeface="Space Grotesk" pitchFamily="34" charset="-120"/>
              </a:rPr>
              <a:t>Cost comparison</a:t>
            </a:r>
            <a:endParaRPr lang="en-US" sz="2600" dirty="0"/>
          </a:p>
        </p:txBody>
      </p:sp>
      <p:sp>
        <p:nvSpPr>
          <p:cNvPr id="3" name="Text 1"/>
          <p:cNvSpPr/>
          <p:nvPr/>
        </p:nvSpPr>
        <p:spPr>
          <a:xfrm>
            <a:off x="3647520" y="665479"/>
            <a:ext cx="7842223"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Enterprise, self-managed on AWS · every figure below is published by the vendor or arithmetic from it</a:t>
            </a:r>
            <a:endParaRPr lang="en-US" sz="1250" dirty="0"/>
          </a:p>
        </p:txBody>
      </p:sp>
      <p:sp>
        <p:nvSpPr>
          <p:cNvPr id="4" name="Shape 2"/>
          <p:cNvSpPr/>
          <p:nvPr/>
        </p:nvSpPr>
        <p:spPr>
          <a:xfrm>
            <a:off x="812800" y="943372"/>
            <a:ext cx="2555875" cy="797878"/>
          </a:xfrm>
          <a:prstGeom prst="roundRect">
            <a:avLst>
              <a:gd name="adj" fmla="val 11142"/>
            </a:avLst>
          </a:prstGeom>
          <a:solidFill>
            <a:srgbClr val="E4F1EE"/>
          </a:solidFill>
          <a:ln/>
        </p:spPr>
      </p:sp>
      <p:sp>
        <p:nvSpPr>
          <p:cNvPr id="5" name="Text 3"/>
          <p:cNvSpPr/>
          <p:nvPr/>
        </p:nvSpPr>
        <p:spPr>
          <a:xfrm>
            <a:off x="965200" y="1057672"/>
            <a:ext cx="2318607" cy="342900"/>
          </a:xfrm>
          <a:prstGeom prst="rect">
            <a:avLst/>
          </a:prstGeom>
          <a:noFill/>
          <a:ln/>
        </p:spPr>
        <p:txBody>
          <a:bodyPr wrap="square" lIns="0" tIns="0" rIns="0" bIns="0" rtlCol="0" anchor="t">
            <a:normAutofit/>
          </a:bodyPr>
          <a:lstStyle/>
          <a:p>
            <a:pPr algn="l" indent="0" marL="0">
              <a:lnSpc>
                <a:spcPts val="2500"/>
              </a:lnSpc>
              <a:buNone/>
            </a:pPr>
            <a:r>
              <a:rPr lang="en-US" sz="2500" dirty="0">
                <a:solidFill>
                  <a:srgbClr val="0B6B5E"/>
                </a:solidFill>
                <a:latin typeface="Instrument Serif" pitchFamily="34" charset="0"/>
                <a:ea typeface="Instrument Serif" pitchFamily="34" charset="-122"/>
                <a:cs typeface="Instrument Serif" pitchFamily="34" charset="-120"/>
              </a:rPr>
              <a:t>30%</a:t>
            </a:r>
            <a:endParaRPr lang="en-US" sz="2500" dirty="0"/>
          </a:p>
        </p:txBody>
      </p:sp>
      <p:sp>
        <p:nvSpPr>
          <p:cNvPr id="6" name="Text 4"/>
          <p:cNvSpPr/>
          <p:nvPr/>
        </p:nvSpPr>
        <p:spPr>
          <a:xfrm>
            <a:off x="965200" y="1387872"/>
            <a:ext cx="231860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lower list rate, standard tier</a:t>
            </a:r>
            <a:endParaRPr lang="en-US" sz="1200" dirty="0"/>
          </a:p>
        </p:txBody>
      </p:sp>
      <p:sp>
        <p:nvSpPr>
          <p:cNvPr id="7" name="Shape 5"/>
          <p:cNvSpPr/>
          <p:nvPr/>
        </p:nvSpPr>
        <p:spPr>
          <a:xfrm>
            <a:off x="3482975" y="943372"/>
            <a:ext cx="2555875" cy="797878"/>
          </a:xfrm>
          <a:prstGeom prst="roundRect">
            <a:avLst>
              <a:gd name="adj" fmla="val 11142"/>
            </a:avLst>
          </a:prstGeom>
          <a:solidFill>
            <a:srgbClr val="E4F1EE"/>
          </a:solidFill>
          <a:ln/>
        </p:spPr>
      </p:sp>
      <p:sp>
        <p:nvSpPr>
          <p:cNvPr id="8" name="Text 6"/>
          <p:cNvSpPr/>
          <p:nvPr/>
        </p:nvSpPr>
        <p:spPr>
          <a:xfrm>
            <a:off x="3635375" y="1057672"/>
            <a:ext cx="2318607" cy="342900"/>
          </a:xfrm>
          <a:prstGeom prst="rect">
            <a:avLst/>
          </a:prstGeom>
          <a:noFill/>
          <a:ln/>
        </p:spPr>
        <p:txBody>
          <a:bodyPr wrap="square" lIns="0" tIns="0" rIns="0" bIns="0" rtlCol="0" anchor="t">
            <a:normAutofit/>
          </a:bodyPr>
          <a:lstStyle/>
          <a:p>
            <a:pPr algn="l" indent="0" marL="0">
              <a:lnSpc>
                <a:spcPts val="2500"/>
              </a:lnSpc>
              <a:buNone/>
            </a:pPr>
            <a:r>
              <a:rPr lang="en-US" sz="2500" dirty="0">
                <a:solidFill>
                  <a:srgbClr val="0B6B5E"/>
                </a:solidFill>
                <a:latin typeface="Instrument Serif" pitchFamily="34" charset="0"/>
                <a:ea typeface="Instrument Serif" pitchFamily="34" charset="-122"/>
                <a:cs typeface="Instrument Serif" pitchFamily="34" charset="-120"/>
              </a:rPr>
              <a:t>13%</a:t>
            </a:r>
            <a:endParaRPr lang="en-US" sz="2500" dirty="0"/>
          </a:p>
        </p:txBody>
      </p:sp>
      <p:sp>
        <p:nvSpPr>
          <p:cNvPr id="9" name="Text 7"/>
          <p:cNvSpPr/>
          <p:nvPr/>
        </p:nvSpPr>
        <p:spPr>
          <a:xfrm>
            <a:off x="3635375" y="1387872"/>
            <a:ext cx="231860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lower list rate, high availability</a:t>
            </a:r>
            <a:endParaRPr lang="en-US" sz="1200" dirty="0"/>
          </a:p>
        </p:txBody>
      </p:sp>
      <p:sp>
        <p:nvSpPr>
          <p:cNvPr id="10" name="Shape 8"/>
          <p:cNvSpPr/>
          <p:nvPr/>
        </p:nvSpPr>
        <p:spPr>
          <a:xfrm>
            <a:off x="6153150" y="943372"/>
            <a:ext cx="2555875" cy="797878"/>
          </a:xfrm>
          <a:prstGeom prst="roundRect">
            <a:avLst>
              <a:gd name="adj" fmla="val 11142"/>
            </a:avLst>
          </a:prstGeom>
          <a:solidFill>
            <a:srgbClr val="FBF0E2"/>
          </a:solidFill>
          <a:ln/>
        </p:spPr>
      </p:sp>
      <p:sp>
        <p:nvSpPr>
          <p:cNvPr id="11" name="Text 9"/>
          <p:cNvSpPr/>
          <p:nvPr/>
        </p:nvSpPr>
        <p:spPr>
          <a:xfrm>
            <a:off x="6305550" y="1057672"/>
            <a:ext cx="2318607" cy="278368"/>
          </a:xfrm>
          <a:prstGeom prst="rect">
            <a:avLst/>
          </a:prstGeom>
          <a:noFill/>
          <a:ln/>
        </p:spPr>
        <p:txBody>
          <a:bodyPr wrap="square" lIns="0" tIns="0" rIns="0" bIns="0" rtlCol="0" anchor="t">
            <a:normAutofit/>
          </a:bodyPr>
          <a:lstStyle/>
          <a:p>
            <a:pPr algn="l" indent="0" marL="0">
              <a:lnSpc>
                <a:spcPts val="2023"/>
              </a:lnSpc>
              <a:buNone/>
            </a:pPr>
            <a:r>
              <a:rPr lang="en-US" sz="2023" dirty="0">
                <a:solidFill>
                  <a:srgbClr val="8A5518"/>
                </a:solidFill>
                <a:latin typeface="Instrument Serif" pitchFamily="34" charset="0"/>
                <a:ea typeface="Instrument Serif" pitchFamily="34" charset="-122"/>
                <a:cs typeface="Instrument Serif" pitchFamily="34" charset="-120"/>
              </a:rPr>
              <a:t>8×</a:t>
            </a:r>
            <a:endParaRPr lang="en-US" sz="2023" dirty="0"/>
          </a:p>
        </p:txBody>
      </p:sp>
      <p:sp>
        <p:nvSpPr>
          <p:cNvPr id="12" name="Text 10"/>
          <p:cNvSpPr/>
          <p:nvPr/>
        </p:nvSpPr>
        <p:spPr>
          <a:xfrm>
            <a:off x="6305550" y="1323342"/>
            <a:ext cx="2318607" cy="329009"/>
          </a:xfrm>
          <a:prstGeom prst="rect">
            <a:avLst/>
          </a:prstGeom>
          <a:noFill/>
          <a:ln/>
        </p:spPr>
        <p:txBody>
          <a:bodyPr wrap="square" lIns="0" tIns="0" rIns="0" bIns="0" rtlCol="0" anchor="t">
            <a:normAutofit/>
          </a:bodyPr>
          <a:lstStyle/>
          <a:p>
            <a:pPr algn="l" indent="0" marL="0">
              <a:lnSpc>
                <a:spcPts val="1420"/>
              </a:lnSpc>
              <a:buNone/>
            </a:pPr>
            <a:r>
              <a:rPr lang="en-US" sz="1136" dirty="0">
                <a:solidFill>
                  <a:srgbClr val="8A5518"/>
                </a:solidFill>
                <a:latin typeface="Inter" pitchFamily="34" charset="0"/>
                <a:ea typeface="Inter" pitchFamily="34" charset="-122"/>
                <a:cs typeface="Inter" pitchFamily="34" charset="-120"/>
              </a:rPr>
              <a:t>higher published capacity ceiling</a:t>
            </a:r>
            <a:endParaRPr lang="en-US" sz="1136" dirty="0"/>
          </a:p>
        </p:txBody>
      </p:sp>
      <p:sp>
        <p:nvSpPr>
          <p:cNvPr id="13" name="Shape 11"/>
          <p:cNvSpPr/>
          <p:nvPr/>
        </p:nvSpPr>
        <p:spPr>
          <a:xfrm>
            <a:off x="8823325" y="943372"/>
            <a:ext cx="2555875" cy="797878"/>
          </a:xfrm>
          <a:prstGeom prst="roundRect">
            <a:avLst>
              <a:gd name="adj" fmla="val 11142"/>
            </a:avLst>
          </a:prstGeom>
          <a:solidFill>
            <a:srgbClr val="F5F8F9"/>
          </a:solidFill>
          <a:ln/>
        </p:spPr>
      </p:sp>
      <p:sp>
        <p:nvSpPr>
          <p:cNvPr id="14" name="Text 12"/>
          <p:cNvSpPr/>
          <p:nvPr/>
        </p:nvSpPr>
        <p:spPr>
          <a:xfrm>
            <a:off x="8975725" y="1057672"/>
            <a:ext cx="2318607" cy="278368"/>
          </a:xfrm>
          <a:prstGeom prst="rect">
            <a:avLst/>
          </a:prstGeom>
          <a:noFill/>
          <a:ln/>
        </p:spPr>
        <p:txBody>
          <a:bodyPr wrap="square" lIns="0" tIns="0" rIns="0" bIns="0" rtlCol="0" anchor="t">
            <a:normAutofit/>
          </a:bodyPr>
          <a:lstStyle/>
          <a:p>
            <a:pPr algn="l" indent="0" marL="0">
              <a:lnSpc>
                <a:spcPts val="2023"/>
              </a:lnSpc>
              <a:buNone/>
            </a:pPr>
            <a:r>
              <a:rPr lang="en-US" sz="2023" dirty="0">
                <a:solidFill>
                  <a:srgbClr val="5C6B7A"/>
                </a:solidFill>
                <a:latin typeface="Instrument Serif" pitchFamily="34" charset="0"/>
                <a:ea typeface="Instrument Serif" pitchFamily="34" charset="-122"/>
                <a:cs typeface="Instrument Serif" pitchFamily="34" charset="-120"/>
              </a:rPr>
              <a:t>0%</a:t>
            </a:r>
            <a:endParaRPr lang="en-US" sz="2023" dirty="0"/>
          </a:p>
        </p:txBody>
      </p:sp>
      <p:sp>
        <p:nvSpPr>
          <p:cNvPr id="15" name="Text 13"/>
          <p:cNvSpPr/>
          <p:nvPr/>
        </p:nvSpPr>
        <p:spPr>
          <a:xfrm>
            <a:off x="8975725" y="1323342"/>
            <a:ext cx="2318607" cy="329009"/>
          </a:xfrm>
          <a:prstGeom prst="rect">
            <a:avLst/>
          </a:prstGeom>
          <a:noFill/>
          <a:ln/>
        </p:spPr>
        <p:txBody>
          <a:bodyPr wrap="square" lIns="0" tIns="0" rIns="0" bIns="0" rtlCol="0" anchor="t">
            <a:normAutofit/>
          </a:bodyPr>
          <a:lstStyle/>
          <a:p>
            <a:pPr algn="l" indent="0" marL="0">
              <a:lnSpc>
                <a:spcPts val="1270"/>
              </a:lnSpc>
              <a:buNone/>
            </a:pPr>
            <a:r>
              <a:rPr lang="en-US" sz="1016" dirty="0">
                <a:solidFill>
                  <a:srgbClr val="5C6B7A"/>
                </a:solidFill>
                <a:latin typeface="Inter" pitchFamily="34" charset="0"/>
                <a:ea typeface="Inter" pitchFamily="34" charset="-122"/>
                <a:cs typeface="Inter" pitchFamily="34" charset="-120"/>
              </a:rPr>
              <a:t>difference in AWS infrastructure cost</a:t>
            </a:r>
            <a:endParaRPr lang="en-US" sz="1016"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1853012"/>
          <a:ext cx="10556240" cy="2147729"/>
        </p:xfrm>
        <a:graphic>
          <a:graphicData uri="http://schemas.openxmlformats.org/drawingml/2006/table">
            <a:tbl>
              <a:tblPr/>
              <a:tblGrid>
                <a:gridCol w="3377997"/>
                <a:gridCol w="3589122"/>
                <a:gridCol w="3589122"/>
              </a:tblGrid>
              <a:tr h="357902">
                <a:tc>
                  <a:txBody>
                    <a:bodyPr/>
                    <a:lstStyle/>
                    <a:p>
                      <a:pPr indent="0" marL="0">
                        <a:lnSpc>
                          <a:spcPts val="1612"/>
                        </a:lnSpc>
                        <a:buNone/>
                      </a:pPr>
                      <a:r>
                        <a:rPr lang="en-US" sz="1151" b="1" dirty="0">
                          <a:solidFill>
                            <a:srgbClr val="9FB3BE"/>
                          </a:solidFill>
                          <a:latin typeface="Inter" pitchFamily="34" charset="0"/>
                          <a:ea typeface="Inter" pitchFamily="34" charset="-122"/>
                          <a:cs typeface="Inter" pitchFamily="34" charset="-120"/>
                        </a:rPr>
                        <a:t>Published by the vendor</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0D161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161F"/>
                      </a:solidFill>
                      <a:prstDash val="solid"/>
                      <a:round/>
                      <a:headEnd type="none" w="med" len="med"/>
                      <a:tailEnd type="none" w="med" len="med"/>
                    </a:lnB>
                    <a:solidFill>
                      <a:srgbClr val="0B1622"/>
                    </a:solidFill>
                  </a:tcPr>
                </a:tc>
                <a:tc>
                  <a:txBody>
                    <a:bodyPr/>
                    <a:lstStyle/>
                    <a:p>
                      <a:pPr indent="0" marL="0">
                        <a:lnSpc>
                          <a:spcPts val="1612"/>
                        </a:lnSpc>
                        <a:buNone/>
                      </a:pPr>
                      <a:r>
                        <a:rPr lang="en-US" sz="1151" b="1" dirty="0">
                          <a:solidFill>
                            <a:srgbClr val="6FD3C0"/>
                          </a:solidFill>
                          <a:latin typeface="Inter" pitchFamily="34" charset="0"/>
                          <a:ea typeface="Inter" pitchFamily="34" charset="-122"/>
                          <a:cs typeface="Inter" pitchFamily="34" charset="-120"/>
                        </a:rPr>
                        <a:t>TigerGraph</a:t>
                      </a:r>
                      <a:endParaRPr lang="en-US" sz="1151" dirty="0">
                        <a:latin typeface="Inter" charset="0"/>
                        <a:ea typeface="Inter" charset="0"/>
                        <a:cs typeface="Inter" charset="0"/>
                      </a:endParaRPr>
                    </a:p>
                  </a:txBody>
                  <a:tcPr marL="101600" marR="101600" marT="63500" marB="63500" anchor="t">
                    <a:lnL w="12700" cap="flat" cmpd="sng" algn="ctr">
                      <a:solidFill>
                        <a:srgbClr val="0D161F"/>
                      </a:solidFill>
                      <a:prstDash val="solid"/>
                      <a:round/>
                      <a:headEnd type="none" w="med" len="med"/>
                      <a:tailEnd type="none" w="med" len="med"/>
                    </a:lnL>
                    <a:lnR w="12700" cap="flat" cmpd="sng" algn="ctr">
                      <a:solidFill>
                        <a:srgbClr val="0D161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161F"/>
                      </a:solidFill>
                      <a:prstDash val="solid"/>
                      <a:round/>
                      <a:headEnd type="none" w="med" len="med"/>
                      <a:tailEnd type="none" w="med" len="med"/>
                    </a:lnB>
                    <a:solidFill>
                      <a:srgbClr val="0B1622"/>
                    </a:solidFill>
                  </a:tcPr>
                </a:tc>
                <a:tc>
                  <a:txBody>
                    <a:bodyPr/>
                    <a:lstStyle/>
                    <a:p>
                      <a:pPr indent="0" marL="0">
                        <a:lnSpc>
                          <a:spcPts val="1612"/>
                        </a:lnSpc>
                        <a:buNone/>
                      </a:pPr>
                      <a:r>
                        <a:rPr lang="en-US" sz="1151" b="1" dirty="0">
                          <a:solidFill>
                            <a:srgbClr val="9FB3BE"/>
                          </a:solidFill>
                          <a:latin typeface="Inter" pitchFamily="34" charset="0"/>
                          <a:ea typeface="Inter" pitchFamily="34" charset="-122"/>
                          <a:cs typeface="Inter" pitchFamily="34" charset="-120"/>
                        </a:rPr>
                        <a:t>Neo4j</a:t>
                      </a:r>
                      <a:endParaRPr lang="en-US" sz="1151" dirty="0">
                        <a:latin typeface="Inter" charset="0"/>
                        <a:ea typeface="Inter" charset="0"/>
                        <a:cs typeface="Inter" charset="0"/>
                      </a:endParaRPr>
                    </a:p>
                  </a:txBody>
                  <a:tcPr marL="101600" marR="101600" marT="63500" marB="63500" anchor="t">
                    <a:lnL w="12700" cap="flat" cmpd="sng" algn="ctr">
                      <a:solidFill>
                        <a:srgbClr val="0D161F"/>
                      </a:solidFill>
                      <a:prstDash val="solid"/>
                      <a:round/>
                      <a:headEnd type="none" w="med" len="med"/>
                      <a:tailEnd type="none" w="med" len="med"/>
                    </a:lnL>
                    <a:lnR w="12700" cap="flat" cmpd="sng" algn="ctr">
                      <a:solidFill>
                        <a:srgbClr val="0D161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161F"/>
                      </a:solidFill>
                      <a:prstDash val="solid"/>
                      <a:round/>
                      <a:headEnd type="none" w="med" len="med"/>
                      <a:tailEnd type="none" w="med" len="med"/>
                    </a:lnB>
                    <a:solidFill>
                      <a:srgbClr val="0B1622"/>
                    </a:solidFill>
                  </a:tcPr>
                </a:tc>
              </a:tr>
              <a:tr h="357902">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Self-managed Enterprise price</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161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12"/>
                        </a:lnSpc>
                        <a:buNone/>
                      </a:pPr>
                      <a:r>
                        <a:rPr lang="en-US" sz="1151" dirty="0">
                          <a:solidFill>
                            <a:srgbClr val="0B1622"/>
                          </a:solidFill>
                          <a:latin typeface="Inter" pitchFamily="34" charset="0"/>
                          <a:ea typeface="Inter" pitchFamily="34" charset="-122"/>
                          <a:cs typeface="Inter" pitchFamily="34" charset="-120"/>
                        </a:rPr>
                        <a:t>Not published — annual licence by data capacity</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161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Not published — contact sales</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161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81">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List rate, standard</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612"/>
                        </a:lnSpc>
                        <a:buNone/>
                      </a:pPr>
                      <a:r>
                        <a:rPr lang="en-US" sz="1151" dirty="0">
                          <a:solidFill>
                            <a:srgbClr val="0B1622"/>
                          </a:solidFill>
                          <a:latin typeface="Inter" pitchFamily="34" charset="0"/>
                          <a:ea typeface="Inter" pitchFamily="34" charset="-122"/>
                          <a:cs typeface="Inter" pitchFamily="34" charset="-120"/>
                        </a:rPr>
                        <a:t>$45.63 per GB-month</a:t>
                      </a:r>
                      <a:endParaRPr lang="en-US" sz="1151" dirty="0">
                        <a:latin typeface="Inter" charset="0"/>
                        <a:ea typeface="Inter" charset="0"/>
                        <a:cs typeface="Inter" charset="0"/>
                      </a:endParaRPr>
                    </a:p>
                  </a:txBody>
                  <a:tcPr marL="101600" marR="101600" marT="63500" marB="635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$65.00 per GB-month</a:t>
                      </a:r>
                      <a:endParaRPr lang="en-US" sz="1151" dirty="0">
                        <a:latin typeface="Inter" charset="0"/>
                        <a:ea typeface="Inter" charset="0"/>
                        <a:cs typeface="Inter" charset="0"/>
                      </a:endParaRPr>
                    </a:p>
                  </a:txBody>
                  <a:tcPr marL="101600" marR="101600" marT="63500" marB="635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r>
              <a:tr h="357981">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List rate, high availability</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12"/>
                        </a:lnSpc>
                        <a:buNone/>
                      </a:pPr>
                      <a:r>
                        <a:rPr lang="en-US" sz="1151" dirty="0">
                          <a:solidFill>
                            <a:srgbClr val="0B1622"/>
                          </a:solidFill>
                          <a:latin typeface="Inter" pitchFamily="34" charset="0"/>
                          <a:ea typeface="Inter" pitchFamily="34" charset="-122"/>
                          <a:cs typeface="Inter" pitchFamily="34" charset="-120"/>
                        </a:rPr>
                        <a:t>$127.76 per GB-month</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$146.00 per GB-month</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81">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Capacity ceiling published</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612"/>
                        </a:lnSpc>
                        <a:buNone/>
                      </a:pPr>
                      <a:r>
                        <a:rPr lang="en-US" sz="1151" dirty="0">
                          <a:solidFill>
                            <a:srgbClr val="0B1622"/>
                          </a:solidFill>
                          <a:latin typeface="Inter" pitchFamily="34" charset="0"/>
                          <a:ea typeface="Inter" pitchFamily="34" charset="-122"/>
                          <a:cs typeface="Inter" pitchFamily="34" charset="-120"/>
                        </a:rPr>
                        <a:t>4,096 GB per workspace</a:t>
                      </a:r>
                      <a:endParaRPr lang="en-US" sz="1151" dirty="0">
                        <a:latin typeface="Inter" charset="0"/>
                        <a:ea typeface="Inter" charset="0"/>
                        <a:cs typeface="Inter" charset="0"/>
                      </a:endParaRPr>
                    </a:p>
                  </a:txBody>
                  <a:tcPr marL="101600" marR="101600" marT="63500" marB="635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512 GB on AWS · 128 GB standard tier</a:t>
                      </a:r>
                      <a:endParaRPr lang="en-US" sz="1151" dirty="0">
                        <a:latin typeface="Inter" charset="0"/>
                        <a:ea typeface="Inter" charset="0"/>
                        <a:cs typeface="Inter" charset="0"/>
                      </a:endParaRPr>
                    </a:p>
                  </a:txBody>
                  <a:tcPr marL="101600" marR="101600" marT="63500" marB="635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r>
              <a:tr h="357981">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Free edition</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12"/>
                        </a:lnSpc>
                        <a:buNone/>
                      </a:pPr>
                      <a:r>
                        <a:rPr lang="en-US" sz="1151" dirty="0">
                          <a:solidFill>
                            <a:srgbClr val="0B1622"/>
                          </a:solidFill>
                          <a:latin typeface="Inter" pitchFamily="34" charset="0"/>
                          <a:ea typeface="Inter" pitchFamily="34" charset="-122"/>
                          <a:cs typeface="Inter" pitchFamily="34" charset="-120"/>
                        </a:rPr>
                        <a:t>300 GB graph and vector, single server</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12"/>
                        </a:lnSpc>
                        <a:buNone/>
                      </a:pPr>
                      <a:r>
                        <a:rPr lang="en-US" sz="1151" dirty="0">
                          <a:solidFill>
                            <a:srgbClr val="5C6B7A"/>
                          </a:solidFill>
                          <a:latin typeface="Inter" pitchFamily="34" charset="0"/>
                          <a:ea typeface="Inter" pitchFamily="34" charset="-122"/>
                          <a:cs typeface="Inter" pitchFamily="34" charset="-120"/>
                        </a:rPr>
                        <a:t>Community Edition, no clustering or hot backup</a:t>
                      </a:r>
                      <a:endParaRPr lang="en-US" sz="1151" dirty="0">
                        <a:latin typeface="Inter" charset="0"/>
                        <a:ea typeface="Inter" charset="0"/>
                        <a:cs typeface="Inter"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7" name="Shape 14"/>
          <p:cNvSpPr/>
          <p:nvPr/>
        </p:nvSpPr>
        <p:spPr>
          <a:xfrm>
            <a:off x="812800" y="4102336"/>
            <a:ext cx="5226050" cy="1214041"/>
          </a:xfrm>
          <a:prstGeom prst="roundRect">
            <a:avLst>
              <a:gd name="adj" fmla="val 7323"/>
            </a:avLst>
          </a:prstGeom>
          <a:solidFill>
            <a:srgbClr val="F5F8F9"/>
          </a:solidFill>
          <a:ln/>
        </p:spPr>
      </p:sp>
      <p:sp>
        <p:nvSpPr>
          <p:cNvPr id="18" name="Shape 15"/>
          <p:cNvSpPr/>
          <p:nvPr/>
        </p:nvSpPr>
        <p:spPr>
          <a:xfrm>
            <a:off x="812800" y="4102336"/>
            <a:ext cx="5226050" cy="1214041"/>
          </a:xfrm>
          <a:custGeom>
            <a:avLst/>
            <a:gdLst/>
            <a:ahLst/>
            <a:cxnLst/>
            <a:rect l="l" t="t" r="r" b="b"/>
            <a:pathLst>
              <a:path w="5226050" h="1214041">
                <a:moveTo>
                  <a:pt x="88900" y="1214041"/>
                </a:moveTo>
                <a:lnTo>
                  <a:pt x="88900" y="1214041"/>
                </a:lnTo>
                <a:arcTo hR="88900" wR="88900" stAng="5400000" swAng="5400000"/>
                <a:lnTo>
                  <a:pt x="0" y="88900"/>
                </a:lnTo>
                <a:arcTo hR="88900" wR="88900" stAng="10800000" swAng="5400000"/>
                <a:lnTo>
                  <a:pt x="88900" y="0"/>
                </a:lnTo>
                <a:arcTo hR="88900" wR="57150" stAng="16200000" swAng="-5400000"/>
                <a:lnTo>
                  <a:pt x="31750" y="1125141"/>
                </a:lnTo>
                <a:arcTo hR="88900" wR="57150" stAng="10800000" swAng="-5400000"/>
                <a:close/>
              </a:path>
            </a:pathLst>
          </a:custGeom>
          <a:solidFill>
            <a:srgbClr val="10897A"/>
          </a:solidFill>
          <a:ln/>
        </p:spPr>
      </p:sp>
      <p:sp>
        <p:nvSpPr>
          <p:cNvPr id="19" name="Text 16"/>
          <p:cNvSpPr/>
          <p:nvPr/>
        </p:nvSpPr>
        <p:spPr>
          <a:xfrm>
            <a:off x="995680" y="4203936"/>
            <a:ext cx="5037493" cy="187563"/>
          </a:xfrm>
          <a:prstGeom prst="rect">
            <a:avLst/>
          </a:prstGeom>
          <a:noFill/>
          <a:ln/>
        </p:spPr>
        <p:txBody>
          <a:bodyPr wrap="square" lIns="0" tIns="0" rIns="0" bIns="0" rtlCol="0" anchor="t">
            <a:normAutofit/>
          </a:bodyPr>
          <a:lstStyle/>
          <a:p>
            <a:pPr algn="l" indent="0" marL="0">
              <a:lnSpc>
                <a:spcPts val="1321"/>
              </a:lnSpc>
              <a:buNone/>
            </a:pPr>
            <a:r>
              <a:rPr lang="en-US" sz="1101" b="1" dirty="0">
                <a:solidFill>
                  <a:srgbClr val="0B1622"/>
                </a:solidFill>
                <a:latin typeface="Space Grotesk" pitchFamily="34" charset="0"/>
                <a:ea typeface="Space Grotesk" pitchFamily="34" charset="-122"/>
                <a:cs typeface="Space Grotesk" pitchFamily="34" charset="-120"/>
              </a:rPr>
              <a:t>How the rate is derived</a:t>
            </a:r>
            <a:endParaRPr lang="en-US" sz="1101" dirty="0"/>
          </a:p>
        </p:txBody>
      </p:sp>
      <p:sp>
        <p:nvSpPr>
          <p:cNvPr id="20" name="Text 17"/>
          <p:cNvSpPr/>
          <p:nvPr/>
        </p:nvSpPr>
        <p:spPr>
          <a:xfrm>
            <a:off x="995680" y="4404209"/>
            <a:ext cx="5037493" cy="835978"/>
          </a:xfrm>
          <a:prstGeom prst="rect">
            <a:avLst/>
          </a:prstGeom>
          <a:noFill/>
          <a:ln/>
        </p:spPr>
        <p:txBody>
          <a:bodyPr wrap="square" lIns="0" tIns="0" rIns="0" bIns="0" rtlCol="0" anchor="t">
            <a:normAutofit/>
          </a:bodyPr>
          <a:lstStyle/>
          <a:p>
            <a:pPr algn="l" indent="0" marL="0">
              <a:lnSpc>
                <a:spcPts val="1419"/>
              </a:lnSpc>
              <a:buNone/>
            </a:pPr>
            <a:r>
              <a:rPr lang="en-US" sz="1091" dirty="0">
                <a:solidFill>
                  <a:srgbClr val="5C6B7A"/>
                </a:solidFill>
                <a:latin typeface="Inter" pitchFamily="34" charset="0"/>
                <a:ea typeface="Inter" pitchFamily="34" charset="-122"/>
                <a:cs typeface="Inter" pitchFamily="34" charset="-120"/>
              </a:rPr>
              <a:t>TigerGraph publishes compute by workspace: 2 vCPU / 16 GB at $1 per hour. That is $730 per month, or </a:t>
            </a:r>
            <a:r>
              <a:rPr lang="en-US" sz="1091" b="1" dirty="0">
                <a:solidFill>
                  <a:srgbClr val="5C6B7A"/>
                </a:solidFill>
                <a:latin typeface="Inter" pitchFamily="34" charset="0"/>
                <a:ea typeface="Inter" pitchFamily="34" charset="-122"/>
                <a:cs typeface="Inter" pitchFamily="34" charset="-120"/>
              </a:rPr>
              <a:t>$45.63 per GB-month</a:t>
            </a:r>
            <a:r>
              <a:rPr lang="en-US" sz="1091" dirty="0">
                <a:solidFill>
                  <a:srgbClr val="5C6B7A"/>
                </a:solidFill>
                <a:latin typeface="Inter" pitchFamily="34" charset="0"/>
                <a:ea typeface="Inter" pitchFamily="34" charset="-122"/>
                <a:cs typeface="Inter" pitchFamily="34" charset="-120"/>
              </a:rPr>
              <a:t> — and the rate is identical at every tier up to 512 vCPU / 4 TB. The HA figure applies the published 2.8 multiplier. Neo4j states $65 and $146 per GB-month directly.</a:t>
            </a:r>
            <a:endParaRPr lang="en-US" sz="1091" dirty="0"/>
          </a:p>
        </p:txBody>
      </p:sp>
      <p:sp>
        <p:nvSpPr>
          <p:cNvPr id="21" name="Shape 18"/>
          <p:cNvSpPr/>
          <p:nvPr/>
        </p:nvSpPr>
        <p:spPr>
          <a:xfrm>
            <a:off x="6153150" y="4102336"/>
            <a:ext cx="5226050" cy="1214041"/>
          </a:xfrm>
          <a:prstGeom prst="roundRect">
            <a:avLst>
              <a:gd name="adj" fmla="val 7323"/>
            </a:avLst>
          </a:prstGeom>
          <a:solidFill>
            <a:srgbClr val="F5F8F9"/>
          </a:solidFill>
          <a:ln/>
        </p:spPr>
      </p:sp>
      <p:sp>
        <p:nvSpPr>
          <p:cNvPr id="22" name="Shape 19"/>
          <p:cNvSpPr/>
          <p:nvPr/>
        </p:nvSpPr>
        <p:spPr>
          <a:xfrm>
            <a:off x="6153150" y="4102336"/>
            <a:ext cx="5226050" cy="1214041"/>
          </a:xfrm>
          <a:custGeom>
            <a:avLst/>
            <a:gdLst/>
            <a:ahLst/>
            <a:cxnLst/>
            <a:rect l="l" t="t" r="r" b="b"/>
            <a:pathLst>
              <a:path w="5226050" h="1214041">
                <a:moveTo>
                  <a:pt x="88900" y="1214041"/>
                </a:moveTo>
                <a:lnTo>
                  <a:pt x="88900" y="1214041"/>
                </a:lnTo>
                <a:arcTo hR="88900" wR="88900" stAng="5400000" swAng="5400000"/>
                <a:lnTo>
                  <a:pt x="0" y="88900"/>
                </a:lnTo>
                <a:arcTo hR="88900" wR="88900" stAng="10800000" swAng="5400000"/>
                <a:lnTo>
                  <a:pt x="88900" y="0"/>
                </a:lnTo>
                <a:arcTo hR="88900" wR="57150" stAng="16200000" swAng="-5400000"/>
                <a:lnTo>
                  <a:pt x="31750" y="1125141"/>
                </a:lnTo>
                <a:arcTo hR="88900" wR="57150" stAng="10800000" swAng="-5400000"/>
                <a:close/>
              </a:path>
            </a:pathLst>
          </a:custGeom>
          <a:solidFill>
            <a:srgbClr val="5C6B7A"/>
          </a:solidFill>
          <a:ln/>
        </p:spPr>
      </p:sp>
      <p:sp>
        <p:nvSpPr>
          <p:cNvPr id="23" name="Text 20"/>
          <p:cNvSpPr/>
          <p:nvPr/>
        </p:nvSpPr>
        <p:spPr>
          <a:xfrm>
            <a:off x="6336030" y="4203936"/>
            <a:ext cx="5037493" cy="219948"/>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B1622"/>
                </a:solidFill>
                <a:latin typeface="Space Grotesk" pitchFamily="34" charset="0"/>
                <a:ea typeface="Space Grotesk" pitchFamily="34" charset="-122"/>
                <a:cs typeface="Space Grotesk" pitchFamily="34" charset="-120"/>
              </a:rPr>
              <a:t>Example load, identical on both</a:t>
            </a:r>
            <a:endParaRPr lang="en-US" sz="1300" dirty="0"/>
          </a:p>
        </p:txBody>
      </p:sp>
      <p:sp>
        <p:nvSpPr>
          <p:cNvPr id="24" name="Text 21"/>
          <p:cNvSpPr/>
          <p:nvPr/>
        </p:nvSpPr>
        <p:spPr>
          <a:xfrm>
            <a:off x="6336030" y="4436591"/>
            <a:ext cx="5037493" cy="803593"/>
          </a:xfrm>
          <a:prstGeom prst="rect">
            <a:avLst/>
          </a:prstGeom>
          <a:noFill/>
          <a:ln/>
        </p:spPr>
        <p:txBody>
          <a:bodyPr wrap="square" lIns="0" tIns="0" rIns="0" bIns="0" rtlCol="0" anchor="t">
            <a:normAutofit/>
          </a:bodyPr>
          <a:lstStyle/>
          <a:p>
            <a:pPr algn="l" indent="0" marL="0">
              <a:lnSpc>
                <a:spcPts val="1541"/>
              </a:lnSpc>
              <a:buNone/>
            </a:pPr>
            <a:r>
              <a:rPr lang="en-US" sz="1185" dirty="0">
                <a:solidFill>
                  <a:srgbClr val="5C6B7A"/>
                </a:solidFill>
                <a:latin typeface="Inter" pitchFamily="34" charset="0"/>
                <a:ea typeface="Inter" pitchFamily="34" charset="-122"/>
                <a:cs typeface="Inter" pitchFamily="34" charset="-120"/>
              </a:rPr>
              <a:t>100 GB graph · 3 memory-optimised EC2 nodes on EKS · 48 vCPU, 384 GB RAM · gp3 storage and backup. Infrastructure runs roughly </a:t>
            </a:r>
            <a:r>
              <a:rPr lang="en-US" sz="1185" b="1" dirty="0">
                <a:solidFill>
                  <a:srgbClr val="5C6B7A"/>
                </a:solidFill>
                <a:latin typeface="Inter" pitchFamily="34" charset="0"/>
                <a:ea typeface="Inter" pitchFamily="34" charset="-122"/>
                <a:cs typeface="Inter" pitchFamily="34" charset="-120"/>
              </a:rPr>
              <a:t>$25k–30k a year</a:t>
            </a:r>
            <a:r>
              <a:rPr lang="en-US" sz="1185" dirty="0">
                <a:solidFill>
                  <a:srgbClr val="5C6B7A"/>
                </a:solidFill>
                <a:latin typeface="Inter" pitchFamily="34" charset="0"/>
                <a:ea typeface="Inter" pitchFamily="34" charset="-122"/>
                <a:cs typeface="Inter" pitchFamily="34" charset="-120"/>
              </a:rPr>
              <a:t> on demand, </a:t>
            </a:r>
            <a:r>
              <a:rPr lang="en-US" sz="1185" b="1" dirty="0">
                <a:solidFill>
                  <a:srgbClr val="5C6B7A"/>
                </a:solidFill>
                <a:latin typeface="Inter" pitchFamily="34" charset="0"/>
                <a:ea typeface="Inter" pitchFamily="34" charset="-122"/>
                <a:cs typeface="Inter" pitchFamily="34" charset="-120"/>
              </a:rPr>
              <a:t>35–66% less</a:t>
            </a:r>
            <a:r>
              <a:rPr lang="en-US" sz="1185" dirty="0">
                <a:solidFill>
                  <a:srgbClr val="5C6B7A"/>
                </a:solidFill>
                <a:latin typeface="Inter" pitchFamily="34" charset="0"/>
                <a:ea typeface="Inter" pitchFamily="34" charset="-122"/>
                <a:cs typeface="Inter" pitchFamily="34" charset="-120"/>
              </a:rPr>
              <a:t> with Reserved Instances or a Savings Plan. Neither engine changes that figure.</a:t>
            </a:r>
            <a:endParaRPr lang="en-US" sz="1185" dirty="0"/>
          </a:p>
        </p:txBody>
      </p:sp>
      <p:sp>
        <p:nvSpPr>
          <p:cNvPr id="25" name="Shape 22"/>
          <p:cNvSpPr/>
          <p:nvPr/>
        </p:nvSpPr>
        <p:spPr>
          <a:xfrm>
            <a:off x="812800" y="5417976"/>
            <a:ext cx="10566400" cy="728821"/>
          </a:xfrm>
          <a:prstGeom prst="roundRect">
            <a:avLst>
              <a:gd name="adj" fmla="val 12198"/>
            </a:avLst>
          </a:prstGeom>
          <a:solidFill>
            <a:srgbClr val="0B1622"/>
          </a:solidFill>
          <a:ln/>
        </p:spPr>
      </p:sp>
      <p:pic>
        <p:nvPicPr>
          <p:cNvPr id="26" name="Image 0" descr="Key">    </p:cNvPr>
          <p:cNvPicPr>
            <a:picLocks noChangeAspect="1"/>
          </p:cNvPicPr>
          <p:nvPr/>
        </p:nvPicPr>
        <p:blipFill>
          <a:blip r:embed="rId1"/>
          <a:srcRect l="0" r="0" t="0" b="0"/>
          <a:stretch/>
        </p:blipFill>
        <p:spPr>
          <a:xfrm>
            <a:off x="977900" y="5674444"/>
            <a:ext cx="215900" cy="215900"/>
          </a:xfrm>
          <a:prstGeom prst="rect">
            <a:avLst/>
          </a:prstGeom>
        </p:spPr>
      </p:pic>
      <p:sp>
        <p:nvSpPr>
          <p:cNvPr id="27" name="Text 23"/>
          <p:cNvSpPr/>
          <p:nvPr/>
        </p:nvSpPr>
        <p:spPr>
          <a:xfrm>
            <a:off x="1320800" y="5472832"/>
            <a:ext cx="10190099"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CFE3DC"/>
                </a:solidFill>
                <a:latin typeface="Inter" pitchFamily="34" charset="0"/>
                <a:ea typeface="Inter" pitchFamily="34" charset="-122"/>
                <a:cs typeface="Inter" pitchFamily="34" charset="-120"/>
              </a:rPr>
              <a:t>Infrastructure is not the differentiator — it is the same on both. The licence is, and on the only rates either vendor publishes, </a:t>
            </a:r>
            <a:r>
              <a:rPr lang="en-US" sz="1250" b="1" dirty="0">
                <a:solidFill>
                  <a:srgbClr val="CFE3DC"/>
                </a:solidFill>
                <a:latin typeface="Inter" pitchFamily="34" charset="0"/>
                <a:ea typeface="Inter" pitchFamily="34" charset="-122"/>
                <a:cs typeface="Inter" pitchFamily="34" charset="-120"/>
              </a:rPr>
              <a:t>TigerGraph sits 30% below Neo4j at standard tier and 13% below at high availability</a:t>
            </a:r>
            <a:r>
              <a:rPr lang="en-US" sz="1250" dirty="0">
                <a:solidFill>
                  <a:srgbClr val="CFE3DC"/>
                </a:solidFill>
                <a:latin typeface="Inter" pitchFamily="34" charset="0"/>
                <a:ea typeface="Inter" pitchFamily="34" charset="-122"/>
                <a:cs typeface="Inter" pitchFamily="34" charset="-120"/>
              </a:rPr>
              <a:t>, with eight times the published capacity ceiling.</a:t>
            </a:r>
            <a:endParaRPr lang="en-US" sz="1250" dirty="0"/>
          </a:p>
        </p:txBody>
      </p:sp>
      <p:sp>
        <p:nvSpPr>
          <p:cNvPr id="28" name="Text 24"/>
          <p:cNvSpPr/>
          <p:nvPr/>
        </p:nvSpPr>
        <p:spPr>
          <a:xfrm>
            <a:off x="812800" y="6101085"/>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9A6"/>
                </a:solidFill>
                <a:latin typeface="Inter" pitchFamily="34" charset="0"/>
                <a:ea typeface="Inter" pitchFamily="34" charset="-122"/>
                <a:cs typeface="Inter" pitchFamily="34" charset="-120"/>
              </a:rPr>
              <a:t>Rates from tigergraph.com and neo4j.com pricing pages. Self-managed Enterprise is quoted by negotiation at both vendors; published list rates are used here as the vendors' own statement of relative position.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609600"/>
            <a:ext cx="3023918"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B1622"/>
                </a:solidFill>
                <a:latin typeface="Space Grotesk" pitchFamily="34" charset="0"/>
                <a:ea typeface="Space Grotesk" pitchFamily="34" charset="-122"/>
                <a:cs typeface="Space Grotesk" pitchFamily="34" charset="-120"/>
              </a:rPr>
              <a:t>Cost optimisation</a:t>
            </a:r>
            <a:endParaRPr lang="en-US" sz="2700" dirty="0"/>
          </a:p>
        </p:txBody>
      </p:sp>
      <p:sp>
        <p:nvSpPr>
          <p:cNvPr id="3" name="Text 1"/>
          <p:cNvSpPr/>
          <p:nvPr/>
        </p:nvSpPr>
        <p:spPr>
          <a:xfrm>
            <a:off x="3888343" y="741685"/>
            <a:ext cx="279884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6B7A"/>
                </a:solidFill>
                <a:latin typeface="Inter" pitchFamily="34" charset="0"/>
                <a:ea typeface="Inter" pitchFamily="34" charset="-122"/>
                <a:cs typeface="Inter" pitchFamily="34" charset="-120"/>
              </a:rPr>
              <a:t>Three levers, applied from day one</a:t>
            </a:r>
            <a:endParaRPr lang="en-US" sz="1300" dirty="0"/>
          </a:p>
        </p:txBody>
      </p:sp>
      <p:sp>
        <p:nvSpPr>
          <p:cNvPr id="4" name="Shape 2"/>
          <p:cNvSpPr/>
          <p:nvPr/>
        </p:nvSpPr>
        <p:spPr>
          <a:xfrm>
            <a:off x="815975" y="1116967"/>
            <a:ext cx="3431064" cy="3055620"/>
          </a:xfrm>
          <a:prstGeom prst="roundRect">
            <a:avLst>
              <a:gd name="adj" fmla="val 2805"/>
            </a:avLst>
          </a:prstGeom>
          <a:solidFill>
            <a:srgbClr val="FFFFFF"/>
          </a:solidFill>
          <a:ln w="6350">
            <a:solidFill>
              <a:srgbClr val="DFE6EA"/>
            </a:solidFill>
            <a:prstDash val="solid"/>
          </a:ln>
        </p:spPr>
      </p:sp>
      <p:pic>
        <p:nvPicPr>
          <p:cNvPr id="5" name="Image 0" descr="Database">    </p:cNvPr>
          <p:cNvPicPr>
            <a:picLocks noChangeAspect="1"/>
          </p:cNvPicPr>
          <p:nvPr/>
        </p:nvPicPr>
        <p:blipFill>
          <a:blip r:embed="rId1"/>
          <a:srcRect l="0" r="0" t="0" b="0"/>
          <a:stretch/>
        </p:blipFill>
        <p:spPr>
          <a:xfrm>
            <a:off x="982980" y="1280158"/>
            <a:ext cx="203200" cy="203200"/>
          </a:xfrm>
          <a:prstGeom prst="rect">
            <a:avLst/>
          </a:prstGeom>
        </p:spPr>
      </p:pic>
      <p:sp>
        <p:nvSpPr>
          <p:cNvPr id="6" name="Text 3"/>
          <p:cNvSpPr/>
          <p:nvPr/>
        </p:nvSpPr>
        <p:spPr>
          <a:xfrm>
            <a:off x="1262380" y="1271277"/>
            <a:ext cx="1030446"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TigerGraph</a:t>
            </a:r>
            <a:endParaRPr lang="en-US" sz="1450" dirty="0"/>
          </a:p>
        </p:txBody>
      </p:sp>
      <p:sp>
        <p:nvSpPr>
          <p:cNvPr id="7" name="Text 4"/>
          <p:cNvSpPr/>
          <p:nvPr/>
        </p:nvSpPr>
        <p:spPr>
          <a:xfrm>
            <a:off x="982980" y="1568450"/>
            <a:ext cx="3189965" cy="2475230"/>
          </a:xfrm>
          <a:prstGeom prst="rect">
            <a:avLst/>
          </a:prstGeom>
          <a:noFill/>
          <a:ln/>
        </p:spPr>
        <p:txBody>
          <a:bodyPr wrap="square" lIns="0" tIns="0" rIns="0" bIns="0" rtlCol="0" anchor="t">
            <a:normAutofit/>
          </a:bodyPr>
          <a:lstStyle/>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Right-size first — add nodes when measured, not anticipated</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Reserved Instances and Savings Plans on committed compute</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Separate read capacity so batch stays off the serving tier</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Graph holds relationships; detail stays relational</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Off-peak scheduling for algorithms and embeddings</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Non-production stopped when idle</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Compression cuts storage and memory</a:t>
            </a:r>
            <a:endParaRPr lang="en-US" sz="1200" dirty="0"/>
          </a:p>
        </p:txBody>
      </p:sp>
      <p:sp>
        <p:nvSpPr>
          <p:cNvPr id="8" name="Shape 5"/>
          <p:cNvSpPr/>
          <p:nvPr/>
        </p:nvSpPr>
        <p:spPr>
          <a:xfrm>
            <a:off x="4380389" y="1116967"/>
            <a:ext cx="3431143" cy="3055620"/>
          </a:xfrm>
          <a:prstGeom prst="roundRect">
            <a:avLst>
              <a:gd name="adj" fmla="val 2805"/>
            </a:avLst>
          </a:prstGeom>
          <a:solidFill>
            <a:srgbClr val="FFFFFF"/>
          </a:solidFill>
          <a:ln w="6350">
            <a:solidFill>
              <a:srgbClr val="DFE6EA"/>
            </a:solidFill>
            <a:prstDash val="solid"/>
          </a:ln>
        </p:spPr>
      </p:sp>
      <p:pic>
        <p:nvPicPr>
          <p:cNvPr id="9" name="Image 1" descr="Lightbulb">    </p:cNvPr>
          <p:cNvPicPr>
            <a:picLocks noChangeAspect="1"/>
          </p:cNvPicPr>
          <p:nvPr/>
        </p:nvPicPr>
        <p:blipFill>
          <a:blip r:embed="rId2"/>
          <a:srcRect l="0" r="0" t="0" b="0"/>
          <a:stretch/>
        </p:blipFill>
        <p:spPr>
          <a:xfrm>
            <a:off x="4547394" y="1280158"/>
            <a:ext cx="203200" cy="203200"/>
          </a:xfrm>
          <a:prstGeom prst="rect">
            <a:avLst/>
          </a:prstGeom>
        </p:spPr>
      </p:pic>
      <p:sp>
        <p:nvSpPr>
          <p:cNvPr id="10" name="Text 6"/>
          <p:cNvSpPr/>
          <p:nvPr/>
        </p:nvSpPr>
        <p:spPr>
          <a:xfrm>
            <a:off x="4826794" y="1271277"/>
            <a:ext cx="412512"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LLM</a:t>
            </a:r>
            <a:endParaRPr lang="en-US" sz="1450" dirty="0"/>
          </a:p>
        </p:txBody>
      </p:sp>
      <p:sp>
        <p:nvSpPr>
          <p:cNvPr id="11" name="Text 7"/>
          <p:cNvSpPr/>
          <p:nvPr/>
        </p:nvSpPr>
        <p:spPr>
          <a:xfrm>
            <a:off x="4547394" y="1568450"/>
            <a:ext cx="3190047" cy="2475230"/>
          </a:xfrm>
          <a:prstGeom prst="rect">
            <a:avLst/>
          </a:prstGeom>
          <a:noFill/>
          <a:ln/>
        </p:spPr>
        <p:txBody>
          <a:bodyPr wrap="square" lIns="0" tIns="0" rIns="0" bIns="0" rtlCol="0" anchor="t">
            <a:normAutofit/>
          </a:bodyPr>
          <a:lstStyle/>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Right-size the model per role — small models screen and classify</a:t>
            </a:r>
            <a:endParaRPr lang="en-US" sz="1200" dirty="0"/>
          </a:p>
          <a:p>
            <a:pPr algn="l" marL="182880" indent="-148844">
              <a:lnSpc>
                <a:spcPts val="1608"/>
              </a:lnSpc>
              <a:buSzPct val="100000"/>
              <a:buChar char="•"/>
            </a:pPr>
            <a:r>
              <a:rPr lang="en-US" sz="1200" b="1" dirty="0">
                <a:solidFill>
                  <a:srgbClr val="5C6B7A"/>
                </a:solidFill>
                <a:latin typeface="Inter" pitchFamily="34" charset="0"/>
                <a:ea typeface="Inter" pitchFamily="34" charset="-122"/>
                <a:cs typeface="Inter" pitchFamily="34" charset="-120"/>
              </a:rPr>
              <a:t>Context engineering is cost engineering</a:t>
            </a:r>
            <a:r>
              <a:rPr lang="en-US" sz="1200" dirty="0">
                <a:solidFill>
                  <a:srgbClr val="5C6B7A"/>
                </a:solidFill>
                <a:latin typeface="Inter" pitchFamily="34" charset="0"/>
                <a:ea typeface="Inter" pitchFamily="34" charset="-122"/>
                <a:cs typeface="Inter" pitchFamily="34" charset="-120"/>
              </a:rPr>
              <a:t> — ranking, filtering, pruning and compression happen before the call</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Compute once, serve many — insights generated once per advisor</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Embeddings at ingest, never per query</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Caching for repeated questions</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Structured outputs cut retries · batch generation</a:t>
            </a:r>
            <a:endParaRPr lang="en-US" sz="1200" dirty="0"/>
          </a:p>
        </p:txBody>
      </p:sp>
      <p:sp>
        <p:nvSpPr>
          <p:cNvPr id="12" name="Shape 8"/>
          <p:cNvSpPr/>
          <p:nvPr/>
        </p:nvSpPr>
        <p:spPr>
          <a:xfrm>
            <a:off x="7944882" y="1116967"/>
            <a:ext cx="3431143" cy="3055620"/>
          </a:xfrm>
          <a:prstGeom prst="roundRect">
            <a:avLst>
              <a:gd name="adj" fmla="val 2805"/>
            </a:avLst>
          </a:prstGeom>
          <a:solidFill>
            <a:srgbClr val="FFFFFF"/>
          </a:solidFill>
          <a:ln w="6350">
            <a:solidFill>
              <a:srgbClr val="DFE6EA"/>
            </a:solidFill>
            <a:prstDash val="solid"/>
          </a:ln>
        </p:spPr>
      </p:sp>
      <p:pic>
        <p:nvPicPr>
          <p:cNvPr id="13" name="Image 2" descr="Settings">    </p:cNvPr>
          <p:cNvPicPr>
            <a:picLocks noChangeAspect="1"/>
          </p:cNvPicPr>
          <p:nvPr/>
        </p:nvPicPr>
        <p:blipFill>
          <a:blip r:embed="rId3"/>
          <a:srcRect l="0" r="0" t="0" b="0"/>
          <a:stretch/>
        </p:blipFill>
        <p:spPr>
          <a:xfrm>
            <a:off x="8111887" y="1280158"/>
            <a:ext cx="203200" cy="203200"/>
          </a:xfrm>
          <a:prstGeom prst="rect">
            <a:avLst/>
          </a:prstGeom>
        </p:spPr>
      </p:pic>
      <p:sp>
        <p:nvSpPr>
          <p:cNvPr id="14" name="Text 9"/>
          <p:cNvSpPr/>
          <p:nvPr/>
        </p:nvSpPr>
        <p:spPr>
          <a:xfrm>
            <a:off x="8391287" y="1271277"/>
            <a:ext cx="808752"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Platform</a:t>
            </a:r>
            <a:endParaRPr lang="en-US" sz="1450" dirty="0"/>
          </a:p>
        </p:txBody>
      </p:sp>
      <p:sp>
        <p:nvSpPr>
          <p:cNvPr id="15" name="Text 10"/>
          <p:cNvSpPr/>
          <p:nvPr/>
        </p:nvSpPr>
        <p:spPr>
          <a:xfrm>
            <a:off x="8111887" y="1568450"/>
            <a:ext cx="3190047" cy="1862773"/>
          </a:xfrm>
          <a:prstGeom prst="rect">
            <a:avLst/>
          </a:prstGeom>
          <a:noFill/>
          <a:ln/>
        </p:spPr>
        <p:txBody>
          <a:bodyPr wrap="square" lIns="0" tIns="0" rIns="0" bIns="0" rtlCol="0" anchor="t">
            <a:normAutofit/>
          </a:bodyPr>
          <a:lstStyle/>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Compute in the database — fewer rows move, so the application tier stays small</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Asynchronous execution sized to the job, not always-on capacity</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Autoscale to zero in non-production</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Cost per query, per token and per model tracked alongside latency</a:t>
            </a:r>
            <a:endParaRPr lang="en-US" sz="1200" dirty="0"/>
          </a:p>
          <a:p>
            <a:pPr algn="l" marL="182880" indent="-148844">
              <a:lnSpc>
                <a:spcPts val="1608"/>
              </a:lnSpc>
              <a:buSzPct val="100000"/>
              <a:buChar char="•"/>
            </a:pPr>
            <a:r>
              <a:rPr lang="en-US" sz="1200" dirty="0">
                <a:solidFill>
                  <a:srgbClr val="5C6B7A"/>
                </a:solidFill>
                <a:latin typeface="Inter" pitchFamily="34" charset="0"/>
                <a:ea typeface="Inter" pitchFamily="34" charset="-122"/>
                <a:cs typeface="Inter" pitchFamily="34" charset="-120"/>
              </a:rPr>
              <a:t>One platform carries both systems — no second licence</a:t>
            </a:r>
            <a:endParaRPr lang="en-US" sz="1200" dirty="0"/>
          </a:p>
        </p:txBody>
      </p:sp>
      <p:sp>
        <p:nvSpPr>
          <p:cNvPr id="16" name="Shape 11"/>
          <p:cNvSpPr/>
          <p:nvPr/>
        </p:nvSpPr>
        <p:spPr>
          <a:xfrm>
            <a:off x="812800" y="4302758"/>
            <a:ext cx="10566400" cy="740569"/>
          </a:xfrm>
          <a:prstGeom prst="roundRect">
            <a:avLst>
              <a:gd name="adj" fmla="val 12004"/>
            </a:avLst>
          </a:prstGeom>
          <a:solidFill>
            <a:srgbClr val="0B1622"/>
          </a:solidFill>
          <a:ln/>
        </p:spPr>
      </p:sp>
      <p:pic>
        <p:nvPicPr>
          <p:cNvPr id="17" name="Image 3" descr="Key">    </p:cNvPr>
          <p:cNvPicPr>
            <a:picLocks noChangeAspect="1"/>
          </p:cNvPicPr>
          <p:nvPr/>
        </p:nvPicPr>
        <p:blipFill>
          <a:blip r:embed="rId4"/>
          <a:srcRect l="0" r="0" t="0" b="0"/>
          <a:stretch/>
        </p:blipFill>
        <p:spPr>
          <a:xfrm>
            <a:off x="1016000" y="4558742"/>
            <a:ext cx="228600" cy="228600"/>
          </a:xfrm>
          <a:prstGeom prst="rect">
            <a:avLst/>
          </a:prstGeom>
        </p:spPr>
      </p:pic>
      <p:sp>
        <p:nvSpPr>
          <p:cNvPr id="18" name="Text 12"/>
          <p:cNvSpPr/>
          <p:nvPr/>
        </p:nvSpPr>
        <p:spPr>
          <a:xfrm>
            <a:off x="1397000" y="4455158"/>
            <a:ext cx="10072370" cy="461169"/>
          </a:xfrm>
          <a:prstGeom prst="rect">
            <a:avLst/>
          </a:prstGeom>
          <a:noFill/>
          <a:ln/>
        </p:spPr>
        <p:txBody>
          <a:bodyPr wrap="square" lIns="0" tIns="0" rIns="0" bIns="0" rtlCol="0" anchor="t">
            <a:normAutofit/>
          </a:bodyPr>
          <a:lstStyle/>
          <a:p>
            <a:pPr algn="l" indent="0" marL="0">
              <a:lnSpc>
                <a:spcPts val="1716"/>
              </a:lnSpc>
              <a:buNone/>
            </a:pPr>
            <a:r>
              <a:rPr lang="en-US" sz="1300" dirty="0">
                <a:solidFill>
                  <a:srgbClr val="CFE3DC"/>
                </a:solidFill>
                <a:latin typeface="Inter" pitchFamily="34" charset="0"/>
                <a:ea typeface="Inter" pitchFamily="34" charset="-122"/>
                <a:cs typeface="Inter" pitchFamily="34" charset="-120"/>
              </a:rPr>
              <a:t>The largest lever is </a:t>
            </a:r>
            <a:r>
              <a:rPr lang="en-US" sz="1300" b="1" dirty="0">
                <a:solidFill>
                  <a:srgbClr val="CFE3DC"/>
                </a:solidFill>
                <a:latin typeface="Inter" pitchFamily="34" charset="0"/>
                <a:ea typeface="Inter" pitchFamily="34" charset="-122"/>
                <a:cs typeface="Inter" pitchFamily="34" charset="-120"/>
              </a:rPr>
              <a:t>architectural</a:t>
            </a:r>
            <a:r>
              <a:rPr lang="en-US" sz="1300" dirty="0">
                <a:solidFill>
                  <a:srgbClr val="CFE3DC"/>
                </a:solidFill>
                <a:latin typeface="Inter" pitchFamily="34" charset="0"/>
                <a:ea typeface="Inter" pitchFamily="34" charset="-122"/>
                <a:cs typeface="Inter" pitchFamily="34" charset="-120"/>
              </a:rPr>
              <a:t>. Computing in the graph and engineering the context keeps both the infrastructure and the token bill small as the data grows.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3962398"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B1622"/>
                </a:solidFill>
                <a:latin typeface="Space Grotesk" pitchFamily="34" charset="0"/>
                <a:ea typeface="Space Grotesk" pitchFamily="34" charset="-122"/>
                <a:cs typeface="Space Grotesk" pitchFamily="34" charset="-120"/>
              </a:rPr>
              <a:t>What we are building</a:t>
            </a:r>
            <a:endParaRPr lang="en-US" sz="3000" dirty="0"/>
          </a:p>
        </p:txBody>
      </p:sp>
      <p:sp>
        <p:nvSpPr>
          <p:cNvPr id="3" name="Text 1"/>
          <p:cNvSpPr/>
          <p:nvPr/>
        </p:nvSpPr>
        <p:spPr>
          <a:xfrm>
            <a:off x="4812189" y="970285"/>
            <a:ext cx="5575449"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5C6B7A"/>
                </a:solidFill>
                <a:latin typeface="Inter" pitchFamily="34" charset="0"/>
                <a:ea typeface="Inter" pitchFamily="34" charset="-122"/>
                <a:cs typeface="Inter" pitchFamily="34" charset="-120"/>
              </a:rPr>
              <a:t>Two systems. Different domains. The same architectural approach.</a:t>
            </a:r>
            <a:endParaRPr lang="en-US" sz="1350" dirty="0"/>
          </a:p>
        </p:txBody>
      </p:sp>
      <p:sp>
        <p:nvSpPr>
          <p:cNvPr id="4" name="Shape 2"/>
          <p:cNvSpPr/>
          <p:nvPr/>
        </p:nvSpPr>
        <p:spPr>
          <a:xfrm>
            <a:off x="812800" y="1404144"/>
            <a:ext cx="5207000" cy="3449638"/>
          </a:xfrm>
          <a:prstGeom prst="roundRect">
            <a:avLst>
              <a:gd name="adj" fmla="val 2945"/>
            </a:avLst>
          </a:prstGeom>
          <a:solidFill>
            <a:srgbClr val="F5F8F9"/>
          </a:solidFill>
          <a:ln/>
        </p:spPr>
      </p:sp>
      <p:pic>
        <p:nvPicPr>
          <p:cNvPr id="5" name="Image 0" descr="rect">    </p:cNvPr>
          <p:cNvPicPr>
            <a:picLocks noChangeAspect="1"/>
          </p:cNvPicPr>
          <p:nvPr/>
        </p:nvPicPr>
        <p:blipFill>
          <a:blip r:embed="rId1"/>
          <a:srcRect l="0" r="0" t="0" b="0"/>
          <a:stretch/>
        </p:blipFill>
        <p:spPr>
          <a:xfrm>
            <a:off x="1016000" y="1597980"/>
            <a:ext cx="63500" cy="279400"/>
          </a:xfrm>
          <a:prstGeom prst="rect">
            <a:avLst/>
          </a:prstGeom>
        </p:spPr>
      </p:pic>
      <p:sp>
        <p:nvSpPr>
          <p:cNvPr id="6" name="Text 3"/>
          <p:cNvSpPr/>
          <p:nvPr/>
        </p:nvSpPr>
        <p:spPr>
          <a:xfrm>
            <a:off x="1168400" y="1600522"/>
            <a:ext cx="378760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622"/>
                </a:solidFill>
                <a:latin typeface="Space Grotesk" pitchFamily="34" charset="0"/>
                <a:ea typeface="Space Grotesk" pitchFamily="34" charset="-122"/>
                <a:cs typeface="Space Grotesk" pitchFamily="34" charset="-120"/>
              </a:rPr>
              <a:t>Practice Management Dashboard</a:t>
            </a:r>
            <a:endParaRPr lang="en-US" sz="1800" dirty="0"/>
          </a:p>
        </p:txBody>
      </p:sp>
      <p:sp>
        <p:nvSpPr>
          <p:cNvPr id="7" name="Shape 4"/>
          <p:cNvSpPr/>
          <p:nvPr/>
        </p:nvSpPr>
        <p:spPr>
          <a:xfrm>
            <a:off x="1019175" y="1985491"/>
            <a:ext cx="4794250" cy="1370171"/>
          </a:xfrm>
          <a:prstGeom prst="roundRect">
            <a:avLst>
              <a:gd name="adj" fmla="val 5330"/>
            </a:avLst>
          </a:prstGeom>
          <a:solidFill>
            <a:srgbClr val="FFFFFF"/>
          </a:solidFill>
          <a:ln w="6350">
            <a:solidFill>
              <a:srgbClr val="DFE6EA"/>
            </a:solidFill>
            <a:prstDash val="solid"/>
          </a:ln>
        </p:spPr>
      </p:sp>
      <p:pic>
        <p:nvPicPr>
          <p:cNvPr id="8" name="Image 1" descr="Lightning">    </p:cNvPr>
          <p:cNvPicPr>
            <a:picLocks noChangeAspect="1"/>
          </p:cNvPicPr>
          <p:nvPr/>
        </p:nvPicPr>
        <p:blipFill>
          <a:blip r:embed="rId2"/>
          <a:srcRect l="0" r="0" t="0" b="0"/>
          <a:stretch/>
        </p:blipFill>
        <p:spPr>
          <a:xfrm>
            <a:off x="1198880" y="2147181"/>
            <a:ext cx="190500" cy="190500"/>
          </a:xfrm>
          <a:prstGeom prst="rect">
            <a:avLst/>
          </a:prstGeom>
        </p:spPr>
      </p:pic>
      <p:sp>
        <p:nvSpPr>
          <p:cNvPr id="9" name="Text 5"/>
          <p:cNvSpPr/>
          <p:nvPr/>
        </p:nvSpPr>
        <p:spPr>
          <a:xfrm>
            <a:off x="1465580" y="2131938"/>
            <a:ext cx="997664"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Practice AI</a:t>
            </a:r>
            <a:endParaRPr lang="en-US" sz="1450" dirty="0"/>
          </a:p>
        </p:txBody>
      </p:sp>
      <p:sp>
        <p:nvSpPr>
          <p:cNvPr id="10" name="Text 6"/>
          <p:cNvSpPr/>
          <p:nvPr/>
        </p:nvSpPr>
        <p:spPr>
          <a:xfrm>
            <a:off x="2488644" y="2140186"/>
            <a:ext cx="90598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8B99A6"/>
                </a:solidFill>
                <a:latin typeface="Inter" pitchFamily="34" charset="0"/>
                <a:ea typeface="Inter" pitchFamily="34" charset="-122"/>
                <a:cs typeface="Inter" pitchFamily="34" charset="-120"/>
              </a:rPr>
              <a:t>autonomous</a:t>
            </a:r>
            <a:endParaRPr lang="en-US" sz="1150" dirty="0"/>
          </a:p>
        </p:txBody>
      </p:sp>
      <p:sp>
        <p:nvSpPr>
          <p:cNvPr id="11" name="Text 7"/>
          <p:cNvSpPr/>
          <p:nvPr/>
        </p:nvSpPr>
        <p:spPr>
          <a:xfrm>
            <a:off x="1198880" y="2408560"/>
            <a:ext cx="4567885" cy="818197"/>
          </a:xfrm>
          <a:prstGeom prst="rect">
            <a:avLst/>
          </a:prstGeom>
          <a:noFill/>
          <a:ln/>
        </p:spPr>
        <p:txBody>
          <a:bodyPr wrap="square" lIns="0" tIns="0" rIns="0" bIns="0" rtlCol="0" anchor="t">
            <a:normAutofit/>
          </a:bodyPr>
          <a:lstStyle/>
          <a:p>
            <a:pPr algn="l" indent="0" marL="0">
              <a:lnSpc>
                <a:spcPts val="1612"/>
              </a:lnSpc>
              <a:buNone/>
            </a:pPr>
            <a:r>
              <a:rPr lang="en-US" sz="1151" dirty="0">
                <a:solidFill>
                  <a:srgbClr val="5C6B7A"/>
                </a:solidFill>
                <a:latin typeface="Inter" pitchFamily="34" charset="0"/>
                <a:ea typeface="Inter" pitchFamily="34" charset="-122"/>
                <a:cs typeface="Inter" pitchFamily="34" charset="-120"/>
              </a:rPr>
              <a:t>Monthly insights, revenue drivers and exceptions at practice and advisor level, triggered when source processing completes. Rules generated on demand from uploaded documents.</a:t>
            </a:r>
            <a:endParaRPr lang="en-US" sz="1151" dirty="0"/>
          </a:p>
        </p:txBody>
      </p:sp>
      <p:sp>
        <p:nvSpPr>
          <p:cNvPr id="12" name="Shape 8"/>
          <p:cNvSpPr/>
          <p:nvPr/>
        </p:nvSpPr>
        <p:spPr>
          <a:xfrm>
            <a:off x="1019175" y="3476315"/>
            <a:ext cx="4794250" cy="1171099"/>
          </a:xfrm>
          <a:prstGeom prst="roundRect">
            <a:avLst>
              <a:gd name="adj" fmla="val 6236"/>
            </a:avLst>
          </a:prstGeom>
          <a:solidFill>
            <a:srgbClr val="FFFFFF"/>
          </a:solidFill>
          <a:ln w="6350">
            <a:solidFill>
              <a:srgbClr val="DFE6EA"/>
            </a:solidFill>
            <a:prstDash val="solid"/>
          </a:ln>
        </p:spPr>
      </p:sp>
      <p:pic>
        <p:nvPicPr>
          <p:cNvPr id="13" name="Image 2" descr="Chat">    </p:cNvPr>
          <p:cNvPicPr>
            <a:picLocks noChangeAspect="1"/>
          </p:cNvPicPr>
          <p:nvPr/>
        </p:nvPicPr>
        <p:blipFill>
          <a:blip r:embed="rId3"/>
          <a:srcRect l="0" r="0" t="0" b="0"/>
          <a:stretch/>
        </p:blipFill>
        <p:spPr>
          <a:xfrm>
            <a:off x="1198880" y="3637843"/>
            <a:ext cx="190500" cy="190500"/>
          </a:xfrm>
          <a:prstGeom prst="rect">
            <a:avLst/>
          </a:prstGeom>
        </p:spPr>
      </p:pic>
      <p:sp>
        <p:nvSpPr>
          <p:cNvPr id="14" name="Text 9"/>
          <p:cNvSpPr/>
          <p:nvPr/>
        </p:nvSpPr>
        <p:spPr>
          <a:xfrm>
            <a:off x="1465580" y="3622675"/>
            <a:ext cx="1393111"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Practice Coach</a:t>
            </a:r>
            <a:endParaRPr lang="en-US" sz="1450" dirty="0"/>
          </a:p>
        </p:txBody>
      </p:sp>
      <p:sp>
        <p:nvSpPr>
          <p:cNvPr id="15" name="Text 10"/>
          <p:cNvSpPr/>
          <p:nvPr/>
        </p:nvSpPr>
        <p:spPr>
          <a:xfrm>
            <a:off x="2884091" y="3630848"/>
            <a:ext cx="1058863"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8B99A6"/>
                </a:solidFill>
                <a:latin typeface="Inter" pitchFamily="34" charset="0"/>
                <a:ea typeface="Inter" pitchFamily="34" charset="-122"/>
                <a:cs typeface="Inter" pitchFamily="34" charset="-120"/>
              </a:rPr>
              <a:t>conversational</a:t>
            </a:r>
            <a:endParaRPr lang="en-US" sz="1150" dirty="0"/>
          </a:p>
        </p:txBody>
      </p:sp>
      <p:sp>
        <p:nvSpPr>
          <p:cNvPr id="16" name="Text 11"/>
          <p:cNvSpPr/>
          <p:nvPr/>
        </p:nvSpPr>
        <p:spPr>
          <a:xfrm>
            <a:off x="1198880" y="3899136"/>
            <a:ext cx="4567885" cy="619363"/>
          </a:xfrm>
          <a:prstGeom prst="rect">
            <a:avLst/>
          </a:prstGeom>
          <a:noFill/>
          <a:ln/>
        </p:spPr>
        <p:txBody>
          <a:bodyPr wrap="square" lIns="0" tIns="0" rIns="0" bIns="0" rtlCol="0" anchor="t">
            <a:normAutofit/>
          </a:bodyPr>
          <a:lstStyle/>
          <a:p>
            <a:pPr algn="l" indent="0" marL="0">
              <a:lnSpc>
                <a:spcPts val="1648"/>
              </a:lnSpc>
              <a:buNone/>
            </a:pPr>
            <a:r>
              <a:rPr lang="en-US" sz="1177" dirty="0">
                <a:solidFill>
                  <a:srgbClr val="5C6B7A"/>
                </a:solidFill>
                <a:latin typeface="Inter" pitchFamily="34" charset="0"/>
                <a:ea typeface="Inter" pitchFamily="34" charset="-122"/>
                <a:cs typeface="Inter" pitchFamily="34" charset="-120"/>
              </a:rPr>
              <a:t>Answers questions across all data with context-aware reasoning over relationships — not summaries of a dashboard.</a:t>
            </a:r>
            <a:endParaRPr lang="en-US" sz="1177" dirty="0"/>
          </a:p>
        </p:txBody>
      </p:sp>
      <p:sp>
        <p:nvSpPr>
          <p:cNvPr id="17" name="Shape 12"/>
          <p:cNvSpPr/>
          <p:nvPr/>
        </p:nvSpPr>
        <p:spPr>
          <a:xfrm>
            <a:off x="6172200" y="1404144"/>
            <a:ext cx="5207000" cy="3449638"/>
          </a:xfrm>
          <a:prstGeom prst="roundRect">
            <a:avLst>
              <a:gd name="adj" fmla="val 2945"/>
            </a:avLst>
          </a:prstGeom>
          <a:solidFill>
            <a:srgbClr val="F5F8F9"/>
          </a:solidFill>
          <a:ln/>
        </p:spPr>
      </p:sp>
      <p:pic>
        <p:nvPicPr>
          <p:cNvPr id="18" name="Image 3" descr="rect">    </p:cNvPr>
          <p:cNvPicPr>
            <a:picLocks noChangeAspect="1"/>
          </p:cNvPicPr>
          <p:nvPr/>
        </p:nvPicPr>
        <p:blipFill>
          <a:blip r:embed="rId4"/>
          <a:srcRect l="0" r="0" t="0" b="0"/>
          <a:stretch/>
        </p:blipFill>
        <p:spPr>
          <a:xfrm>
            <a:off x="6375400" y="1607344"/>
            <a:ext cx="63500" cy="279400"/>
          </a:xfrm>
          <a:prstGeom prst="rect">
            <a:avLst/>
          </a:prstGeom>
        </p:spPr>
      </p:pic>
      <p:sp>
        <p:nvSpPr>
          <p:cNvPr id="19" name="Text 13"/>
          <p:cNvSpPr/>
          <p:nvPr/>
        </p:nvSpPr>
        <p:spPr>
          <a:xfrm>
            <a:off x="6527800" y="1609886"/>
            <a:ext cx="98829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622"/>
                </a:solidFill>
                <a:latin typeface="Space Grotesk" pitchFamily="34" charset="0"/>
                <a:ea typeface="Space Grotesk" pitchFamily="34" charset="-122"/>
                <a:cs typeface="Space Grotesk" pitchFamily="34" charset="-120"/>
              </a:rPr>
              <a:t>iPerform</a:t>
            </a:r>
            <a:endParaRPr lang="en-US" sz="1800" dirty="0"/>
          </a:p>
        </p:txBody>
      </p:sp>
      <p:sp>
        <p:nvSpPr>
          <p:cNvPr id="20" name="Shape 14"/>
          <p:cNvSpPr/>
          <p:nvPr/>
        </p:nvSpPr>
        <p:spPr>
          <a:xfrm>
            <a:off x="6378575" y="2004219"/>
            <a:ext cx="4794250" cy="1019810"/>
          </a:xfrm>
          <a:prstGeom prst="roundRect">
            <a:avLst>
              <a:gd name="adj" fmla="val 7161"/>
            </a:avLst>
          </a:prstGeom>
          <a:solidFill>
            <a:srgbClr val="FFFFFF"/>
          </a:solidFill>
          <a:ln w="6350">
            <a:solidFill>
              <a:srgbClr val="DFE6EA"/>
            </a:solidFill>
            <a:prstDash val="solid"/>
          </a:ln>
        </p:spPr>
      </p:sp>
      <p:pic>
        <p:nvPicPr>
          <p:cNvPr id="21" name="Image 4" descr="Lightning">    </p:cNvPr>
          <p:cNvPicPr>
            <a:picLocks noChangeAspect="1"/>
          </p:cNvPicPr>
          <p:nvPr/>
        </p:nvPicPr>
        <p:blipFill>
          <a:blip r:embed="rId5"/>
          <a:srcRect l="0" r="0" t="0" b="0"/>
          <a:stretch/>
        </p:blipFill>
        <p:spPr>
          <a:xfrm>
            <a:off x="6558280" y="2173771"/>
            <a:ext cx="190500" cy="190500"/>
          </a:xfrm>
          <a:prstGeom prst="rect">
            <a:avLst/>
          </a:prstGeom>
        </p:spPr>
      </p:pic>
      <p:sp>
        <p:nvSpPr>
          <p:cNvPr id="22" name="Text 15"/>
          <p:cNvSpPr/>
          <p:nvPr/>
        </p:nvSpPr>
        <p:spPr>
          <a:xfrm>
            <a:off x="6824980" y="2158529"/>
            <a:ext cx="1015048"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iPerform AI</a:t>
            </a:r>
            <a:endParaRPr lang="en-US" sz="1450" dirty="0"/>
          </a:p>
        </p:txBody>
      </p:sp>
      <p:sp>
        <p:nvSpPr>
          <p:cNvPr id="23" name="Text 16"/>
          <p:cNvSpPr/>
          <p:nvPr/>
        </p:nvSpPr>
        <p:spPr>
          <a:xfrm>
            <a:off x="7865428" y="2166776"/>
            <a:ext cx="90598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8B99A6"/>
                </a:solidFill>
                <a:latin typeface="Inter" pitchFamily="34" charset="0"/>
                <a:ea typeface="Inter" pitchFamily="34" charset="-122"/>
                <a:cs typeface="Inter" pitchFamily="34" charset="-120"/>
              </a:rPr>
              <a:t>autonomous</a:t>
            </a:r>
            <a:endParaRPr lang="en-US" sz="1150" dirty="0"/>
          </a:p>
        </p:txBody>
      </p:sp>
      <p:sp>
        <p:nvSpPr>
          <p:cNvPr id="24" name="Text 17"/>
          <p:cNvSpPr/>
          <p:nvPr/>
        </p:nvSpPr>
        <p:spPr>
          <a:xfrm>
            <a:off x="6558280" y="2443001"/>
            <a:ext cx="45678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A"/>
                </a:solidFill>
                <a:latin typeface="Inter" pitchFamily="34" charset="0"/>
                <a:ea typeface="Inter" pitchFamily="34" charset="-122"/>
                <a:cs typeface="Inter" pitchFamily="34" charset="-120"/>
              </a:rPr>
              <a:t>Insights, opportunities and recommendations for advisors, generated without user involvement.</a:t>
            </a:r>
            <a:endParaRPr lang="en-US" sz="1200" dirty="0"/>
          </a:p>
        </p:txBody>
      </p:sp>
      <p:sp>
        <p:nvSpPr>
          <p:cNvPr id="25" name="Shape 18"/>
          <p:cNvSpPr/>
          <p:nvPr/>
        </p:nvSpPr>
        <p:spPr>
          <a:xfrm>
            <a:off x="6378575" y="3144676"/>
            <a:ext cx="4794250" cy="1019810"/>
          </a:xfrm>
          <a:prstGeom prst="roundRect">
            <a:avLst>
              <a:gd name="adj" fmla="val 7161"/>
            </a:avLst>
          </a:prstGeom>
          <a:solidFill>
            <a:srgbClr val="FFFFFF"/>
          </a:solidFill>
          <a:ln w="6350">
            <a:solidFill>
              <a:srgbClr val="DFE6EA"/>
            </a:solidFill>
            <a:prstDash val="solid"/>
          </a:ln>
        </p:spPr>
      </p:sp>
      <p:pic>
        <p:nvPicPr>
          <p:cNvPr id="26" name="Image 5" descr="Chat">    </p:cNvPr>
          <p:cNvPicPr>
            <a:picLocks noChangeAspect="1"/>
          </p:cNvPicPr>
          <p:nvPr/>
        </p:nvPicPr>
        <p:blipFill>
          <a:blip r:embed="rId6"/>
          <a:srcRect l="0" r="0" t="0" b="0"/>
          <a:stretch/>
        </p:blipFill>
        <p:spPr>
          <a:xfrm>
            <a:off x="6558280" y="3314229"/>
            <a:ext cx="190500" cy="190500"/>
          </a:xfrm>
          <a:prstGeom prst="rect">
            <a:avLst/>
          </a:prstGeom>
        </p:spPr>
      </p:pic>
      <p:sp>
        <p:nvSpPr>
          <p:cNvPr id="27" name="Text 19"/>
          <p:cNvSpPr/>
          <p:nvPr/>
        </p:nvSpPr>
        <p:spPr>
          <a:xfrm>
            <a:off x="6824980" y="3298986"/>
            <a:ext cx="1410414"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iPerform Coach</a:t>
            </a:r>
            <a:endParaRPr lang="en-US" sz="1450" dirty="0"/>
          </a:p>
        </p:txBody>
      </p:sp>
      <p:sp>
        <p:nvSpPr>
          <p:cNvPr id="28" name="Text 20"/>
          <p:cNvSpPr/>
          <p:nvPr/>
        </p:nvSpPr>
        <p:spPr>
          <a:xfrm>
            <a:off x="8260794" y="3307246"/>
            <a:ext cx="1058863"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8B99A6"/>
                </a:solidFill>
                <a:latin typeface="Inter" pitchFamily="34" charset="0"/>
                <a:ea typeface="Inter" pitchFamily="34" charset="-122"/>
                <a:cs typeface="Inter" pitchFamily="34" charset="-120"/>
              </a:rPr>
              <a:t>conversational</a:t>
            </a:r>
            <a:endParaRPr lang="en-US" sz="1150" dirty="0"/>
          </a:p>
        </p:txBody>
      </p:sp>
      <p:sp>
        <p:nvSpPr>
          <p:cNvPr id="29" name="Text 21"/>
          <p:cNvSpPr/>
          <p:nvPr/>
        </p:nvSpPr>
        <p:spPr>
          <a:xfrm>
            <a:off x="6558280" y="3583471"/>
            <a:ext cx="45678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A"/>
                </a:solidFill>
                <a:latin typeface="Inter" pitchFamily="34" charset="0"/>
                <a:ea typeface="Inter" pitchFamily="34" charset="-122"/>
                <a:cs typeface="Inter" pitchFamily="34" charset="-120"/>
              </a:rPr>
              <a:t>Coaching, guidance and Q&amp;A grounded in the advisor's own book and outcomes.</a:t>
            </a:r>
            <a:endParaRPr lang="en-US" sz="1200" dirty="0"/>
          </a:p>
        </p:txBody>
      </p:sp>
      <p:sp>
        <p:nvSpPr>
          <p:cNvPr id="30" name="Shape 22"/>
          <p:cNvSpPr/>
          <p:nvPr/>
        </p:nvSpPr>
        <p:spPr>
          <a:xfrm>
            <a:off x="812800" y="5044281"/>
            <a:ext cx="10566400" cy="797719"/>
          </a:xfrm>
          <a:prstGeom prst="roundRect">
            <a:avLst>
              <a:gd name="adj" fmla="val 11144"/>
            </a:avLst>
          </a:prstGeom>
          <a:solidFill>
            <a:srgbClr val="0B1622"/>
          </a:solidFill>
          <a:ln/>
        </p:spPr>
      </p:sp>
      <p:sp>
        <p:nvSpPr>
          <p:cNvPr id="31" name="Text 23"/>
          <p:cNvSpPr/>
          <p:nvPr/>
        </p:nvSpPr>
        <p:spPr>
          <a:xfrm>
            <a:off x="1041400" y="5345348"/>
            <a:ext cx="1193800" cy="22098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10897A"/>
                </a:solidFill>
                <a:latin typeface="Space Grotesk" pitchFamily="34" charset="0"/>
                <a:ea typeface="Space Grotesk" pitchFamily="34" charset="-122"/>
                <a:cs typeface="Space Grotesk" pitchFamily="34" charset="-120"/>
              </a:rPr>
              <a:t>THEY SHARE</a:t>
            </a:r>
            <a:endParaRPr lang="en-US" sz="1100" dirty="0"/>
          </a:p>
        </p:txBody>
      </p:sp>
      <p:sp>
        <p:nvSpPr>
          <p:cNvPr id="32" name="Text 24"/>
          <p:cNvSpPr/>
          <p:nvPr/>
        </p:nvSpPr>
        <p:spPr>
          <a:xfrm>
            <a:off x="2349500" y="5211998"/>
            <a:ext cx="906513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3DC"/>
                </a:solidFill>
                <a:latin typeface="Inter" pitchFamily="34" charset="0"/>
                <a:ea typeface="Inter" pitchFamily="34" charset="-122"/>
                <a:cs typeface="Inter" pitchFamily="34" charset="-120"/>
              </a:rPr>
              <a:t>Knowledge graph · agent framework · context engineering · governed data access · verification · observability · security</a:t>
            </a:r>
            <a:endParaRPr lang="en-US" sz="1300" dirty="0"/>
          </a:p>
        </p:txBody>
      </p:sp>
      <p:sp>
        <p:nvSpPr>
          <p:cNvPr id="33" name="Text 25"/>
          <p:cNvSpPr/>
          <p:nvPr/>
        </p:nvSpPr>
        <p:spPr>
          <a:xfrm>
            <a:off x="812800" y="5971542"/>
            <a:ext cx="10883392"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0897A"/>
                </a:solidFill>
                <a:latin typeface="Space Grotesk" pitchFamily="34" charset="0"/>
                <a:ea typeface="Space Grotesk" pitchFamily="34" charset="-122"/>
                <a:cs typeface="Space Grotesk" pitchFamily="34" charset="-120"/>
              </a:rPr>
              <a:t>Each with an autonomous engine and a conversational agent, on the same foundation — so the second costs a fraction of the first.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62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403C"/>
              </a:gs>
              <a:gs pos="58000">
                <a:srgbClr val="0B1622"/>
              </a:gs>
            </a:gsLst>
            <a:path path="circle">
              <a:fillToRect l="82000" t="82000" r="18000" b="18000"/>
            </a:path>
          </a:gradFill>
          <a:ln/>
        </p:spPr>
      </p:sp>
      <p:sp>
        <p:nvSpPr>
          <p:cNvPr id="3" name="Text 1"/>
          <p:cNvSpPr/>
          <p:nvPr/>
        </p:nvSpPr>
        <p:spPr>
          <a:xfrm>
            <a:off x="812800" y="711200"/>
            <a:ext cx="3588691"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F5F8F9"/>
                </a:solidFill>
                <a:latin typeface="Space Grotesk" pitchFamily="34" charset="0"/>
                <a:ea typeface="Space Grotesk" pitchFamily="34" charset="-122"/>
                <a:cs typeface="Space Grotesk" pitchFamily="34" charset="-120"/>
              </a:rPr>
              <a:t>What we have built</a:t>
            </a:r>
            <a:endParaRPr lang="en-US" sz="3000" dirty="0"/>
          </a:p>
        </p:txBody>
      </p:sp>
      <p:sp>
        <p:nvSpPr>
          <p:cNvPr id="4" name="Text 2"/>
          <p:cNvSpPr/>
          <p:nvPr/>
        </p:nvSpPr>
        <p:spPr>
          <a:xfrm>
            <a:off x="4449366" y="868685"/>
            <a:ext cx="326142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9FB3BE"/>
                </a:solidFill>
                <a:latin typeface="Inter" pitchFamily="34" charset="0"/>
                <a:ea typeface="Inter" pitchFamily="34" charset="-122"/>
                <a:cs typeface="Inter" pitchFamily="34" charset="-120"/>
              </a:rPr>
              <a:t>Running today, against production data</a:t>
            </a:r>
            <a:endParaRPr lang="en-US" sz="1350" dirty="0"/>
          </a:p>
        </p:txBody>
      </p:sp>
      <p:sp>
        <p:nvSpPr>
          <p:cNvPr id="5" name="Shape 3"/>
          <p:cNvSpPr/>
          <p:nvPr/>
        </p:nvSpPr>
        <p:spPr>
          <a:xfrm>
            <a:off x="812800" y="1295400"/>
            <a:ext cx="2021840" cy="877570"/>
          </a:xfrm>
          <a:prstGeom prst="roundRect">
            <a:avLst>
              <a:gd name="adj" fmla="val 10130"/>
            </a:avLst>
          </a:prstGeom>
          <a:solidFill>
            <a:srgbClr val="142639"/>
          </a:solidFill>
          <a:ln/>
        </p:spPr>
      </p:sp>
      <p:sp>
        <p:nvSpPr>
          <p:cNvPr id="6" name="Text 4"/>
          <p:cNvSpPr/>
          <p:nvPr/>
        </p:nvSpPr>
        <p:spPr>
          <a:xfrm>
            <a:off x="977900" y="1447800"/>
            <a:ext cx="1742440"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6FD3C0"/>
                </a:solidFill>
                <a:latin typeface="Instrument Serif" pitchFamily="34" charset="0"/>
                <a:ea typeface="Instrument Serif" pitchFamily="34" charset="-122"/>
                <a:cs typeface="Instrument Serif" pitchFamily="34" charset="-120"/>
              </a:rPr>
              <a:t>40,047,519</a:t>
            </a:r>
            <a:endParaRPr lang="en-US" sz="2600" dirty="0"/>
          </a:p>
        </p:txBody>
      </p:sp>
      <p:sp>
        <p:nvSpPr>
          <p:cNvPr id="7" name="Text 5"/>
          <p:cNvSpPr/>
          <p:nvPr/>
        </p:nvSpPr>
        <p:spPr>
          <a:xfrm>
            <a:off x="977900" y="1816100"/>
            <a:ext cx="1742440"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9FB3BE"/>
                </a:solidFill>
                <a:latin typeface="Inter" pitchFamily="34" charset="0"/>
                <a:ea typeface="Inter" pitchFamily="34" charset="-122"/>
                <a:cs typeface="Inter" pitchFamily="34" charset="-120"/>
              </a:rPr>
              <a:t>graph vertices</a:t>
            </a:r>
            <a:endParaRPr lang="en-US" sz="1150" dirty="0"/>
          </a:p>
        </p:txBody>
      </p:sp>
      <p:sp>
        <p:nvSpPr>
          <p:cNvPr id="8" name="Shape 6"/>
          <p:cNvSpPr/>
          <p:nvPr/>
        </p:nvSpPr>
        <p:spPr>
          <a:xfrm>
            <a:off x="2948940" y="1295400"/>
            <a:ext cx="2021840" cy="877570"/>
          </a:xfrm>
          <a:prstGeom prst="roundRect">
            <a:avLst>
              <a:gd name="adj" fmla="val 10130"/>
            </a:avLst>
          </a:prstGeom>
          <a:solidFill>
            <a:srgbClr val="142639"/>
          </a:solidFill>
          <a:ln/>
        </p:spPr>
      </p:sp>
      <p:sp>
        <p:nvSpPr>
          <p:cNvPr id="9" name="Text 7"/>
          <p:cNvSpPr/>
          <p:nvPr/>
        </p:nvSpPr>
        <p:spPr>
          <a:xfrm>
            <a:off x="3114040" y="1447800"/>
            <a:ext cx="1742440"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6FD3C0"/>
                </a:solidFill>
                <a:latin typeface="Instrument Serif" pitchFamily="34" charset="0"/>
                <a:ea typeface="Instrument Serif" pitchFamily="34" charset="-122"/>
                <a:cs typeface="Instrument Serif" pitchFamily="34" charset="-120"/>
              </a:rPr>
              <a:t>104,273,975</a:t>
            </a:r>
            <a:endParaRPr lang="en-US" sz="2600" dirty="0"/>
          </a:p>
        </p:txBody>
      </p:sp>
      <p:sp>
        <p:nvSpPr>
          <p:cNvPr id="10" name="Text 8"/>
          <p:cNvSpPr/>
          <p:nvPr/>
        </p:nvSpPr>
        <p:spPr>
          <a:xfrm>
            <a:off x="3114040" y="1816100"/>
            <a:ext cx="1742440"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9FB3BE"/>
                </a:solidFill>
                <a:latin typeface="Inter" pitchFamily="34" charset="0"/>
                <a:ea typeface="Inter" pitchFamily="34" charset="-122"/>
                <a:cs typeface="Inter" pitchFamily="34" charset="-120"/>
              </a:rPr>
              <a:t>graph edges</a:t>
            </a:r>
            <a:endParaRPr lang="en-US" sz="1150" dirty="0"/>
          </a:p>
        </p:txBody>
      </p:sp>
      <p:sp>
        <p:nvSpPr>
          <p:cNvPr id="11" name="Shape 9"/>
          <p:cNvSpPr/>
          <p:nvPr/>
        </p:nvSpPr>
        <p:spPr>
          <a:xfrm>
            <a:off x="5085080" y="1295400"/>
            <a:ext cx="2021840" cy="877570"/>
          </a:xfrm>
          <a:prstGeom prst="roundRect">
            <a:avLst>
              <a:gd name="adj" fmla="val 10130"/>
            </a:avLst>
          </a:prstGeom>
          <a:solidFill>
            <a:srgbClr val="142639"/>
          </a:solidFill>
          <a:ln/>
        </p:spPr>
      </p:sp>
      <p:sp>
        <p:nvSpPr>
          <p:cNvPr id="12" name="Text 10"/>
          <p:cNvSpPr/>
          <p:nvPr/>
        </p:nvSpPr>
        <p:spPr>
          <a:xfrm>
            <a:off x="5250180" y="1447800"/>
            <a:ext cx="1742440"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6FD3C0"/>
                </a:solidFill>
                <a:latin typeface="Instrument Serif" pitchFamily="34" charset="0"/>
                <a:ea typeface="Instrument Serif" pitchFamily="34" charset="-122"/>
                <a:cs typeface="Instrument Serif" pitchFamily="34" charset="-120"/>
              </a:rPr>
              <a:t>12,360,142</a:t>
            </a:r>
            <a:endParaRPr lang="en-US" sz="2600" dirty="0"/>
          </a:p>
        </p:txBody>
      </p:sp>
      <p:sp>
        <p:nvSpPr>
          <p:cNvPr id="13" name="Text 11"/>
          <p:cNvSpPr/>
          <p:nvPr/>
        </p:nvSpPr>
        <p:spPr>
          <a:xfrm>
            <a:off x="5250180" y="1816100"/>
            <a:ext cx="1742440"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9FB3BE"/>
                </a:solidFill>
                <a:latin typeface="Inter" pitchFamily="34" charset="0"/>
                <a:ea typeface="Inter" pitchFamily="34" charset="-122"/>
                <a:cs typeface="Inter" pitchFamily="34" charset="-120"/>
              </a:rPr>
              <a:t>transactions</a:t>
            </a:r>
            <a:endParaRPr lang="en-US" sz="1150" dirty="0"/>
          </a:p>
        </p:txBody>
      </p:sp>
      <p:sp>
        <p:nvSpPr>
          <p:cNvPr id="14" name="Shape 12"/>
          <p:cNvSpPr/>
          <p:nvPr/>
        </p:nvSpPr>
        <p:spPr>
          <a:xfrm>
            <a:off x="7221220" y="1295400"/>
            <a:ext cx="2021840" cy="877570"/>
          </a:xfrm>
          <a:prstGeom prst="roundRect">
            <a:avLst>
              <a:gd name="adj" fmla="val 10130"/>
            </a:avLst>
          </a:prstGeom>
          <a:solidFill>
            <a:srgbClr val="142639"/>
          </a:solidFill>
          <a:ln/>
        </p:spPr>
      </p:sp>
      <p:sp>
        <p:nvSpPr>
          <p:cNvPr id="15" name="Text 13"/>
          <p:cNvSpPr/>
          <p:nvPr/>
        </p:nvSpPr>
        <p:spPr>
          <a:xfrm>
            <a:off x="7386320" y="1447800"/>
            <a:ext cx="1742440"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6FD3C0"/>
                </a:solidFill>
                <a:latin typeface="Instrument Serif" pitchFamily="34" charset="0"/>
                <a:ea typeface="Instrument Serif" pitchFamily="34" charset="-122"/>
                <a:cs typeface="Instrument Serif" pitchFamily="34" charset="-120"/>
              </a:rPr>
              <a:t>5,455</a:t>
            </a:r>
            <a:endParaRPr lang="en-US" sz="2600" dirty="0"/>
          </a:p>
        </p:txBody>
      </p:sp>
      <p:sp>
        <p:nvSpPr>
          <p:cNvPr id="16" name="Text 14"/>
          <p:cNvSpPr/>
          <p:nvPr/>
        </p:nvSpPr>
        <p:spPr>
          <a:xfrm>
            <a:off x="7386320" y="1816100"/>
            <a:ext cx="1742440"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9FB3BE"/>
                </a:solidFill>
                <a:latin typeface="Inter" pitchFamily="34" charset="0"/>
                <a:ea typeface="Inter" pitchFamily="34" charset="-122"/>
                <a:cs typeface="Inter" pitchFamily="34" charset="-120"/>
              </a:rPr>
              <a:t>advisor cohort</a:t>
            </a:r>
            <a:endParaRPr lang="en-US" sz="1150" dirty="0"/>
          </a:p>
        </p:txBody>
      </p:sp>
      <p:sp>
        <p:nvSpPr>
          <p:cNvPr id="17" name="Shape 15"/>
          <p:cNvSpPr/>
          <p:nvPr/>
        </p:nvSpPr>
        <p:spPr>
          <a:xfrm>
            <a:off x="9357360" y="1295400"/>
            <a:ext cx="2021840" cy="877570"/>
          </a:xfrm>
          <a:prstGeom prst="roundRect">
            <a:avLst>
              <a:gd name="adj" fmla="val 10130"/>
            </a:avLst>
          </a:prstGeom>
          <a:solidFill>
            <a:srgbClr val="142639"/>
          </a:solidFill>
          <a:ln/>
        </p:spPr>
      </p:sp>
      <p:sp>
        <p:nvSpPr>
          <p:cNvPr id="18" name="Text 16"/>
          <p:cNvSpPr/>
          <p:nvPr/>
        </p:nvSpPr>
        <p:spPr>
          <a:xfrm>
            <a:off x="9522460" y="1447800"/>
            <a:ext cx="1742440"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6FD3C0"/>
                </a:solidFill>
                <a:latin typeface="Instrument Serif" pitchFamily="34" charset="0"/>
                <a:ea typeface="Instrument Serif" pitchFamily="34" charset="-122"/>
                <a:cs typeface="Instrument Serif" pitchFamily="34" charset="-120"/>
              </a:rPr>
              <a:t>62</a:t>
            </a:r>
            <a:endParaRPr lang="en-US" sz="2600" dirty="0"/>
          </a:p>
        </p:txBody>
      </p:sp>
      <p:sp>
        <p:nvSpPr>
          <p:cNvPr id="19" name="Text 17"/>
          <p:cNvSpPr/>
          <p:nvPr/>
        </p:nvSpPr>
        <p:spPr>
          <a:xfrm>
            <a:off x="9522460" y="1816100"/>
            <a:ext cx="1742440"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9FB3BE"/>
                </a:solidFill>
                <a:latin typeface="Inter" pitchFamily="34" charset="0"/>
                <a:ea typeface="Inter" pitchFamily="34" charset="-122"/>
                <a:cs typeface="Inter" pitchFamily="34" charset="-120"/>
              </a:rPr>
              <a:t>installed queries</a:t>
            </a:r>
            <a:endParaRPr lang="en-US" sz="1150" dirty="0"/>
          </a:p>
        </p:txBody>
      </p:sp>
      <p:sp>
        <p:nvSpPr>
          <p:cNvPr id="20" name="Shape 18"/>
          <p:cNvSpPr/>
          <p:nvPr/>
        </p:nvSpPr>
        <p:spPr>
          <a:xfrm>
            <a:off x="812800" y="2338077"/>
            <a:ext cx="10566400" cy="1037590"/>
          </a:xfrm>
          <a:prstGeom prst="roundRect">
            <a:avLst>
              <a:gd name="adj" fmla="val 8568"/>
            </a:avLst>
          </a:prstGeom>
          <a:solidFill>
            <a:srgbClr val="2A1B0C"/>
          </a:solidFill>
          <a:ln/>
        </p:spPr>
      </p:sp>
      <p:sp>
        <p:nvSpPr>
          <p:cNvPr id="21" name="Shape 19"/>
          <p:cNvSpPr/>
          <p:nvPr/>
        </p:nvSpPr>
        <p:spPr>
          <a:xfrm>
            <a:off x="812800" y="2338077"/>
            <a:ext cx="10566400" cy="1037590"/>
          </a:xfrm>
          <a:custGeom>
            <a:avLst/>
            <a:gdLst/>
            <a:ahLst/>
            <a:cxnLst/>
            <a:rect l="l" t="t" r="r" b="b"/>
            <a:pathLst>
              <a:path w="10566400" h="1037590">
                <a:moveTo>
                  <a:pt x="88900" y="1037590"/>
                </a:moveTo>
                <a:lnTo>
                  <a:pt x="88900" y="1037590"/>
                </a:lnTo>
                <a:arcTo hR="88900" wR="88900" stAng="5400000" swAng="5400000"/>
                <a:lnTo>
                  <a:pt x="0" y="88900"/>
                </a:lnTo>
                <a:arcTo hR="88900" wR="88900" stAng="10800000" swAng="5400000"/>
                <a:lnTo>
                  <a:pt x="88900" y="0"/>
                </a:lnTo>
                <a:arcTo hR="88900" wR="57150" stAng="16200000" swAng="-5400000"/>
                <a:lnTo>
                  <a:pt x="31750" y="948690"/>
                </a:lnTo>
                <a:arcTo hR="88900" wR="57150" stAng="10800000" swAng="-5400000"/>
                <a:close/>
              </a:path>
            </a:pathLst>
          </a:custGeom>
          <a:solidFill>
            <a:srgbClr val="D98324"/>
          </a:solidFill>
          <a:ln/>
        </p:spPr>
      </p:sp>
      <p:sp>
        <p:nvSpPr>
          <p:cNvPr id="22" name="Text 20"/>
          <p:cNvSpPr/>
          <p:nvPr/>
        </p:nvSpPr>
        <p:spPr>
          <a:xfrm>
            <a:off x="1059180" y="2515877"/>
            <a:ext cx="2433884" cy="212090"/>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F0C99A"/>
                </a:solidFill>
                <a:latin typeface="Space Grotesk" pitchFamily="34" charset="0"/>
                <a:ea typeface="Space Grotesk" pitchFamily="34" charset="-122"/>
                <a:cs typeface="Space Grotesk" pitchFamily="34" charset="-120"/>
              </a:rPr>
              <a:t>APRIL FIRM BASIS, COMPUTED</a:t>
            </a:r>
            <a:endParaRPr lang="en-US" sz="1050" dirty="0"/>
          </a:p>
        </p:txBody>
      </p:sp>
      <p:sp>
        <p:nvSpPr>
          <p:cNvPr id="23" name="Text 21"/>
          <p:cNvSpPr/>
          <p:nvPr/>
        </p:nvSpPr>
        <p:spPr>
          <a:xfrm>
            <a:off x="1059180" y="2740658"/>
            <a:ext cx="2433884"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FFFFFF"/>
                </a:solidFill>
                <a:latin typeface="Instrument Serif" pitchFamily="34" charset="0"/>
                <a:ea typeface="Instrument Serif" pitchFamily="34" charset="-122"/>
                <a:cs typeface="Instrument Serif" pitchFamily="34" charset="-120"/>
              </a:rPr>
              <a:t>$397,389,374.54</a:t>
            </a:r>
            <a:endParaRPr lang="en-US" sz="3600" dirty="0"/>
          </a:p>
        </p:txBody>
      </p:sp>
      <p:sp>
        <p:nvSpPr>
          <p:cNvPr id="24" name="Text 22"/>
          <p:cNvSpPr/>
          <p:nvPr/>
        </p:nvSpPr>
        <p:spPr>
          <a:xfrm>
            <a:off x="7226300" y="2523492"/>
            <a:ext cx="4055110"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D9C3A8"/>
                </a:solidFill>
                <a:latin typeface="Inter" pitchFamily="34" charset="0"/>
                <a:ea typeface="Inter" pitchFamily="34" charset="-122"/>
                <a:cs typeface="Inter" pitchFamily="34" charset="-120"/>
              </a:rPr>
              <a:t>Against the firm's own report of </a:t>
            </a:r>
            <a:r>
              <a:rPr lang="en-US" sz="1250" b="1" dirty="0">
                <a:solidFill>
                  <a:srgbClr val="D9C3A8"/>
                </a:solidFill>
                <a:latin typeface="Inter" pitchFamily="34" charset="0"/>
                <a:ea typeface="Inter" pitchFamily="34" charset="-122"/>
                <a:cs typeface="Inter" pitchFamily="34" charset="-120"/>
              </a:rPr>
              <a:t>$403,533,981.62</a:t>
            </a:r>
            <a:r>
              <a:rPr lang="en-US" sz="1250" dirty="0">
                <a:solidFill>
                  <a:srgbClr val="D9C3A8"/>
                </a:solidFill>
                <a:latin typeface="Inter" pitchFamily="34" charset="0"/>
                <a:ea typeface="Inter" pitchFamily="34" charset="-122"/>
                <a:cs typeface="Inter" pitchFamily="34" charset="-120"/>
              </a:rPr>
              <a:t>. The difference is advisors outside the defined cohort — verified, explained and reproducible.</a:t>
            </a:r>
            <a:endParaRPr lang="en-US" sz="1250" dirty="0"/>
          </a:p>
        </p:txBody>
      </p:sp>
      <p:sp>
        <p:nvSpPr>
          <p:cNvPr id="25" name="Shape 23"/>
          <p:cNvSpPr/>
          <p:nvPr/>
        </p:nvSpPr>
        <p:spPr>
          <a:xfrm>
            <a:off x="812800" y="3540758"/>
            <a:ext cx="5226050" cy="1408430"/>
          </a:xfrm>
          <a:prstGeom prst="roundRect">
            <a:avLst>
              <a:gd name="adj" fmla="val 6312"/>
            </a:avLst>
          </a:prstGeom>
          <a:solidFill>
            <a:srgbClr val="142639"/>
          </a:solidFill>
          <a:ln/>
        </p:spPr>
      </p:sp>
      <p:sp>
        <p:nvSpPr>
          <p:cNvPr id="26" name="Text 24"/>
          <p:cNvSpPr/>
          <p:nvPr/>
        </p:nvSpPr>
        <p:spPr>
          <a:xfrm>
            <a:off x="990600" y="3693158"/>
            <a:ext cx="5016564" cy="212090"/>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6FD3C0"/>
                </a:solidFill>
                <a:latin typeface="Space Grotesk" pitchFamily="34" charset="0"/>
                <a:ea typeface="Space Grotesk" pitchFamily="34" charset="-122"/>
                <a:cs typeface="Space Grotesk" pitchFamily="34" charset="-120"/>
              </a:rPr>
              <a:t>WORKING TODAY</a:t>
            </a:r>
            <a:endParaRPr lang="en-US" sz="1050" dirty="0"/>
          </a:p>
        </p:txBody>
      </p:sp>
      <p:sp>
        <p:nvSpPr>
          <p:cNvPr id="27" name="Text 25"/>
          <p:cNvSpPr/>
          <p:nvPr/>
        </p:nvSpPr>
        <p:spPr>
          <a:xfrm>
            <a:off x="990600" y="3943350"/>
            <a:ext cx="5016564" cy="665480"/>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CFE3DC"/>
                </a:solidFill>
                <a:latin typeface="Inter" pitchFamily="34" charset="0"/>
                <a:ea typeface="Inter" pitchFamily="34" charset="-122"/>
                <a:cs typeface="Inter" pitchFamily="34" charset="-120"/>
              </a:rPr>
              <a:t>Document upload and rule extraction with citations</a:t>
            </a:r>
            <a:endParaRPr lang="en-US" sz="1200" dirty="0"/>
          </a:p>
          <a:p>
            <a:pPr algn="l" marL="182880" indent="-148844">
              <a:lnSpc>
                <a:spcPts val="1680"/>
              </a:lnSpc>
              <a:buSzPct val="100000"/>
              <a:buChar char="•"/>
            </a:pPr>
            <a:r>
              <a:rPr lang="en-US" sz="1200" dirty="0">
                <a:solidFill>
                  <a:srgbClr val="CFE3DC"/>
                </a:solidFill>
                <a:latin typeface="Inter" pitchFamily="34" charset="0"/>
                <a:ea typeface="Inter" pitchFamily="34" charset="-122"/>
                <a:cs typeface="Inter" pitchFamily="34" charset="-120"/>
              </a:rPr>
              <a:t>Rule compilation, review, publish and versioning</a:t>
            </a:r>
            <a:endParaRPr lang="en-US" sz="1200" dirty="0"/>
          </a:p>
          <a:p>
            <a:pPr algn="l" marL="182880" indent="-148844">
              <a:lnSpc>
                <a:spcPts val="1680"/>
              </a:lnSpc>
              <a:buSzPct val="100000"/>
              <a:buChar char="•"/>
            </a:pPr>
            <a:r>
              <a:rPr lang="en-US" sz="1200" dirty="0">
                <a:solidFill>
                  <a:srgbClr val="CFE3DC"/>
                </a:solidFill>
                <a:latin typeface="Inter" pitchFamily="34" charset="0"/>
                <a:ea typeface="Inter" pitchFamily="34" charset="-122"/>
                <a:cs typeface="Inter" pitchFamily="34" charset="-120"/>
              </a:rPr>
              <a:t>Firm and advisor revenue with driver attribution</a:t>
            </a:r>
            <a:endParaRPr lang="en-US" sz="1200" dirty="0"/>
          </a:p>
        </p:txBody>
      </p:sp>
      <p:sp>
        <p:nvSpPr>
          <p:cNvPr id="28" name="Shape 26"/>
          <p:cNvSpPr/>
          <p:nvPr/>
        </p:nvSpPr>
        <p:spPr>
          <a:xfrm>
            <a:off x="6153150" y="3540758"/>
            <a:ext cx="5226050" cy="1408430"/>
          </a:xfrm>
          <a:prstGeom prst="roundRect">
            <a:avLst>
              <a:gd name="adj" fmla="val 6312"/>
            </a:avLst>
          </a:prstGeom>
          <a:solidFill>
            <a:srgbClr val="142639"/>
          </a:solidFill>
          <a:ln/>
        </p:spPr>
      </p:sp>
      <p:sp>
        <p:nvSpPr>
          <p:cNvPr id="29" name="Text 27"/>
          <p:cNvSpPr/>
          <p:nvPr/>
        </p:nvSpPr>
        <p:spPr>
          <a:xfrm>
            <a:off x="6330950" y="3943350"/>
            <a:ext cx="5016564" cy="878840"/>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CFE3DC"/>
                </a:solidFill>
                <a:latin typeface="Inter" pitchFamily="34" charset="0"/>
                <a:ea typeface="Inter" pitchFamily="34" charset="-122"/>
                <a:cs typeface="Inter" pitchFamily="34" charset="-120"/>
              </a:rPr>
              <a:t>Account lifecycle — new, lost, retained, transferred</a:t>
            </a:r>
            <a:endParaRPr lang="en-US" sz="1200" dirty="0"/>
          </a:p>
          <a:p>
            <a:pPr algn="l" marL="182880" indent="-148844">
              <a:lnSpc>
                <a:spcPts val="1680"/>
              </a:lnSpc>
              <a:buSzPct val="100000"/>
              <a:buChar char="•"/>
            </a:pPr>
            <a:r>
              <a:rPr lang="en-US" sz="1200" dirty="0">
                <a:solidFill>
                  <a:srgbClr val="CFE3DC"/>
                </a:solidFill>
                <a:latin typeface="Inter" pitchFamily="34" charset="0"/>
                <a:ea typeface="Inter" pitchFamily="34" charset="-122"/>
                <a:cs typeface="Inter" pitchFamily="34" charset="-120"/>
              </a:rPr>
              <a:t>Exception detection across the full cohort</a:t>
            </a:r>
            <a:endParaRPr lang="en-US" sz="1200" dirty="0"/>
          </a:p>
          <a:p>
            <a:pPr algn="l" marL="182880" indent="-148844">
              <a:lnSpc>
                <a:spcPts val="1680"/>
              </a:lnSpc>
              <a:buSzPct val="100000"/>
              <a:buChar char="•"/>
            </a:pPr>
            <a:r>
              <a:rPr lang="en-US" sz="1200" dirty="0">
                <a:solidFill>
                  <a:srgbClr val="CFE3DC"/>
                </a:solidFill>
                <a:latin typeface="Inter" pitchFamily="34" charset="0"/>
                <a:ea typeface="Inter" pitchFamily="34" charset="-122"/>
                <a:cs typeface="Inter" pitchFamily="34" charset="-120"/>
              </a:rPr>
              <a:t>Non-credited revenue analysis by reason code</a:t>
            </a:r>
            <a:endParaRPr lang="en-US" sz="1200" dirty="0"/>
          </a:p>
          <a:p>
            <a:pPr algn="l" marL="182880" indent="-148844">
              <a:lnSpc>
                <a:spcPts val="1680"/>
              </a:lnSpc>
              <a:buSzPct val="100000"/>
              <a:buChar char="•"/>
            </a:pPr>
            <a:r>
              <a:rPr lang="en-US" sz="1200" dirty="0">
                <a:solidFill>
                  <a:srgbClr val="CFE3DC"/>
                </a:solidFill>
                <a:latin typeface="Inter" pitchFamily="34" charset="0"/>
                <a:ea typeface="Inter" pitchFamily="34" charset="-122"/>
                <a:cs typeface="Inter" pitchFamily="34" charset="-120"/>
              </a:rPr>
              <a:t>Conversational assistant with evidence drill-down</a:t>
            </a:r>
            <a:endParaRPr lang="en-US" sz="1200" dirty="0"/>
          </a:p>
        </p:txBody>
      </p:sp>
      <p:sp>
        <p:nvSpPr>
          <p:cNvPr id="30" name="Text 28"/>
          <p:cNvSpPr/>
          <p:nvPr/>
        </p:nvSpPr>
        <p:spPr>
          <a:xfrm>
            <a:off x="812800" y="60960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5F8F9"/>
                </a:solidFill>
                <a:latin typeface="Instrument Serif" pitchFamily="34" charset="0"/>
                <a:ea typeface="Instrument Serif" pitchFamily="34" charset="-122"/>
                <a:cs typeface="Instrument Serif" pitchFamily="34" charset="-120"/>
              </a:rPr>
              <a:t>This is not a prototype. It is the first system of the architecture, running on real data.</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711200"/>
            <a:ext cx="2309941" cy="430530"/>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0B1622"/>
                </a:solidFill>
                <a:latin typeface="Space Grotesk" pitchFamily="34" charset="0"/>
                <a:ea typeface="Space Grotesk" pitchFamily="34" charset="-122"/>
                <a:cs typeface="Space Grotesk" pitchFamily="34" charset="-120"/>
              </a:rPr>
              <a:t>Architecture</a:t>
            </a:r>
            <a:endParaRPr lang="en-US" sz="2900" dirty="0"/>
          </a:p>
        </p:txBody>
      </p:sp>
      <p:sp>
        <p:nvSpPr>
          <p:cNvPr id="3" name="Text 1"/>
          <p:cNvSpPr/>
          <p:nvPr/>
        </p:nvSpPr>
        <p:spPr>
          <a:xfrm>
            <a:off x="3207861" y="853442"/>
            <a:ext cx="5417905"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5C6B7A"/>
                </a:solidFill>
                <a:latin typeface="Inter" pitchFamily="34" charset="0"/>
                <a:ea typeface="Inter" pitchFamily="34" charset="-122"/>
                <a:cs typeface="Inter" pitchFamily="34" charset="-120"/>
              </a:rPr>
              <a:t>Presentation at the top. Data at the bottom. Nothing skips a layer.</a:t>
            </a:r>
            <a:endParaRPr lang="en-US" sz="1350" dirty="0"/>
          </a:p>
        </p:txBody>
      </p:sp>
      <p:sp>
        <p:nvSpPr>
          <p:cNvPr id="4" name="Shape 2"/>
          <p:cNvSpPr/>
          <p:nvPr/>
        </p:nvSpPr>
        <p:spPr>
          <a:xfrm>
            <a:off x="815975" y="1259210"/>
            <a:ext cx="450850" cy="4128770"/>
          </a:xfrm>
          <a:prstGeom prst="roundRect">
            <a:avLst>
              <a:gd name="adj" fmla="val 16197"/>
            </a:avLst>
          </a:prstGeom>
          <a:solidFill>
            <a:srgbClr val="FFFFFF"/>
          </a:solidFill>
          <a:ln w="6350">
            <a:solidFill>
              <a:srgbClr val="DFE6EA"/>
            </a:solidFill>
            <a:prstDash val="solid"/>
          </a:ln>
        </p:spPr>
      </p:sp>
      <p:pic>
        <p:nvPicPr>
          <p:cNvPr id="5" name="Image 0" descr="arrow-down">    </p:cNvPr>
          <p:cNvPicPr>
            <a:picLocks noChangeAspect="1"/>
          </p:cNvPicPr>
          <p:nvPr/>
        </p:nvPicPr>
        <p:blipFill>
          <a:blip r:embed="rId1"/>
          <a:srcRect l="0" r="0" t="0" b="0"/>
          <a:stretch/>
        </p:blipFill>
        <p:spPr>
          <a:xfrm>
            <a:off x="933450" y="1400808"/>
            <a:ext cx="215900" cy="431800"/>
          </a:xfrm>
          <a:prstGeom prst="rect">
            <a:avLst/>
          </a:prstGeom>
        </p:spPr>
      </p:pic>
      <p:sp>
        <p:nvSpPr>
          <p:cNvPr id="6" name="Text 3"/>
          <p:cNvSpPr/>
          <p:nvPr/>
        </p:nvSpPr>
        <p:spPr>
          <a:xfrm>
            <a:off x="787400" y="2509131"/>
            <a:ext cx="5080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C6B7A"/>
                </a:solidFill>
                <a:latin typeface="Inter" pitchFamily="34" charset="0"/>
                <a:ea typeface="Inter" pitchFamily="34" charset="-122"/>
                <a:cs typeface="Inter" pitchFamily="34" charset="-120"/>
              </a:rPr>
              <a:t>request</a:t>
            </a:r>
            <a:endParaRPr lang="en-US" sz="1200" dirty="0"/>
          </a:p>
          <a:p>
            <a:pPr algn="ctr" indent="0" marL="0">
              <a:lnSpc>
                <a:spcPts val="1500"/>
              </a:lnSpc>
              <a:buNone/>
            </a:pPr>
            <a:r>
              <a:rPr lang="en-US" sz="1200" dirty="0">
                <a:solidFill>
                  <a:srgbClr val="5C6B7A"/>
                </a:solidFill>
                <a:latin typeface="Inter" pitchFamily="34" charset="0"/>
                <a:ea typeface="Inter" pitchFamily="34" charset="-122"/>
                <a:cs typeface="Inter" pitchFamily="34" charset="-120"/>
              </a:rPr>
              <a:t>down</a:t>
            </a:r>
            <a:endParaRPr lang="en-US" sz="1200" dirty="0"/>
          </a:p>
        </p:txBody>
      </p:sp>
      <p:pic>
        <p:nvPicPr>
          <p:cNvPr id="7" name="Image 1" descr="arrow-up">    </p:cNvPr>
          <p:cNvPicPr>
            <a:picLocks noChangeAspect="1"/>
          </p:cNvPicPr>
          <p:nvPr/>
        </p:nvPicPr>
        <p:blipFill>
          <a:blip r:embed="rId2"/>
          <a:srcRect l="0" r="0" t="0" b="0"/>
          <a:stretch/>
        </p:blipFill>
        <p:spPr>
          <a:xfrm>
            <a:off x="933450" y="3757054"/>
            <a:ext cx="215900" cy="431800"/>
          </a:xfrm>
          <a:prstGeom prst="rect">
            <a:avLst/>
          </a:prstGeom>
        </p:spPr>
      </p:pic>
      <p:sp>
        <p:nvSpPr>
          <p:cNvPr id="8" name="Text 4"/>
          <p:cNvSpPr/>
          <p:nvPr/>
        </p:nvSpPr>
        <p:spPr>
          <a:xfrm>
            <a:off x="787400" y="4865377"/>
            <a:ext cx="5080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0B6B5E"/>
                </a:solidFill>
                <a:latin typeface="Inter" pitchFamily="34" charset="0"/>
                <a:ea typeface="Inter" pitchFamily="34" charset="-122"/>
                <a:cs typeface="Inter" pitchFamily="34" charset="-120"/>
              </a:rPr>
              <a:t>result</a:t>
            </a:r>
            <a:endParaRPr lang="en-US" sz="1200" dirty="0"/>
          </a:p>
          <a:p>
            <a:pPr algn="ctr" indent="0" marL="0">
              <a:lnSpc>
                <a:spcPts val="1500"/>
              </a:lnSpc>
              <a:buNone/>
            </a:pPr>
            <a:r>
              <a:rPr lang="en-US" sz="1200" dirty="0">
                <a:solidFill>
                  <a:srgbClr val="0B6B5E"/>
                </a:solidFill>
                <a:latin typeface="Inter" pitchFamily="34" charset="0"/>
                <a:ea typeface="Inter" pitchFamily="34" charset="-122"/>
                <a:cs typeface="Inter" pitchFamily="34" charset="-120"/>
              </a:rPr>
              <a:t>up</a:t>
            </a:r>
            <a:endParaRPr lang="en-US" sz="1200" dirty="0"/>
          </a:p>
        </p:txBody>
      </p:sp>
      <p:sp>
        <p:nvSpPr>
          <p:cNvPr id="9" name="Shape 5"/>
          <p:cNvSpPr/>
          <p:nvPr/>
        </p:nvSpPr>
        <p:spPr>
          <a:xfrm>
            <a:off x="1400175" y="1259210"/>
            <a:ext cx="9975850" cy="478790"/>
          </a:xfrm>
          <a:prstGeom prst="roundRect">
            <a:avLst>
              <a:gd name="adj" fmla="val 15252"/>
            </a:avLst>
          </a:prstGeom>
          <a:solidFill>
            <a:srgbClr val="FFFFFF"/>
          </a:solidFill>
          <a:ln w="6350">
            <a:solidFill>
              <a:srgbClr val="DFE6EA"/>
            </a:solidFill>
            <a:prstDash val="solid"/>
          </a:ln>
        </p:spPr>
      </p:sp>
      <p:pic>
        <p:nvPicPr>
          <p:cNvPr id="10" name="Image 2" descr="Home">    </p:cNvPr>
          <p:cNvPicPr>
            <a:picLocks noChangeAspect="1"/>
          </p:cNvPicPr>
          <p:nvPr/>
        </p:nvPicPr>
        <p:blipFill>
          <a:blip r:embed="rId3"/>
          <a:srcRect l="0" r="0" t="0" b="0"/>
          <a:stretch/>
        </p:blipFill>
        <p:spPr>
          <a:xfrm>
            <a:off x="1579880" y="1390650"/>
            <a:ext cx="215900" cy="215900"/>
          </a:xfrm>
          <a:prstGeom prst="rect">
            <a:avLst/>
          </a:prstGeom>
        </p:spPr>
      </p:pic>
      <p:sp>
        <p:nvSpPr>
          <p:cNvPr id="11" name="Text 6"/>
          <p:cNvSpPr/>
          <p:nvPr/>
        </p:nvSpPr>
        <p:spPr>
          <a:xfrm>
            <a:off x="1948180" y="1388108"/>
            <a:ext cx="2027555"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Presentation</a:t>
            </a:r>
            <a:endParaRPr lang="en-US" sz="1450" dirty="0"/>
          </a:p>
        </p:txBody>
      </p:sp>
      <p:sp>
        <p:nvSpPr>
          <p:cNvPr id="12" name="Text 7"/>
          <p:cNvSpPr/>
          <p:nvPr/>
        </p:nvSpPr>
        <p:spPr>
          <a:xfrm>
            <a:off x="4069080" y="1391927"/>
            <a:ext cx="73410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A"/>
                </a:solidFill>
                <a:latin typeface="Inter" pitchFamily="34" charset="0"/>
                <a:ea typeface="Inter" pitchFamily="34" charset="-122"/>
                <a:cs typeface="Inter" pitchFamily="34" charset="-120"/>
              </a:rPr>
              <a:t>Dashboard · advisor view · documents and rules · coaching · trace</a:t>
            </a:r>
            <a:endParaRPr lang="en-US" sz="1200" dirty="0"/>
          </a:p>
        </p:txBody>
      </p:sp>
      <p:sp>
        <p:nvSpPr>
          <p:cNvPr id="13" name="Shape 8"/>
          <p:cNvSpPr/>
          <p:nvPr/>
        </p:nvSpPr>
        <p:spPr>
          <a:xfrm>
            <a:off x="1400175" y="1820552"/>
            <a:ext cx="9975850" cy="478790"/>
          </a:xfrm>
          <a:prstGeom prst="roundRect">
            <a:avLst>
              <a:gd name="adj" fmla="val 15252"/>
            </a:avLst>
          </a:prstGeom>
          <a:solidFill>
            <a:srgbClr val="FFFFFF"/>
          </a:solidFill>
          <a:ln w="6350">
            <a:solidFill>
              <a:srgbClr val="DFE6EA"/>
            </a:solidFill>
            <a:prstDash val="solid"/>
          </a:ln>
        </p:spPr>
      </p:sp>
      <p:pic>
        <p:nvPicPr>
          <p:cNvPr id="14" name="Image 3" descr="Settings">    </p:cNvPr>
          <p:cNvPicPr>
            <a:picLocks noChangeAspect="1"/>
          </p:cNvPicPr>
          <p:nvPr/>
        </p:nvPicPr>
        <p:blipFill>
          <a:blip r:embed="rId4"/>
          <a:srcRect l="0" r="0" t="0" b="0"/>
          <a:stretch/>
        </p:blipFill>
        <p:spPr>
          <a:xfrm>
            <a:off x="1579880" y="1951992"/>
            <a:ext cx="215900" cy="215900"/>
          </a:xfrm>
          <a:prstGeom prst="rect">
            <a:avLst/>
          </a:prstGeom>
        </p:spPr>
      </p:pic>
      <p:sp>
        <p:nvSpPr>
          <p:cNvPr id="15" name="Text 9"/>
          <p:cNvSpPr/>
          <p:nvPr/>
        </p:nvSpPr>
        <p:spPr>
          <a:xfrm>
            <a:off x="1948180" y="1949450"/>
            <a:ext cx="2027555"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Services</a:t>
            </a:r>
            <a:endParaRPr lang="en-US" sz="1450" dirty="0"/>
          </a:p>
        </p:txBody>
      </p:sp>
      <p:sp>
        <p:nvSpPr>
          <p:cNvPr id="16" name="Text 10"/>
          <p:cNvSpPr/>
          <p:nvPr/>
        </p:nvSpPr>
        <p:spPr>
          <a:xfrm>
            <a:off x="4069080" y="1953258"/>
            <a:ext cx="73410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A"/>
                </a:solidFill>
                <a:latin typeface="Inter" pitchFamily="34" charset="0"/>
                <a:ea typeface="Inter" pitchFamily="34" charset="-122"/>
                <a:cs typeface="Inter" pitchFamily="34" charset="-120"/>
              </a:rPr>
              <a:t>Request handling · export · delivery · REST, GraphQL and MCP access</a:t>
            </a:r>
            <a:endParaRPr lang="en-US" sz="1200" dirty="0"/>
          </a:p>
        </p:txBody>
      </p:sp>
      <p:sp>
        <p:nvSpPr>
          <p:cNvPr id="17" name="Shape 11"/>
          <p:cNvSpPr/>
          <p:nvPr/>
        </p:nvSpPr>
        <p:spPr>
          <a:xfrm>
            <a:off x="1400175" y="2381883"/>
            <a:ext cx="9975850" cy="478790"/>
          </a:xfrm>
          <a:prstGeom prst="roundRect">
            <a:avLst>
              <a:gd name="adj" fmla="val 15252"/>
            </a:avLst>
          </a:prstGeom>
          <a:solidFill>
            <a:srgbClr val="FFFFFF"/>
          </a:solidFill>
          <a:ln w="6350">
            <a:solidFill>
              <a:srgbClr val="DFE6EA"/>
            </a:solidFill>
            <a:prstDash val="solid"/>
          </a:ln>
        </p:spPr>
      </p:sp>
      <p:pic>
        <p:nvPicPr>
          <p:cNvPr id="18" name="Image 4" descr="Lightbulb">    </p:cNvPr>
          <p:cNvPicPr>
            <a:picLocks noChangeAspect="1"/>
          </p:cNvPicPr>
          <p:nvPr/>
        </p:nvPicPr>
        <p:blipFill>
          <a:blip r:embed="rId5"/>
          <a:srcRect l="0" r="0" t="0" b="0"/>
          <a:stretch/>
        </p:blipFill>
        <p:spPr>
          <a:xfrm>
            <a:off x="1579880" y="2513335"/>
            <a:ext cx="215900" cy="215900"/>
          </a:xfrm>
          <a:prstGeom prst="rect">
            <a:avLst/>
          </a:prstGeom>
        </p:spPr>
      </p:pic>
      <p:sp>
        <p:nvSpPr>
          <p:cNvPr id="19" name="Text 12"/>
          <p:cNvSpPr/>
          <p:nvPr/>
        </p:nvSpPr>
        <p:spPr>
          <a:xfrm>
            <a:off x="1948180" y="2510792"/>
            <a:ext cx="2027555"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Agents</a:t>
            </a:r>
            <a:endParaRPr lang="en-US" sz="1450" dirty="0"/>
          </a:p>
        </p:txBody>
      </p:sp>
      <p:sp>
        <p:nvSpPr>
          <p:cNvPr id="20" name="Text 13"/>
          <p:cNvSpPr/>
          <p:nvPr/>
        </p:nvSpPr>
        <p:spPr>
          <a:xfrm>
            <a:off x="4069080" y="2514600"/>
            <a:ext cx="73410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A"/>
                </a:solidFill>
                <a:latin typeface="Inter" pitchFamily="34" charset="0"/>
                <a:ea typeface="Inter" pitchFamily="34" charset="-122"/>
                <a:cs typeface="Inter" pitchFamily="34" charset="-120"/>
              </a:rPr>
              <a:t>Reasoning, extraction, narration — never calculation</a:t>
            </a:r>
            <a:endParaRPr lang="en-US" sz="1200" dirty="0"/>
          </a:p>
        </p:txBody>
      </p:sp>
      <p:sp>
        <p:nvSpPr>
          <p:cNvPr id="21" name="Shape 14"/>
          <p:cNvSpPr/>
          <p:nvPr/>
        </p:nvSpPr>
        <p:spPr>
          <a:xfrm>
            <a:off x="1400175" y="2943225"/>
            <a:ext cx="9975850" cy="478790"/>
          </a:xfrm>
          <a:prstGeom prst="roundRect">
            <a:avLst>
              <a:gd name="adj" fmla="val 15252"/>
            </a:avLst>
          </a:prstGeom>
          <a:solidFill>
            <a:srgbClr val="FFFFFF"/>
          </a:solidFill>
          <a:ln w="6350">
            <a:solidFill>
              <a:srgbClr val="DFE6EA"/>
            </a:solidFill>
            <a:prstDash val="solid"/>
          </a:ln>
        </p:spPr>
      </p:sp>
      <p:pic>
        <p:nvPicPr>
          <p:cNvPr id="22" name="Image 5" descr="Search">    </p:cNvPr>
          <p:cNvPicPr>
            <a:picLocks noChangeAspect="1"/>
          </p:cNvPicPr>
          <p:nvPr/>
        </p:nvPicPr>
        <p:blipFill>
          <a:blip r:embed="rId6"/>
          <a:srcRect l="0" r="0" t="0" b="0"/>
          <a:stretch/>
        </p:blipFill>
        <p:spPr>
          <a:xfrm>
            <a:off x="1579880" y="3074677"/>
            <a:ext cx="215900" cy="215900"/>
          </a:xfrm>
          <a:prstGeom prst="rect">
            <a:avLst/>
          </a:prstGeom>
        </p:spPr>
      </p:pic>
      <p:sp>
        <p:nvSpPr>
          <p:cNvPr id="23" name="Text 15"/>
          <p:cNvSpPr/>
          <p:nvPr/>
        </p:nvSpPr>
        <p:spPr>
          <a:xfrm>
            <a:off x="1948180" y="3072135"/>
            <a:ext cx="2027555"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Context Engineering</a:t>
            </a:r>
            <a:endParaRPr lang="en-US" sz="1450" dirty="0"/>
          </a:p>
        </p:txBody>
      </p:sp>
      <p:sp>
        <p:nvSpPr>
          <p:cNvPr id="24" name="Text 16"/>
          <p:cNvSpPr/>
          <p:nvPr/>
        </p:nvSpPr>
        <p:spPr>
          <a:xfrm>
            <a:off x="4069080" y="3075942"/>
            <a:ext cx="73410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A"/>
                </a:solidFill>
                <a:latin typeface="Inter" pitchFamily="34" charset="0"/>
                <a:ea typeface="Inter" pitchFamily="34" charset="-122"/>
                <a:cs typeface="Inter" pitchFamily="34" charset="-120"/>
              </a:rPr>
              <a:t>Retrieval · ranking · filtering · pruning · compression · assembly · citation binding</a:t>
            </a:r>
            <a:endParaRPr lang="en-US" sz="1200" dirty="0"/>
          </a:p>
        </p:txBody>
      </p:sp>
      <p:sp>
        <p:nvSpPr>
          <p:cNvPr id="25" name="Shape 17"/>
          <p:cNvSpPr/>
          <p:nvPr/>
        </p:nvSpPr>
        <p:spPr>
          <a:xfrm>
            <a:off x="1400175" y="3504567"/>
            <a:ext cx="9975850" cy="699770"/>
          </a:xfrm>
          <a:prstGeom prst="roundRect">
            <a:avLst>
              <a:gd name="adj" fmla="val 10436"/>
            </a:avLst>
          </a:prstGeom>
          <a:solidFill>
            <a:srgbClr val="FFFFFF"/>
          </a:solidFill>
          <a:ln w="6350">
            <a:solidFill>
              <a:srgbClr val="DFE6EA"/>
            </a:solidFill>
            <a:prstDash val="solid"/>
          </a:ln>
        </p:spPr>
      </p:sp>
      <p:pic>
        <p:nvPicPr>
          <p:cNvPr id="26" name="Image 6" descr="Trust">    </p:cNvPr>
          <p:cNvPicPr>
            <a:picLocks noChangeAspect="1"/>
          </p:cNvPicPr>
          <p:nvPr/>
        </p:nvPicPr>
        <p:blipFill>
          <a:blip r:embed="rId7"/>
          <a:srcRect l="0" r="0" t="0" b="0"/>
          <a:stretch/>
        </p:blipFill>
        <p:spPr>
          <a:xfrm>
            <a:off x="1579880" y="3746500"/>
            <a:ext cx="215900" cy="215900"/>
          </a:xfrm>
          <a:prstGeom prst="rect">
            <a:avLst/>
          </a:prstGeom>
        </p:spPr>
      </p:pic>
      <p:sp>
        <p:nvSpPr>
          <p:cNvPr id="27" name="Text 18"/>
          <p:cNvSpPr/>
          <p:nvPr/>
        </p:nvSpPr>
        <p:spPr>
          <a:xfrm>
            <a:off x="1948180" y="3633477"/>
            <a:ext cx="2027555" cy="46736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Guardrails &amp; Verification</a:t>
            </a:r>
            <a:endParaRPr lang="en-US" sz="1450" dirty="0"/>
          </a:p>
        </p:txBody>
      </p:sp>
      <p:sp>
        <p:nvSpPr>
          <p:cNvPr id="28" name="Text 19"/>
          <p:cNvSpPr/>
          <p:nvPr/>
        </p:nvSpPr>
        <p:spPr>
          <a:xfrm>
            <a:off x="4069080" y="3747777"/>
            <a:ext cx="73410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A"/>
                </a:solidFill>
                <a:latin typeface="Inter" pitchFamily="34" charset="0"/>
                <a:ea typeface="Inter" pitchFamily="34" charset="-122"/>
                <a:cs typeface="Inter" pitchFamily="34" charset="-120"/>
              </a:rPr>
              <a:t>Input screened before the answer · every figure verified before display</a:t>
            </a:r>
            <a:endParaRPr lang="en-US" sz="1200" dirty="0"/>
          </a:p>
        </p:txBody>
      </p:sp>
      <p:sp>
        <p:nvSpPr>
          <p:cNvPr id="29" name="Shape 20"/>
          <p:cNvSpPr/>
          <p:nvPr/>
        </p:nvSpPr>
        <p:spPr>
          <a:xfrm>
            <a:off x="1400175" y="4286883"/>
            <a:ext cx="9975850" cy="478790"/>
          </a:xfrm>
          <a:prstGeom prst="roundRect">
            <a:avLst>
              <a:gd name="adj" fmla="val 15252"/>
            </a:avLst>
          </a:prstGeom>
          <a:solidFill>
            <a:srgbClr val="FFFFFF"/>
          </a:solidFill>
          <a:ln w="6350">
            <a:solidFill>
              <a:srgbClr val="DFE6EA"/>
            </a:solidFill>
            <a:prstDash val="solid"/>
          </a:ln>
        </p:spPr>
      </p:sp>
      <p:pic>
        <p:nvPicPr>
          <p:cNvPr id="30" name="Image 7" descr="Key">    </p:cNvPr>
          <p:cNvPicPr>
            <a:picLocks noChangeAspect="1"/>
          </p:cNvPicPr>
          <p:nvPr/>
        </p:nvPicPr>
        <p:blipFill>
          <a:blip r:embed="rId8"/>
          <a:srcRect l="0" r="0" t="0" b="0"/>
          <a:stretch/>
        </p:blipFill>
        <p:spPr>
          <a:xfrm>
            <a:off x="1579880" y="4418335"/>
            <a:ext cx="215900" cy="215900"/>
          </a:xfrm>
          <a:prstGeom prst="rect">
            <a:avLst/>
          </a:prstGeom>
        </p:spPr>
      </p:pic>
      <p:sp>
        <p:nvSpPr>
          <p:cNvPr id="31" name="Text 21"/>
          <p:cNvSpPr/>
          <p:nvPr/>
        </p:nvSpPr>
        <p:spPr>
          <a:xfrm>
            <a:off x="1948180" y="4415792"/>
            <a:ext cx="2027555" cy="24638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0B1622"/>
                </a:solidFill>
                <a:latin typeface="Space Grotesk" pitchFamily="34" charset="0"/>
                <a:ea typeface="Space Grotesk" pitchFamily="34" charset="-122"/>
                <a:cs typeface="Space Grotesk" pitchFamily="34" charset="-120"/>
              </a:rPr>
              <a:t>Data Access</a:t>
            </a:r>
            <a:endParaRPr lang="en-US" sz="1450" dirty="0"/>
          </a:p>
        </p:txBody>
      </p:sp>
      <p:sp>
        <p:nvSpPr>
          <p:cNvPr id="32" name="Text 22"/>
          <p:cNvSpPr/>
          <p:nvPr/>
        </p:nvSpPr>
        <p:spPr>
          <a:xfrm>
            <a:off x="4069080" y="4419600"/>
            <a:ext cx="73410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A"/>
                </a:solidFill>
                <a:latin typeface="Inter" pitchFamily="34" charset="0"/>
                <a:ea typeface="Inter" pitchFamily="34" charset="-122"/>
                <a:cs typeface="Inter" pitchFamily="34" charset="-120"/>
              </a:rPr>
              <a:t>Named, governed queries — the only path to data</a:t>
            </a:r>
            <a:endParaRPr lang="en-US" sz="1200" dirty="0"/>
          </a:p>
        </p:txBody>
      </p:sp>
      <p:sp>
        <p:nvSpPr>
          <p:cNvPr id="33" name="Shape 23"/>
          <p:cNvSpPr/>
          <p:nvPr/>
        </p:nvSpPr>
        <p:spPr>
          <a:xfrm>
            <a:off x="1397000" y="4845050"/>
            <a:ext cx="9982200" cy="546100"/>
          </a:xfrm>
          <a:prstGeom prst="roundRect">
            <a:avLst>
              <a:gd name="adj" fmla="val 13953"/>
            </a:avLst>
          </a:prstGeom>
          <a:solidFill>
            <a:srgbClr val="0B1622"/>
          </a:solidFill>
          <a:ln/>
        </p:spPr>
      </p:sp>
      <p:pic>
        <p:nvPicPr>
          <p:cNvPr id="34" name="Image 8" descr="Database">    </p:cNvPr>
          <p:cNvPicPr>
            <a:picLocks noChangeAspect="1"/>
          </p:cNvPicPr>
          <p:nvPr/>
        </p:nvPicPr>
        <p:blipFill>
          <a:blip r:embed="rId9"/>
          <a:srcRect l="0" r="0" t="0" b="0"/>
          <a:stretch/>
        </p:blipFill>
        <p:spPr>
          <a:xfrm>
            <a:off x="1574800" y="4997450"/>
            <a:ext cx="241300" cy="241300"/>
          </a:xfrm>
          <a:prstGeom prst="rect">
            <a:avLst/>
          </a:prstGeom>
        </p:spPr>
      </p:pic>
      <p:sp>
        <p:nvSpPr>
          <p:cNvPr id="35" name="Text 24"/>
          <p:cNvSpPr/>
          <p:nvPr/>
        </p:nvSpPr>
        <p:spPr>
          <a:xfrm>
            <a:off x="1968500" y="4999992"/>
            <a:ext cx="1962150"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FFFFFF"/>
                </a:solidFill>
                <a:latin typeface="Space Grotesk" pitchFamily="34" charset="0"/>
                <a:ea typeface="Space Grotesk" pitchFamily="34" charset="-122"/>
                <a:cs typeface="Space Grotesk" pitchFamily="34" charset="-120"/>
              </a:rPr>
              <a:t>Knowledge Graph</a:t>
            </a:r>
            <a:endParaRPr lang="en-US" sz="1550" dirty="0"/>
          </a:p>
        </p:txBody>
      </p:sp>
      <p:sp>
        <p:nvSpPr>
          <p:cNvPr id="36" name="Text 25"/>
          <p:cNvSpPr/>
          <p:nvPr/>
        </p:nvSpPr>
        <p:spPr>
          <a:xfrm>
            <a:off x="4025900" y="5006975"/>
            <a:ext cx="739076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FE3DC"/>
                </a:solidFill>
                <a:latin typeface="Inter" pitchFamily="34" charset="0"/>
                <a:ea typeface="Inter" pitchFamily="34" charset="-122"/>
                <a:cs typeface="Inter" pitchFamily="34" charset="-120"/>
              </a:rPr>
              <a:t>TigerGraph — aggregation, filtering, ranking, traversal and as-of state all execute here</a:t>
            </a:r>
            <a:endParaRPr lang="en-US" sz="1250" dirty="0"/>
          </a:p>
        </p:txBody>
      </p:sp>
      <p:sp>
        <p:nvSpPr>
          <p:cNvPr id="37" name="Text 26"/>
          <p:cNvSpPr/>
          <p:nvPr/>
        </p:nvSpPr>
        <p:spPr>
          <a:xfrm>
            <a:off x="812800" y="6211577"/>
            <a:ext cx="10883392"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0897A"/>
                </a:solidFill>
                <a:latin typeface="Space Grotesk" pitchFamily="34" charset="0"/>
                <a:ea typeface="Space Grotesk" pitchFamily="34" charset="-122"/>
                <a:cs typeface="Space Grotesk" pitchFamily="34" charset="-120"/>
              </a:rPr>
              <a:t>The graph computes. The agents interpret. The verification layer decides what is allowed out.</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2765078"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B1622"/>
                </a:solidFill>
                <a:latin typeface="Space Grotesk" pitchFamily="34" charset="0"/>
                <a:ea typeface="Space Grotesk" pitchFamily="34" charset="-122"/>
                <a:cs typeface="Space Grotesk" pitchFamily="34" charset="-120"/>
              </a:rPr>
              <a:t>The agent layer</a:t>
            </a:r>
            <a:endParaRPr lang="en-US" sz="2800" dirty="0"/>
          </a:p>
        </p:txBody>
      </p:sp>
      <p:sp>
        <p:nvSpPr>
          <p:cNvPr id="3" name="Text 1"/>
          <p:cNvSpPr/>
          <p:nvPr/>
        </p:nvSpPr>
        <p:spPr>
          <a:xfrm>
            <a:off x="3637042" y="807727"/>
            <a:ext cx="417373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6B7A"/>
                </a:solidFill>
                <a:latin typeface="Inter" pitchFamily="34" charset="0"/>
                <a:ea typeface="Inter" pitchFamily="34" charset="-122"/>
                <a:cs typeface="Inter" pitchFamily="34" charset="-120"/>
              </a:rPr>
              <a:t>Six specialist agents. Each with a defined boundary.</a:t>
            </a:r>
            <a:endParaRPr lang="en-US" sz="1300" dirty="0"/>
          </a:p>
        </p:txBody>
      </p:sp>
      <p:sp>
        <p:nvSpPr>
          <p:cNvPr id="4" name="Shape 2"/>
          <p:cNvSpPr/>
          <p:nvPr/>
        </p:nvSpPr>
        <p:spPr>
          <a:xfrm>
            <a:off x="812800" y="1191258"/>
            <a:ext cx="3454400" cy="1490980"/>
          </a:xfrm>
          <a:prstGeom prst="roundRect">
            <a:avLst>
              <a:gd name="adj" fmla="val 5963"/>
            </a:avLst>
          </a:prstGeom>
          <a:solidFill>
            <a:srgbClr val="F5F8F9"/>
          </a:solidFill>
          <a:ln/>
        </p:spPr>
      </p:sp>
      <p:pic>
        <p:nvPicPr>
          <p:cNvPr id="5" name="Image 0" descr="Book">    </p:cNvPr>
          <p:cNvPicPr>
            <a:picLocks noChangeAspect="1"/>
          </p:cNvPicPr>
          <p:nvPr/>
        </p:nvPicPr>
        <p:blipFill>
          <a:blip r:embed="rId1"/>
          <a:srcRect l="0" r="0" t="0" b="0"/>
          <a:stretch/>
        </p:blipFill>
        <p:spPr>
          <a:xfrm>
            <a:off x="965200" y="1338585"/>
            <a:ext cx="190500" cy="190500"/>
          </a:xfrm>
          <a:prstGeom prst="rect">
            <a:avLst/>
          </a:prstGeom>
        </p:spPr>
      </p:pic>
      <p:sp>
        <p:nvSpPr>
          <p:cNvPr id="6" name="Text 3"/>
          <p:cNvSpPr/>
          <p:nvPr/>
        </p:nvSpPr>
        <p:spPr>
          <a:xfrm>
            <a:off x="1219200" y="1330958"/>
            <a:ext cx="1235154"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Rule Extractor</a:t>
            </a:r>
            <a:endParaRPr lang="en-US" sz="1350" dirty="0"/>
          </a:p>
        </p:txBody>
      </p:sp>
      <p:sp>
        <p:nvSpPr>
          <p:cNvPr id="7" name="Text 4"/>
          <p:cNvSpPr/>
          <p:nvPr/>
        </p:nvSpPr>
        <p:spPr>
          <a:xfrm>
            <a:off x="965200" y="1600200"/>
            <a:ext cx="324408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Reads plan documents, proposes drafts with citations</a:t>
            </a:r>
            <a:endParaRPr lang="en-US" sz="1200" dirty="0"/>
          </a:p>
        </p:txBody>
      </p:sp>
      <p:sp>
        <p:nvSpPr>
          <p:cNvPr id="8" name="Text 5"/>
          <p:cNvSpPr/>
          <p:nvPr/>
        </p:nvSpPr>
        <p:spPr>
          <a:xfrm>
            <a:off x="965200" y="2059942"/>
            <a:ext cx="3149600" cy="292100"/>
          </a:xfrm>
          <a:prstGeom prst="roundRect">
            <a:avLst>
              <a:gd name="adj" fmla="val 17391"/>
            </a:avLst>
          </a:prstGeom>
          <a:solidFill>
            <a:srgbClr val="FBF0E2"/>
          </a:solidFill>
          <a:ln/>
        </p:spPr>
        <p:txBody>
          <a:bodyPr wrap="square" lIns="61321" tIns="35921" rIns="0" bIns="10521" rtlCol="0" anchor="t">
            <a:normAutofit/>
          </a:bodyPr>
          <a:lstStyle/>
          <a:p>
            <a:pPr algn="l" indent="0" marL="0">
              <a:lnSpc>
                <a:spcPts val="1500"/>
              </a:lnSpc>
              <a:buNone/>
            </a:pPr>
            <a:r>
              <a:rPr lang="en-US" sz="1200" dirty="0">
                <a:solidFill>
                  <a:srgbClr val="8A5518"/>
                </a:solidFill>
                <a:latin typeface="Inter" pitchFamily="34" charset="0"/>
                <a:ea typeface="Inter" pitchFamily="34" charset="-122"/>
                <a:cs typeface="Inter" pitchFamily="34" charset="-120"/>
              </a:rPr>
              <a:t>Proposes only — never publishes</a:t>
            </a:r>
            <a:endParaRPr lang="en-US" sz="1200" dirty="0"/>
          </a:p>
        </p:txBody>
      </p:sp>
      <p:sp>
        <p:nvSpPr>
          <p:cNvPr id="9" name="Shape 6"/>
          <p:cNvSpPr/>
          <p:nvPr/>
        </p:nvSpPr>
        <p:spPr>
          <a:xfrm>
            <a:off x="4368800" y="1191258"/>
            <a:ext cx="3454400" cy="1490980"/>
          </a:xfrm>
          <a:prstGeom prst="roundRect">
            <a:avLst>
              <a:gd name="adj" fmla="val 5963"/>
            </a:avLst>
          </a:prstGeom>
          <a:solidFill>
            <a:srgbClr val="F5F8F9"/>
          </a:solidFill>
          <a:ln/>
        </p:spPr>
      </p:sp>
      <p:pic>
        <p:nvPicPr>
          <p:cNvPr id="10" name="Image 1" descr="Wrench">    </p:cNvPr>
          <p:cNvPicPr>
            <a:picLocks noChangeAspect="1"/>
          </p:cNvPicPr>
          <p:nvPr/>
        </p:nvPicPr>
        <p:blipFill>
          <a:blip r:embed="rId2"/>
          <a:srcRect l="0" r="0" t="0" b="0"/>
          <a:stretch/>
        </p:blipFill>
        <p:spPr>
          <a:xfrm>
            <a:off x="4521200" y="1338585"/>
            <a:ext cx="190500" cy="190500"/>
          </a:xfrm>
          <a:prstGeom prst="rect">
            <a:avLst/>
          </a:prstGeom>
        </p:spPr>
      </p:pic>
      <p:sp>
        <p:nvSpPr>
          <p:cNvPr id="11" name="Text 7"/>
          <p:cNvSpPr/>
          <p:nvPr/>
        </p:nvSpPr>
        <p:spPr>
          <a:xfrm>
            <a:off x="4775200" y="1330958"/>
            <a:ext cx="1180544"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Rule Compiler</a:t>
            </a:r>
            <a:endParaRPr lang="en-US" sz="1350" dirty="0"/>
          </a:p>
        </p:txBody>
      </p:sp>
      <p:sp>
        <p:nvSpPr>
          <p:cNvPr id="12" name="Text 8"/>
          <p:cNvSpPr/>
          <p:nvPr/>
        </p:nvSpPr>
        <p:spPr>
          <a:xfrm>
            <a:off x="4521200" y="1600200"/>
            <a:ext cx="324408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Compiles an approved rule and audits it against published rules</a:t>
            </a:r>
            <a:endParaRPr lang="en-US" sz="1200" dirty="0"/>
          </a:p>
        </p:txBody>
      </p:sp>
      <p:sp>
        <p:nvSpPr>
          <p:cNvPr id="13" name="Text 9"/>
          <p:cNvSpPr/>
          <p:nvPr/>
        </p:nvSpPr>
        <p:spPr>
          <a:xfrm>
            <a:off x="4521200" y="2059942"/>
            <a:ext cx="3149600" cy="292100"/>
          </a:xfrm>
          <a:prstGeom prst="roundRect">
            <a:avLst>
              <a:gd name="adj" fmla="val 17391"/>
            </a:avLst>
          </a:prstGeom>
          <a:solidFill>
            <a:srgbClr val="FBF0E2"/>
          </a:solidFill>
          <a:ln/>
        </p:spPr>
        <p:txBody>
          <a:bodyPr wrap="square" lIns="61321" tIns="35921" rIns="0" bIns="10521" rtlCol="0" anchor="t">
            <a:normAutofit/>
          </a:bodyPr>
          <a:lstStyle/>
          <a:p>
            <a:pPr algn="l" indent="0" marL="0">
              <a:lnSpc>
                <a:spcPts val="1500"/>
              </a:lnSpc>
              <a:buNone/>
            </a:pPr>
            <a:r>
              <a:rPr lang="en-US" sz="1200" dirty="0">
                <a:solidFill>
                  <a:srgbClr val="8A5518"/>
                </a:solidFill>
                <a:latin typeface="Inter" pitchFamily="34" charset="0"/>
                <a:ea typeface="Inter" pitchFamily="34" charset="-122"/>
                <a:cs typeface="Inter" pitchFamily="34" charset="-120"/>
              </a:rPr>
              <a:t>Once at approval — blocks conflicts</a:t>
            </a:r>
            <a:endParaRPr lang="en-US" sz="1200" dirty="0"/>
          </a:p>
        </p:txBody>
      </p:sp>
      <p:sp>
        <p:nvSpPr>
          <p:cNvPr id="14" name="Shape 10"/>
          <p:cNvSpPr/>
          <p:nvPr/>
        </p:nvSpPr>
        <p:spPr>
          <a:xfrm>
            <a:off x="7924800" y="1191258"/>
            <a:ext cx="3454400" cy="1490980"/>
          </a:xfrm>
          <a:prstGeom prst="roundRect">
            <a:avLst>
              <a:gd name="adj" fmla="val 5963"/>
            </a:avLst>
          </a:prstGeom>
          <a:solidFill>
            <a:srgbClr val="F5F8F9"/>
          </a:solidFill>
          <a:ln/>
        </p:spPr>
      </p:sp>
      <p:pic>
        <p:nvPicPr>
          <p:cNvPr id="15" name="Image 2" descr="Chart">    </p:cNvPr>
          <p:cNvPicPr>
            <a:picLocks noChangeAspect="1"/>
          </p:cNvPicPr>
          <p:nvPr/>
        </p:nvPicPr>
        <p:blipFill>
          <a:blip r:embed="rId3"/>
          <a:srcRect l="0" r="0" t="0" b="0"/>
          <a:stretch/>
        </p:blipFill>
        <p:spPr>
          <a:xfrm>
            <a:off x="8077200" y="1338585"/>
            <a:ext cx="190500" cy="190500"/>
          </a:xfrm>
          <a:prstGeom prst="rect">
            <a:avLst/>
          </a:prstGeom>
        </p:spPr>
      </p:pic>
      <p:sp>
        <p:nvSpPr>
          <p:cNvPr id="16" name="Text 11"/>
          <p:cNvSpPr/>
          <p:nvPr/>
        </p:nvSpPr>
        <p:spPr>
          <a:xfrm>
            <a:off x="8331200" y="1330958"/>
            <a:ext cx="1257141"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Insights Agent</a:t>
            </a:r>
            <a:endParaRPr lang="en-US" sz="1350" dirty="0"/>
          </a:p>
        </p:txBody>
      </p:sp>
      <p:sp>
        <p:nvSpPr>
          <p:cNvPr id="17" name="Text 12"/>
          <p:cNvSpPr/>
          <p:nvPr/>
        </p:nvSpPr>
        <p:spPr>
          <a:xfrm>
            <a:off x="8077200" y="1600200"/>
            <a:ext cx="3244088"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C6B7A"/>
                </a:solidFill>
                <a:latin typeface="Inter" pitchFamily="34" charset="0"/>
                <a:ea typeface="Inter" pitchFamily="34" charset="-122"/>
                <a:cs typeface="Inter" pitchFamily="34" charset="-120"/>
              </a:rPr>
              <a:t>Investigate</a:t>
            </a:r>
            <a:r>
              <a:rPr lang="en-US" sz="1200" dirty="0">
                <a:solidFill>
                  <a:srgbClr val="5C6B7A"/>
                </a:solidFill>
                <a:latin typeface="Inter" pitchFamily="34" charset="0"/>
                <a:ea typeface="Inter" pitchFamily="34" charset="-122"/>
                <a:cs typeface="Inter" pitchFamily="34" charset="-120"/>
              </a:rPr>
              <a:t> selects catalogued queries · </a:t>
            </a:r>
            <a:r>
              <a:rPr lang="en-US" sz="1200" b="1" dirty="0">
                <a:solidFill>
                  <a:srgbClr val="5C6B7A"/>
                </a:solidFill>
                <a:latin typeface="Inter" pitchFamily="34" charset="0"/>
                <a:ea typeface="Inter" pitchFamily="34" charset="-122"/>
                <a:cs typeface="Inter" pitchFamily="34" charset="-120"/>
              </a:rPr>
              <a:t>Narrate</a:t>
            </a:r>
            <a:r>
              <a:rPr lang="en-US" sz="1200" dirty="0">
                <a:solidFill>
                  <a:srgbClr val="5C6B7A"/>
                </a:solidFill>
                <a:latin typeface="Inter" pitchFamily="34" charset="0"/>
                <a:ea typeface="Inter" pitchFamily="34" charset="-122"/>
                <a:cs typeface="Inter" pitchFamily="34" charset="-120"/>
              </a:rPr>
              <a:t> writes from findings</a:t>
            </a:r>
            <a:endParaRPr lang="en-US" sz="1200" dirty="0"/>
          </a:p>
        </p:txBody>
      </p:sp>
      <p:sp>
        <p:nvSpPr>
          <p:cNvPr id="18" name="Text 13"/>
          <p:cNvSpPr/>
          <p:nvPr/>
        </p:nvSpPr>
        <p:spPr>
          <a:xfrm>
            <a:off x="8077200" y="2059942"/>
            <a:ext cx="3149600" cy="482600"/>
          </a:xfrm>
          <a:prstGeom prst="roundRect">
            <a:avLst>
              <a:gd name="adj" fmla="val 10526"/>
            </a:avLst>
          </a:prstGeom>
          <a:solidFill>
            <a:srgbClr val="E4F1EE"/>
          </a:solidFill>
          <a:ln/>
        </p:spPr>
        <p:txBody>
          <a:bodyPr wrap="square" lIns="61321" tIns="35921" rIns="0" bIns="10521"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One queries, the other writes — never both</a:t>
            </a:r>
            <a:endParaRPr lang="en-US" sz="1200" dirty="0"/>
          </a:p>
        </p:txBody>
      </p:sp>
      <p:sp>
        <p:nvSpPr>
          <p:cNvPr id="19" name="Shape 14"/>
          <p:cNvSpPr/>
          <p:nvPr/>
        </p:nvSpPr>
        <p:spPr>
          <a:xfrm>
            <a:off x="812800" y="2783842"/>
            <a:ext cx="3454400" cy="1490980"/>
          </a:xfrm>
          <a:prstGeom prst="roundRect">
            <a:avLst>
              <a:gd name="adj" fmla="val 5963"/>
            </a:avLst>
          </a:prstGeom>
          <a:solidFill>
            <a:srgbClr val="F5F8F9"/>
          </a:solidFill>
          <a:ln/>
        </p:spPr>
      </p:sp>
      <p:pic>
        <p:nvPicPr>
          <p:cNvPr id="20" name="Image 3" descr="Star">    </p:cNvPr>
          <p:cNvPicPr>
            <a:picLocks noChangeAspect="1"/>
          </p:cNvPicPr>
          <p:nvPr/>
        </p:nvPicPr>
        <p:blipFill>
          <a:blip r:embed="rId4"/>
          <a:srcRect l="0" r="0" t="0" b="0"/>
          <a:stretch/>
        </p:blipFill>
        <p:spPr>
          <a:xfrm>
            <a:off x="965200" y="2931158"/>
            <a:ext cx="190500" cy="190500"/>
          </a:xfrm>
          <a:prstGeom prst="rect">
            <a:avLst/>
          </a:prstGeom>
        </p:spPr>
      </p:pic>
      <p:sp>
        <p:nvSpPr>
          <p:cNvPr id="21" name="Text 15"/>
          <p:cNvSpPr/>
          <p:nvPr/>
        </p:nvSpPr>
        <p:spPr>
          <a:xfrm>
            <a:off x="1219200" y="2923542"/>
            <a:ext cx="1369774"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Guidance Agent</a:t>
            </a:r>
            <a:endParaRPr lang="en-US" sz="1350" dirty="0"/>
          </a:p>
        </p:txBody>
      </p:sp>
      <p:sp>
        <p:nvSpPr>
          <p:cNvPr id="22" name="Text 16"/>
          <p:cNvSpPr/>
          <p:nvPr/>
        </p:nvSpPr>
        <p:spPr>
          <a:xfrm>
            <a:off x="965200" y="3192785"/>
            <a:ext cx="324408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Coaching and next best action on the individual's own numbers</a:t>
            </a:r>
            <a:endParaRPr lang="en-US" sz="1200" dirty="0"/>
          </a:p>
        </p:txBody>
      </p:sp>
      <p:sp>
        <p:nvSpPr>
          <p:cNvPr id="23" name="Text 17"/>
          <p:cNvSpPr/>
          <p:nvPr/>
        </p:nvSpPr>
        <p:spPr>
          <a:xfrm>
            <a:off x="965200" y="3652527"/>
            <a:ext cx="3149600" cy="482600"/>
          </a:xfrm>
          <a:prstGeom prst="roundRect">
            <a:avLst>
              <a:gd name="adj" fmla="val 10526"/>
            </a:avLst>
          </a:prstGeom>
          <a:solidFill>
            <a:srgbClr val="E4F1EE"/>
          </a:solidFill>
          <a:ln/>
        </p:spPr>
        <p:txBody>
          <a:bodyPr wrap="square" lIns="61321" tIns="35921" rIns="0" bIns="10521"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Retrieved guidance — never invented advice</a:t>
            </a:r>
            <a:endParaRPr lang="en-US" sz="1200" dirty="0"/>
          </a:p>
        </p:txBody>
      </p:sp>
      <p:sp>
        <p:nvSpPr>
          <p:cNvPr id="24" name="Shape 18"/>
          <p:cNvSpPr/>
          <p:nvPr/>
        </p:nvSpPr>
        <p:spPr>
          <a:xfrm>
            <a:off x="4368800" y="2783842"/>
            <a:ext cx="3454400" cy="1490980"/>
          </a:xfrm>
          <a:prstGeom prst="roundRect">
            <a:avLst>
              <a:gd name="adj" fmla="val 5963"/>
            </a:avLst>
          </a:prstGeom>
          <a:solidFill>
            <a:srgbClr val="F5F8F9"/>
          </a:solidFill>
          <a:ln/>
        </p:spPr>
      </p:sp>
      <p:pic>
        <p:nvPicPr>
          <p:cNvPr id="25" name="Image 4" descr="Chat">    </p:cNvPr>
          <p:cNvPicPr>
            <a:picLocks noChangeAspect="1"/>
          </p:cNvPicPr>
          <p:nvPr/>
        </p:nvPicPr>
        <p:blipFill>
          <a:blip r:embed="rId5"/>
          <a:srcRect l="0" r="0" t="0" b="0"/>
          <a:stretch/>
        </p:blipFill>
        <p:spPr>
          <a:xfrm>
            <a:off x="4521200" y="2931158"/>
            <a:ext cx="190500" cy="190500"/>
          </a:xfrm>
          <a:prstGeom prst="rect">
            <a:avLst/>
          </a:prstGeom>
        </p:spPr>
      </p:pic>
      <p:sp>
        <p:nvSpPr>
          <p:cNvPr id="26" name="Text 19"/>
          <p:cNvSpPr/>
          <p:nvPr/>
        </p:nvSpPr>
        <p:spPr>
          <a:xfrm>
            <a:off x="4775200" y="2923542"/>
            <a:ext cx="1844094"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Practice Coach Agent</a:t>
            </a:r>
            <a:endParaRPr lang="en-US" sz="1350" dirty="0"/>
          </a:p>
        </p:txBody>
      </p:sp>
      <p:sp>
        <p:nvSpPr>
          <p:cNvPr id="27" name="Text 20"/>
          <p:cNvSpPr/>
          <p:nvPr/>
        </p:nvSpPr>
        <p:spPr>
          <a:xfrm>
            <a:off x="4521200" y="3192785"/>
            <a:ext cx="324408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Conversational answers across data and relationships</a:t>
            </a:r>
            <a:endParaRPr lang="en-US" sz="1200" dirty="0"/>
          </a:p>
        </p:txBody>
      </p:sp>
      <p:sp>
        <p:nvSpPr>
          <p:cNvPr id="28" name="Text 21"/>
          <p:cNvSpPr/>
          <p:nvPr/>
        </p:nvSpPr>
        <p:spPr>
          <a:xfrm>
            <a:off x="4521200" y="3652527"/>
            <a:ext cx="3149600" cy="292100"/>
          </a:xfrm>
          <a:prstGeom prst="roundRect">
            <a:avLst>
              <a:gd name="adj" fmla="val 17391"/>
            </a:avLst>
          </a:prstGeom>
          <a:solidFill>
            <a:srgbClr val="E4F1EE"/>
          </a:solidFill>
          <a:ln/>
        </p:spPr>
        <p:txBody>
          <a:bodyPr wrap="square" lIns="61321" tIns="35921" rIns="0" bIns="10521" rtlCol="0" anchor="t">
            <a:normAutofit/>
          </a:bodyPr>
          <a:lstStyle/>
          <a:p>
            <a:pPr algn="l" indent="0" marL="0">
              <a:lnSpc>
                <a:spcPts val="1500"/>
              </a:lnSpc>
              <a:buNone/>
            </a:pPr>
            <a:r>
              <a:rPr lang="en-US" sz="1200" dirty="0">
                <a:solidFill>
                  <a:srgbClr val="0B4F46"/>
                </a:solidFill>
                <a:latin typeface="Inter" pitchFamily="34" charset="0"/>
                <a:ea typeface="Inter" pitchFamily="34" charset="-122"/>
                <a:cs typeface="Inter" pitchFamily="34" charset="-120"/>
              </a:rPr>
              <a:t>Scoped to the user's entitlements</a:t>
            </a:r>
            <a:endParaRPr lang="en-US" sz="1200" dirty="0"/>
          </a:p>
        </p:txBody>
      </p:sp>
      <p:sp>
        <p:nvSpPr>
          <p:cNvPr id="29" name="Shape 22"/>
          <p:cNvSpPr/>
          <p:nvPr/>
        </p:nvSpPr>
        <p:spPr>
          <a:xfrm>
            <a:off x="7924800" y="2783842"/>
            <a:ext cx="3454400" cy="1490980"/>
          </a:xfrm>
          <a:prstGeom prst="roundRect">
            <a:avLst>
              <a:gd name="adj" fmla="val 5963"/>
            </a:avLst>
          </a:prstGeom>
          <a:solidFill>
            <a:srgbClr val="0B1622"/>
          </a:solidFill>
          <a:ln/>
        </p:spPr>
      </p:sp>
      <p:pic>
        <p:nvPicPr>
          <p:cNvPr id="30" name="Image 5" descr="Trust">    </p:cNvPr>
          <p:cNvPicPr>
            <a:picLocks noChangeAspect="1"/>
          </p:cNvPicPr>
          <p:nvPr/>
        </p:nvPicPr>
        <p:blipFill>
          <a:blip r:embed="rId6"/>
          <a:srcRect l="0" r="0" t="0" b="0"/>
          <a:stretch/>
        </p:blipFill>
        <p:spPr>
          <a:xfrm>
            <a:off x="8077200" y="2931158"/>
            <a:ext cx="190500" cy="190500"/>
          </a:xfrm>
          <a:prstGeom prst="rect">
            <a:avLst/>
          </a:prstGeom>
        </p:spPr>
      </p:pic>
      <p:sp>
        <p:nvSpPr>
          <p:cNvPr id="31" name="Text 23"/>
          <p:cNvSpPr/>
          <p:nvPr/>
        </p:nvSpPr>
        <p:spPr>
          <a:xfrm>
            <a:off x="8331200" y="2923542"/>
            <a:ext cx="1336119"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FFFFFF"/>
                </a:solidFill>
                <a:latin typeface="Space Grotesk" pitchFamily="34" charset="0"/>
                <a:ea typeface="Space Grotesk" pitchFamily="34" charset="-122"/>
                <a:cs typeface="Space Grotesk" pitchFamily="34" charset="-120"/>
              </a:rPr>
              <a:t>Guardrail Agent</a:t>
            </a:r>
            <a:endParaRPr lang="en-US" sz="1350" dirty="0"/>
          </a:p>
        </p:txBody>
      </p:sp>
      <p:sp>
        <p:nvSpPr>
          <p:cNvPr id="32" name="Text 24"/>
          <p:cNvSpPr/>
          <p:nvPr/>
        </p:nvSpPr>
        <p:spPr>
          <a:xfrm>
            <a:off x="8077200" y="3192785"/>
            <a:ext cx="324408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FE3DC"/>
                </a:solidFill>
                <a:latin typeface="Inter" pitchFamily="34" charset="0"/>
                <a:ea typeface="Inter" pitchFamily="34" charset="-122"/>
                <a:cs typeface="Inter" pitchFamily="34" charset="-120"/>
              </a:rPr>
              <a:t>Screens every input; verifies every output before it is shown</a:t>
            </a:r>
            <a:endParaRPr lang="en-US" sz="1200" dirty="0"/>
          </a:p>
        </p:txBody>
      </p:sp>
      <p:sp>
        <p:nvSpPr>
          <p:cNvPr id="33" name="Text 25"/>
          <p:cNvSpPr/>
          <p:nvPr/>
        </p:nvSpPr>
        <p:spPr>
          <a:xfrm>
            <a:off x="8077200" y="3652527"/>
            <a:ext cx="3149600" cy="292100"/>
          </a:xfrm>
          <a:prstGeom prst="roundRect">
            <a:avLst>
              <a:gd name="adj" fmla="val 17391"/>
            </a:avLst>
          </a:prstGeom>
          <a:solidFill>
            <a:srgbClr val="3A1A14"/>
          </a:solidFill>
          <a:ln/>
        </p:spPr>
        <p:txBody>
          <a:bodyPr wrap="square" lIns="61321" tIns="35921" rIns="0" bIns="10521" rtlCol="0" anchor="t">
            <a:normAutofit/>
          </a:bodyPr>
          <a:lstStyle/>
          <a:p>
            <a:pPr algn="l" indent="0" marL="0">
              <a:lnSpc>
                <a:spcPts val="1500"/>
              </a:lnSpc>
              <a:buNone/>
            </a:pPr>
            <a:r>
              <a:rPr lang="en-US" sz="1200" dirty="0">
                <a:solidFill>
                  <a:srgbClr val="FFB9A3"/>
                </a:solidFill>
                <a:latin typeface="Inter" pitchFamily="34" charset="0"/>
                <a:ea typeface="Inter" pitchFamily="34" charset="-122"/>
                <a:cs typeface="Inter" pitchFamily="34" charset="-120"/>
              </a:rPr>
              <a:t>Fails closed</a:t>
            </a:r>
            <a:endParaRPr lang="en-US" sz="1200" dirty="0"/>
          </a:p>
        </p:txBody>
      </p:sp>
      <p:sp>
        <p:nvSpPr>
          <p:cNvPr id="34" name="Shape 26"/>
          <p:cNvSpPr/>
          <p:nvPr/>
        </p:nvSpPr>
        <p:spPr>
          <a:xfrm>
            <a:off x="812800" y="4414527"/>
            <a:ext cx="10566400" cy="708660"/>
          </a:xfrm>
          <a:prstGeom prst="roundRect">
            <a:avLst>
              <a:gd name="adj" fmla="val 12545"/>
            </a:avLst>
          </a:prstGeom>
          <a:solidFill>
            <a:srgbClr val="E4F1EE"/>
          </a:solidFill>
          <a:ln/>
        </p:spPr>
      </p:sp>
      <p:sp>
        <p:nvSpPr>
          <p:cNvPr id="35" name="Shape 27"/>
          <p:cNvSpPr/>
          <p:nvPr/>
        </p:nvSpPr>
        <p:spPr>
          <a:xfrm>
            <a:off x="812800" y="4414527"/>
            <a:ext cx="10566400" cy="708660"/>
          </a:xfrm>
          <a:custGeom>
            <a:avLst/>
            <a:gdLst/>
            <a:ahLst/>
            <a:cxnLst/>
            <a:rect l="l" t="t" r="r" b="b"/>
            <a:pathLst>
              <a:path w="10566400" h="708660">
                <a:moveTo>
                  <a:pt x="88900" y="708660"/>
                </a:moveTo>
                <a:lnTo>
                  <a:pt x="88900" y="708660"/>
                </a:lnTo>
                <a:arcTo hR="88900" wR="88900" stAng="5400000" swAng="5400000"/>
                <a:lnTo>
                  <a:pt x="0" y="88900"/>
                </a:lnTo>
                <a:arcTo hR="88900" wR="88900" stAng="10800000" swAng="5400000"/>
                <a:lnTo>
                  <a:pt x="88900" y="0"/>
                </a:lnTo>
                <a:arcTo hR="88900" wR="57150" stAng="16200000" swAng="-5400000"/>
                <a:lnTo>
                  <a:pt x="31750" y="619760"/>
                </a:lnTo>
                <a:arcTo hR="88900" wR="57150" stAng="10800000" swAng="-5400000"/>
                <a:close/>
              </a:path>
            </a:pathLst>
          </a:custGeom>
          <a:solidFill>
            <a:srgbClr val="10897A"/>
          </a:solidFill>
          <a:ln/>
        </p:spPr>
      </p:sp>
      <p:pic>
        <p:nvPicPr>
          <p:cNvPr id="36" name="Image 6" descr="Verified">    </p:cNvPr>
          <p:cNvPicPr>
            <a:picLocks noChangeAspect="1"/>
          </p:cNvPicPr>
          <p:nvPr/>
        </p:nvPicPr>
        <p:blipFill>
          <a:blip r:embed="rId7"/>
          <a:srcRect l="0" r="0" t="0" b="0"/>
          <a:stretch/>
        </p:blipFill>
        <p:spPr>
          <a:xfrm>
            <a:off x="1021080" y="4654550"/>
            <a:ext cx="228600" cy="228600"/>
          </a:xfrm>
          <a:prstGeom prst="rect">
            <a:avLst/>
          </a:prstGeom>
        </p:spPr>
      </p:pic>
      <p:sp>
        <p:nvSpPr>
          <p:cNvPr id="37" name="Text 28"/>
          <p:cNvSpPr/>
          <p:nvPr/>
        </p:nvSpPr>
        <p:spPr>
          <a:xfrm>
            <a:off x="1389380" y="4554227"/>
            <a:ext cx="10106381"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4F46"/>
                </a:solidFill>
                <a:latin typeface="Inter" pitchFamily="34" charset="0"/>
                <a:ea typeface="Inter" pitchFamily="34" charset="-122"/>
                <a:cs typeface="Inter" pitchFamily="34" charset="-120"/>
              </a:rPr>
              <a:t>The investigation phase can query but cannot write. The narration phase can write but cannot query. </a:t>
            </a:r>
            <a:r>
              <a:rPr lang="en-US" sz="1300" b="1" dirty="0">
                <a:solidFill>
                  <a:srgbClr val="0B4F46"/>
                </a:solidFill>
                <a:latin typeface="Inter" pitchFamily="34" charset="0"/>
                <a:ea typeface="Inter" pitchFamily="34" charset="-122"/>
                <a:cs typeface="Inter" pitchFamily="34" charset="-120"/>
              </a:rPr>
              <a:t>That separation is why a generated narrative cannot invent a number.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62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403C"/>
              </a:gs>
              <a:gs pos="62000">
                <a:srgbClr val="0B1622"/>
              </a:gs>
            </a:gsLst>
            <a:path path="circle">
              <a:fillToRect l="50000" t="0" r="50000" b="100000"/>
            </a:path>
          </a:gradFill>
          <a:ln/>
        </p:spPr>
      </p:sp>
      <p:sp>
        <p:nvSpPr>
          <p:cNvPr id="3" name="Text 1"/>
          <p:cNvSpPr/>
          <p:nvPr/>
        </p:nvSpPr>
        <p:spPr>
          <a:xfrm>
            <a:off x="812800" y="635000"/>
            <a:ext cx="4146186"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5F8F9"/>
                </a:solidFill>
                <a:latin typeface="Space Grotesk" pitchFamily="34" charset="0"/>
                <a:ea typeface="Space Grotesk" pitchFamily="34" charset="-122"/>
                <a:cs typeface="Space Grotesk" pitchFamily="34" charset="-120"/>
              </a:rPr>
              <a:t>North Star architecture</a:t>
            </a:r>
            <a:endParaRPr lang="en-US" sz="2800" dirty="0"/>
          </a:p>
        </p:txBody>
      </p:sp>
      <p:sp>
        <p:nvSpPr>
          <p:cNvPr id="4" name="Text 2"/>
          <p:cNvSpPr/>
          <p:nvPr/>
        </p:nvSpPr>
        <p:spPr>
          <a:xfrm>
            <a:off x="4990624" y="782327"/>
            <a:ext cx="37279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3BE"/>
                </a:solidFill>
                <a:latin typeface="Inter" pitchFamily="34" charset="0"/>
                <a:ea typeface="Inter" pitchFamily="34" charset="-122"/>
                <a:cs typeface="Inter" pitchFamily="34" charset="-120"/>
              </a:rPr>
              <a:t>Five layers. Each depends on the one below it.</a:t>
            </a:r>
            <a:endParaRPr lang="en-US" sz="1300" dirty="0"/>
          </a:p>
        </p:txBody>
      </p:sp>
      <p:pic>
        <p:nvPicPr>
          <p:cNvPr id="5" name="Image 0" descr="arrow-up">    </p:cNvPr>
          <p:cNvPicPr>
            <a:picLocks noChangeAspect="1"/>
          </p:cNvPicPr>
          <p:nvPr/>
        </p:nvPicPr>
        <p:blipFill>
          <a:blip r:embed="rId1"/>
          <a:srcRect l="0" r="0" t="0" b="0"/>
          <a:stretch/>
        </p:blipFill>
        <p:spPr>
          <a:xfrm>
            <a:off x="914400" y="2547627"/>
            <a:ext cx="190500" cy="393700"/>
          </a:xfrm>
          <a:prstGeom prst="rect">
            <a:avLst/>
          </a:prstGeom>
        </p:spPr>
      </p:pic>
      <p:sp>
        <p:nvSpPr>
          <p:cNvPr id="6" name="Text 3"/>
          <p:cNvSpPr/>
          <p:nvPr/>
        </p:nvSpPr>
        <p:spPr>
          <a:xfrm>
            <a:off x="787400" y="3030227"/>
            <a:ext cx="444500" cy="375920"/>
          </a:xfrm>
          <a:prstGeom prst="rect">
            <a:avLst/>
          </a:prstGeom>
          <a:noFill/>
          <a:ln/>
        </p:spPr>
        <p:txBody>
          <a:bodyPr wrap="square" lIns="0" tIns="0" rIns="0" bIns="0" rtlCol="0" anchor="t">
            <a:normAutofit/>
          </a:bodyPr>
          <a:lstStyle/>
          <a:p>
            <a:pPr algn="ctr" indent="0" marL="0">
              <a:lnSpc>
                <a:spcPts val="1380"/>
              </a:lnSpc>
              <a:buNone/>
            </a:pPr>
            <a:r>
              <a:rPr lang="en-US" sz="1150" dirty="0">
                <a:solidFill>
                  <a:srgbClr val="6FD3C0"/>
                </a:solidFill>
                <a:latin typeface="Inter" pitchFamily="34" charset="0"/>
                <a:ea typeface="Inter" pitchFamily="34" charset="-122"/>
                <a:cs typeface="Inter" pitchFamily="34" charset="-120"/>
              </a:rPr>
              <a:t>build</a:t>
            </a:r>
            <a:endParaRPr lang="en-US" sz="1150" dirty="0"/>
          </a:p>
          <a:p>
            <a:pPr algn="ctr" indent="0" marL="0">
              <a:lnSpc>
                <a:spcPts val="1380"/>
              </a:lnSpc>
              <a:buNone/>
            </a:pPr>
            <a:r>
              <a:rPr lang="en-US" sz="1150" dirty="0">
                <a:solidFill>
                  <a:srgbClr val="6FD3C0"/>
                </a:solidFill>
                <a:latin typeface="Inter" pitchFamily="34" charset="0"/>
                <a:ea typeface="Inter" pitchFamily="34" charset="-122"/>
                <a:cs typeface="Inter" pitchFamily="34" charset="-120"/>
              </a:rPr>
              <a:t>order</a:t>
            </a:r>
            <a:endParaRPr lang="en-US" sz="1150" dirty="0"/>
          </a:p>
        </p:txBody>
      </p:sp>
      <p:sp>
        <p:nvSpPr>
          <p:cNvPr id="7" name="Shape 4"/>
          <p:cNvSpPr/>
          <p:nvPr/>
        </p:nvSpPr>
        <p:spPr>
          <a:xfrm>
            <a:off x="1320800" y="1153158"/>
            <a:ext cx="9550400" cy="572770"/>
          </a:xfrm>
          <a:prstGeom prst="roundRect">
            <a:avLst>
              <a:gd name="adj" fmla="val 15521"/>
            </a:avLst>
          </a:prstGeom>
          <a:solidFill>
            <a:srgbClr val="1C3D58"/>
          </a:solidFill>
          <a:ln/>
        </p:spPr>
      </p:sp>
      <p:sp>
        <p:nvSpPr>
          <p:cNvPr id="8" name="Text 5"/>
          <p:cNvSpPr/>
          <p:nvPr/>
        </p:nvSpPr>
        <p:spPr>
          <a:xfrm>
            <a:off x="1485900" y="1337308"/>
            <a:ext cx="850900" cy="229870"/>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8FC4E8"/>
                </a:solidFill>
                <a:latin typeface="Space Grotesk" pitchFamily="34" charset="0"/>
                <a:ea typeface="Space Grotesk" pitchFamily="34" charset="-122"/>
                <a:cs typeface="Space Grotesk" pitchFamily="34" charset="-120"/>
              </a:rPr>
              <a:t>LAYER 5</a:t>
            </a:r>
            <a:endParaRPr lang="en-US" sz="1150" dirty="0"/>
          </a:p>
        </p:txBody>
      </p:sp>
      <p:sp>
        <p:nvSpPr>
          <p:cNvPr id="9" name="Text 6"/>
          <p:cNvSpPr/>
          <p:nvPr/>
        </p:nvSpPr>
        <p:spPr>
          <a:xfrm>
            <a:off x="2425700" y="1325252"/>
            <a:ext cx="1638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8F9"/>
                </a:solidFill>
                <a:latin typeface="Space Grotesk" pitchFamily="34" charset="0"/>
                <a:ea typeface="Space Grotesk" pitchFamily="34" charset="-122"/>
                <a:cs typeface="Space Grotesk" pitchFamily="34" charset="-120"/>
              </a:rPr>
              <a:t>Experience</a:t>
            </a:r>
            <a:endParaRPr lang="en-US" sz="1500" dirty="0"/>
          </a:p>
        </p:txBody>
      </p:sp>
      <p:sp>
        <p:nvSpPr>
          <p:cNvPr id="10" name="Text 7"/>
          <p:cNvSpPr/>
          <p:nvPr/>
        </p:nvSpPr>
        <p:spPr>
          <a:xfrm>
            <a:off x="4152900" y="1280158"/>
            <a:ext cx="1713865" cy="318770"/>
          </a:xfrm>
          <a:prstGeom prst="roundRect">
            <a:avLst>
              <a:gd name="adj" fmla="val 15936"/>
            </a:avLst>
          </a:prstGeom>
          <a:solidFill>
            <a:srgbClr val="25506F"/>
          </a:solidFill>
          <a:ln/>
        </p:spPr>
        <p:txBody>
          <a:bodyPr wrap="none" lIns="0" tIns="0" rIns="0" bIns="0" rtlCol="0" anchor="ctr">
            <a:normAutofit/>
          </a:bodyPr>
          <a:lstStyle/>
          <a:p>
            <a:pPr algn="ctr" indent="0" marL="0">
              <a:lnSpc>
                <a:spcPts val="1610"/>
              </a:lnSpc>
              <a:buNone/>
            </a:pPr>
            <a:r>
              <a:rPr lang="en-US" sz="1150" dirty="0">
                <a:solidFill>
                  <a:srgbClr val="D6E9F5"/>
                </a:solidFill>
                <a:latin typeface="Inter" pitchFamily="34" charset="0"/>
                <a:ea typeface="Inter" pitchFamily="34" charset="-122"/>
                <a:cs typeface="Inter" pitchFamily="34" charset="-120"/>
              </a:rPr>
              <a:t>Practice Management</a:t>
            </a:r>
            <a:endParaRPr lang="en-US" sz="1150" dirty="0"/>
          </a:p>
        </p:txBody>
      </p:sp>
      <p:sp>
        <p:nvSpPr>
          <p:cNvPr id="11" name="Text 8"/>
          <p:cNvSpPr/>
          <p:nvPr/>
        </p:nvSpPr>
        <p:spPr>
          <a:xfrm>
            <a:off x="5930265" y="1280158"/>
            <a:ext cx="796052" cy="318770"/>
          </a:xfrm>
          <a:prstGeom prst="roundRect">
            <a:avLst>
              <a:gd name="adj" fmla="val 15936"/>
            </a:avLst>
          </a:prstGeom>
          <a:solidFill>
            <a:srgbClr val="25506F"/>
          </a:solidFill>
          <a:ln/>
        </p:spPr>
        <p:txBody>
          <a:bodyPr wrap="none" lIns="0" tIns="0" rIns="0" bIns="0" rtlCol="0" anchor="ctr">
            <a:normAutofit/>
          </a:bodyPr>
          <a:lstStyle/>
          <a:p>
            <a:pPr algn="ctr" indent="0" marL="0">
              <a:lnSpc>
                <a:spcPts val="1610"/>
              </a:lnSpc>
              <a:buNone/>
            </a:pPr>
            <a:r>
              <a:rPr lang="en-US" sz="1150" dirty="0">
                <a:solidFill>
                  <a:srgbClr val="D6E9F5"/>
                </a:solidFill>
                <a:latin typeface="Inter" pitchFamily="34" charset="0"/>
                <a:ea typeface="Inter" pitchFamily="34" charset="-122"/>
                <a:cs typeface="Inter" pitchFamily="34" charset="-120"/>
              </a:rPr>
              <a:t>iPerform</a:t>
            </a:r>
            <a:endParaRPr lang="en-US" sz="1150" dirty="0"/>
          </a:p>
        </p:txBody>
      </p:sp>
      <p:sp>
        <p:nvSpPr>
          <p:cNvPr id="12" name="Text 9"/>
          <p:cNvSpPr/>
          <p:nvPr/>
        </p:nvSpPr>
        <p:spPr>
          <a:xfrm>
            <a:off x="6789817" y="1280158"/>
            <a:ext cx="1742043" cy="318770"/>
          </a:xfrm>
          <a:prstGeom prst="roundRect">
            <a:avLst>
              <a:gd name="adj" fmla="val 15936"/>
            </a:avLst>
          </a:prstGeom>
          <a:solidFill>
            <a:srgbClr val="25506F"/>
          </a:solidFill>
          <a:ln/>
        </p:spPr>
        <p:txBody>
          <a:bodyPr wrap="none" lIns="0" tIns="0" rIns="0" bIns="0" rtlCol="0" anchor="ctr">
            <a:normAutofit/>
          </a:bodyPr>
          <a:lstStyle/>
          <a:p>
            <a:pPr algn="ctr" indent="0" marL="0">
              <a:lnSpc>
                <a:spcPts val="1610"/>
              </a:lnSpc>
              <a:buNone/>
            </a:pPr>
            <a:r>
              <a:rPr lang="en-US" sz="1150" dirty="0">
                <a:solidFill>
                  <a:srgbClr val="D6E9F5"/>
                </a:solidFill>
                <a:latin typeface="Inter" pitchFamily="34" charset="0"/>
                <a:ea typeface="Inter" pitchFamily="34" charset="-122"/>
                <a:cs typeface="Inter" pitchFamily="34" charset="-120"/>
              </a:rPr>
              <a:t>Conversational agents</a:t>
            </a:r>
            <a:endParaRPr lang="en-US" sz="1150" dirty="0"/>
          </a:p>
        </p:txBody>
      </p:sp>
      <p:sp>
        <p:nvSpPr>
          <p:cNvPr id="13" name="Text 10"/>
          <p:cNvSpPr/>
          <p:nvPr/>
        </p:nvSpPr>
        <p:spPr>
          <a:xfrm>
            <a:off x="8595360" y="1280158"/>
            <a:ext cx="1378029" cy="318770"/>
          </a:xfrm>
          <a:prstGeom prst="roundRect">
            <a:avLst>
              <a:gd name="adj" fmla="val 15936"/>
            </a:avLst>
          </a:prstGeom>
          <a:solidFill>
            <a:srgbClr val="25506F"/>
          </a:solidFill>
          <a:ln/>
        </p:spPr>
        <p:txBody>
          <a:bodyPr wrap="none" lIns="0" tIns="0" rIns="0" bIns="0" rtlCol="0" anchor="ctr">
            <a:normAutofit/>
          </a:bodyPr>
          <a:lstStyle/>
          <a:p>
            <a:pPr algn="ctr" indent="0" marL="0">
              <a:lnSpc>
                <a:spcPts val="1610"/>
              </a:lnSpc>
              <a:buNone/>
            </a:pPr>
            <a:r>
              <a:rPr lang="en-US" sz="1150" dirty="0">
                <a:solidFill>
                  <a:srgbClr val="D6E9F5"/>
                </a:solidFill>
                <a:latin typeface="Inter" pitchFamily="34" charset="0"/>
                <a:ea typeface="Inter" pitchFamily="34" charset="-122"/>
                <a:cs typeface="Inter" pitchFamily="34" charset="-120"/>
              </a:rPr>
              <a:t>Export &amp; delivery</a:t>
            </a:r>
            <a:endParaRPr lang="en-US" sz="1150" dirty="0"/>
          </a:p>
        </p:txBody>
      </p:sp>
      <p:sp>
        <p:nvSpPr>
          <p:cNvPr id="14" name="Shape 11"/>
          <p:cNvSpPr/>
          <p:nvPr/>
        </p:nvSpPr>
        <p:spPr>
          <a:xfrm>
            <a:off x="1320800" y="1814835"/>
            <a:ext cx="9550400" cy="572770"/>
          </a:xfrm>
          <a:prstGeom prst="roundRect">
            <a:avLst>
              <a:gd name="adj" fmla="val 15521"/>
            </a:avLst>
          </a:prstGeom>
          <a:solidFill>
            <a:srgbClr val="3A2A10"/>
          </a:solidFill>
          <a:ln/>
        </p:spPr>
      </p:sp>
      <p:sp>
        <p:nvSpPr>
          <p:cNvPr id="15" name="Text 12"/>
          <p:cNvSpPr/>
          <p:nvPr/>
        </p:nvSpPr>
        <p:spPr>
          <a:xfrm>
            <a:off x="1485900" y="1998985"/>
            <a:ext cx="850900" cy="229870"/>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F0C99A"/>
                </a:solidFill>
                <a:latin typeface="Space Grotesk" pitchFamily="34" charset="0"/>
                <a:ea typeface="Space Grotesk" pitchFamily="34" charset="-122"/>
                <a:cs typeface="Space Grotesk" pitchFamily="34" charset="-120"/>
              </a:rPr>
              <a:t>LAYER 4</a:t>
            </a:r>
            <a:endParaRPr lang="en-US" sz="1150" dirty="0"/>
          </a:p>
        </p:txBody>
      </p:sp>
      <p:sp>
        <p:nvSpPr>
          <p:cNvPr id="16" name="Text 13"/>
          <p:cNvSpPr/>
          <p:nvPr/>
        </p:nvSpPr>
        <p:spPr>
          <a:xfrm>
            <a:off x="2425700" y="1986917"/>
            <a:ext cx="1638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8F9"/>
                </a:solidFill>
                <a:latin typeface="Space Grotesk" pitchFamily="34" charset="0"/>
                <a:ea typeface="Space Grotesk" pitchFamily="34" charset="-122"/>
                <a:cs typeface="Space Grotesk" pitchFamily="34" charset="-120"/>
              </a:rPr>
              <a:t>Intelligence</a:t>
            </a:r>
            <a:endParaRPr lang="en-US" sz="1500" dirty="0"/>
          </a:p>
        </p:txBody>
      </p:sp>
      <p:sp>
        <p:nvSpPr>
          <p:cNvPr id="17" name="Text 14"/>
          <p:cNvSpPr/>
          <p:nvPr/>
        </p:nvSpPr>
        <p:spPr>
          <a:xfrm>
            <a:off x="4152900" y="1941835"/>
            <a:ext cx="1651714" cy="318770"/>
          </a:xfrm>
          <a:prstGeom prst="roundRect">
            <a:avLst>
              <a:gd name="adj" fmla="val 15936"/>
            </a:avLst>
          </a:prstGeom>
          <a:solidFill>
            <a:srgbClr val="4E3A16"/>
          </a:solidFill>
          <a:ln/>
        </p:spPr>
        <p:txBody>
          <a:bodyPr wrap="none" lIns="0" tIns="0" rIns="0" bIns="0" rtlCol="0" anchor="ctr">
            <a:normAutofit/>
          </a:bodyPr>
          <a:lstStyle/>
          <a:p>
            <a:pPr algn="ctr" indent="0" marL="0">
              <a:lnSpc>
                <a:spcPts val="1610"/>
              </a:lnSpc>
              <a:buNone/>
            </a:pPr>
            <a:r>
              <a:rPr lang="en-US" sz="1150" dirty="0">
                <a:solidFill>
                  <a:srgbClr val="F6E2C8"/>
                </a:solidFill>
                <a:latin typeface="Inter" pitchFamily="34" charset="0"/>
                <a:ea typeface="Inter" pitchFamily="34" charset="-122"/>
                <a:cs typeface="Inter" pitchFamily="34" charset="-120"/>
              </a:rPr>
              <a:t>Autonomous insights</a:t>
            </a:r>
            <a:endParaRPr lang="en-US" sz="1150" dirty="0"/>
          </a:p>
        </p:txBody>
      </p:sp>
      <p:sp>
        <p:nvSpPr>
          <p:cNvPr id="18" name="Text 15"/>
          <p:cNvSpPr/>
          <p:nvPr/>
        </p:nvSpPr>
        <p:spPr>
          <a:xfrm>
            <a:off x="5868114" y="1941835"/>
            <a:ext cx="2240201" cy="318770"/>
          </a:xfrm>
          <a:prstGeom prst="roundRect">
            <a:avLst>
              <a:gd name="adj" fmla="val 15936"/>
            </a:avLst>
          </a:prstGeom>
          <a:solidFill>
            <a:srgbClr val="4E3A16"/>
          </a:solidFill>
          <a:ln/>
        </p:spPr>
        <p:txBody>
          <a:bodyPr wrap="none" lIns="0" tIns="0" rIns="0" bIns="0" rtlCol="0" anchor="ctr">
            <a:normAutofit/>
          </a:bodyPr>
          <a:lstStyle/>
          <a:p>
            <a:pPr algn="ctr" indent="0" marL="0">
              <a:lnSpc>
                <a:spcPts val="1610"/>
              </a:lnSpc>
              <a:buNone/>
            </a:pPr>
            <a:r>
              <a:rPr lang="en-US" sz="1150" dirty="0">
                <a:solidFill>
                  <a:srgbClr val="F6E2C8"/>
                </a:solidFill>
                <a:latin typeface="Inter" pitchFamily="34" charset="0"/>
                <a:ea typeface="Inter" pitchFamily="34" charset="-122"/>
                <a:cs typeface="Inter" pitchFamily="34" charset="-120"/>
              </a:rPr>
              <a:t>Prediction &amp; recommendation</a:t>
            </a:r>
            <a:endParaRPr lang="en-US" sz="1150" dirty="0"/>
          </a:p>
        </p:txBody>
      </p:sp>
      <p:sp>
        <p:nvSpPr>
          <p:cNvPr id="19" name="Text 16"/>
          <p:cNvSpPr/>
          <p:nvPr/>
        </p:nvSpPr>
        <p:spPr>
          <a:xfrm>
            <a:off x="8171815" y="1941835"/>
            <a:ext cx="861933" cy="318770"/>
          </a:xfrm>
          <a:prstGeom prst="roundRect">
            <a:avLst>
              <a:gd name="adj" fmla="val 15936"/>
            </a:avLst>
          </a:prstGeom>
          <a:solidFill>
            <a:srgbClr val="4E3A16"/>
          </a:solidFill>
          <a:ln/>
        </p:spPr>
        <p:txBody>
          <a:bodyPr wrap="none" lIns="0" tIns="0" rIns="0" bIns="0" rtlCol="0" anchor="ctr">
            <a:normAutofit/>
          </a:bodyPr>
          <a:lstStyle/>
          <a:p>
            <a:pPr algn="ctr" indent="0" marL="0">
              <a:lnSpc>
                <a:spcPts val="1610"/>
              </a:lnSpc>
              <a:buNone/>
            </a:pPr>
            <a:r>
              <a:rPr lang="en-US" sz="1150" dirty="0">
                <a:solidFill>
                  <a:srgbClr val="F6E2C8"/>
                </a:solidFill>
                <a:latin typeface="Inter" pitchFamily="34" charset="0"/>
                <a:ea typeface="Inter" pitchFamily="34" charset="-122"/>
                <a:cs typeface="Inter" pitchFamily="34" charset="-120"/>
              </a:rPr>
              <a:t>Coaching</a:t>
            </a:r>
            <a:endParaRPr lang="en-US" sz="1150" dirty="0"/>
          </a:p>
        </p:txBody>
      </p:sp>
      <p:sp>
        <p:nvSpPr>
          <p:cNvPr id="20" name="Text 17"/>
          <p:cNvSpPr/>
          <p:nvPr/>
        </p:nvSpPr>
        <p:spPr>
          <a:xfrm>
            <a:off x="9097249" y="1941835"/>
            <a:ext cx="1583928" cy="318770"/>
          </a:xfrm>
          <a:prstGeom prst="roundRect">
            <a:avLst>
              <a:gd name="adj" fmla="val 15936"/>
            </a:avLst>
          </a:prstGeom>
          <a:solidFill>
            <a:srgbClr val="4E3A16"/>
          </a:solidFill>
          <a:ln/>
        </p:spPr>
        <p:txBody>
          <a:bodyPr wrap="none" lIns="0" tIns="0" rIns="0" bIns="0" rtlCol="0" anchor="ctr">
            <a:normAutofit/>
          </a:bodyPr>
          <a:lstStyle/>
          <a:p>
            <a:pPr algn="ctr" indent="0" marL="0">
              <a:lnSpc>
                <a:spcPts val="1610"/>
              </a:lnSpc>
              <a:buNone/>
            </a:pPr>
            <a:r>
              <a:rPr lang="en-US" sz="1150" dirty="0">
                <a:solidFill>
                  <a:srgbClr val="F6E2C8"/>
                </a:solidFill>
                <a:latin typeface="Inter" pitchFamily="34" charset="0"/>
                <a:ea typeface="Inter" pitchFamily="34" charset="-122"/>
                <a:cs typeface="Inter" pitchFamily="34" charset="-120"/>
              </a:rPr>
              <a:t>Opportunity scoring</a:t>
            </a:r>
            <a:endParaRPr lang="en-US" sz="1150" dirty="0"/>
          </a:p>
        </p:txBody>
      </p:sp>
      <p:sp>
        <p:nvSpPr>
          <p:cNvPr id="21" name="Shape 18"/>
          <p:cNvSpPr/>
          <p:nvPr/>
        </p:nvSpPr>
        <p:spPr>
          <a:xfrm>
            <a:off x="1320800" y="2476500"/>
            <a:ext cx="9550400" cy="572770"/>
          </a:xfrm>
          <a:prstGeom prst="roundRect">
            <a:avLst>
              <a:gd name="adj" fmla="val 15521"/>
            </a:avLst>
          </a:prstGeom>
          <a:solidFill>
            <a:srgbClr val="2E2350"/>
          </a:solidFill>
          <a:ln/>
        </p:spPr>
      </p:sp>
      <p:sp>
        <p:nvSpPr>
          <p:cNvPr id="22" name="Text 19"/>
          <p:cNvSpPr/>
          <p:nvPr/>
        </p:nvSpPr>
        <p:spPr>
          <a:xfrm>
            <a:off x="1485900" y="2660650"/>
            <a:ext cx="850900" cy="229870"/>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BDAEF0"/>
                </a:solidFill>
                <a:latin typeface="Space Grotesk" pitchFamily="34" charset="0"/>
                <a:ea typeface="Space Grotesk" pitchFamily="34" charset="-122"/>
                <a:cs typeface="Space Grotesk" pitchFamily="34" charset="-120"/>
              </a:rPr>
              <a:t>LAYER 3</a:t>
            </a:r>
            <a:endParaRPr lang="en-US" sz="1150" dirty="0"/>
          </a:p>
        </p:txBody>
      </p:sp>
      <p:sp>
        <p:nvSpPr>
          <p:cNvPr id="23" name="Text 20"/>
          <p:cNvSpPr/>
          <p:nvPr/>
        </p:nvSpPr>
        <p:spPr>
          <a:xfrm>
            <a:off x="2425700" y="2648583"/>
            <a:ext cx="1638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8F9"/>
                </a:solidFill>
                <a:latin typeface="Space Grotesk" pitchFamily="34" charset="0"/>
                <a:ea typeface="Space Grotesk" pitchFamily="34" charset="-122"/>
                <a:cs typeface="Space Grotesk" pitchFamily="34" charset="-120"/>
              </a:rPr>
              <a:t>Agent platform</a:t>
            </a:r>
            <a:endParaRPr lang="en-US" sz="1500" dirty="0"/>
          </a:p>
        </p:txBody>
      </p:sp>
      <p:sp>
        <p:nvSpPr>
          <p:cNvPr id="24" name="Text 21"/>
          <p:cNvSpPr/>
          <p:nvPr/>
        </p:nvSpPr>
        <p:spPr>
          <a:xfrm>
            <a:off x="4152900" y="2603500"/>
            <a:ext cx="1141333" cy="318770"/>
          </a:xfrm>
          <a:prstGeom prst="roundRect">
            <a:avLst>
              <a:gd name="adj" fmla="val 15936"/>
            </a:avLst>
          </a:prstGeom>
          <a:solidFill>
            <a:srgbClr val="3E3068"/>
          </a:solidFill>
          <a:ln/>
        </p:spPr>
        <p:txBody>
          <a:bodyPr wrap="none" lIns="0" tIns="0" rIns="0" bIns="0" rtlCol="0" anchor="ctr">
            <a:normAutofit/>
          </a:bodyPr>
          <a:lstStyle/>
          <a:p>
            <a:pPr algn="ctr" indent="0" marL="0">
              <a:lnSpc>
                <a:spcPts val="1610"/>
              </a:lnSpc>
              <a:buNone/>
            </a:pPr>
            <a:r>
              <a:rPr lang="en-US" sz="1150" dirty="0">
                <a:solidFill>
                  <a:srgbClr val="DCD4F7"/>
                </a:solidFill>
                <a:latin typeface="Inter" pitchFamily="34" charset="0"/>
                <a:ea typeface="Inter" pitchFamily="34" charset="-122"/>
                <a:cs typeface="Inter" pitchFamily="34" charset="-120"/>
              </a:rPr>
              <a:t>Orchestration</a:t>
            </a:r>
            <a:endParaRPr lang="en-US" sz="1150" dirty="0"/>
          </a:p>
        </p:txBody>
      </p:sp>
      <p:sp>
        <p:nvSpPr>
          <p:cNvPr id="25" name="Text 22"/>
          <p:cNvSpPr/>
          <p:nvPr/>
        </p:nvSpPr>
        <p:spPr>
          <a:xfrm>
            <a:off x="5357733" y="2603500"/>
            <a:ext cx="1604089" cy="318770"/>
          </a:xfrm>
          <a:prstGeom prst="roundRect">
            <a:avLst>
              <a:gd name="adj" fmla="val 15936"/>
            </a:avLst>
          </a:prstGeom>
          <a:solidFill>
            <a:srgbClr val="3E3068"/>
          </a:solidFill>
          <a:ln/>
        </p:spPr>
        <p:txBody>
          <a:bodyPr wrap="none" lIns="0" tIns="0" rIns="0" bIns="0" rtlCol="0" anchor="ctr">
            <a:normAutofit/>
          </a:bodyPr>
          <a:lstStyle/>
          <a:p>
            <a:pPr algn="ctr" indent="0" marL="0">
              <a:lnSpc>
                <a:spcPts val="1610"/>
              </a:lnSpc>
              <a:buNone/>
            </a:pPr>
            <a:r>
              <a:rPr lang="en-US" sz="1150" dirty="0">
                <a:solidFill>
                  <a:srgbClr val="DCD4F7"/>
                </a:solidFill>
                <a:latin typeface="Inter" pitchFamily="34" charset="0"/>
                <a:ea typeface="Inter" pitchFamily="34" charset="-122"/>
                <a:cs typeface="Inter" pitchFamily="34" charset="-120"/>
              </a:rPr>
              <a:t>Context engineering</a:t>
            </a:r>
            <a:endParaRPr lang="en-US" sz="1150" dirty="0"/>
          </a:p>
        </p:txBody>
      </p:sp>
      <p:sp>
        <p:nvSpPr>
          <p:cNvPr id="26" name="Text 23"/>
          <p:cNvSpPr/>
          <p:nvPr/>
        </p:nvSpPr>
        <p:spPr>
          <a:xfrm>
            <a:off x="7025322" y="2603500"/>
            <a:ext cx="1405334" cy="318770"/>
          </a:xfrm>
          <a:prstGeom prst="roundRect">
            <a:avLst>
              <a:gd name="adj" fmla="val 15936"/>
            </a:avLst>
          </a:prstGeom>
          <a:solidFill>
            <a:srgbClr val="3E3068"/>
          </a:solidFill>
          <a:ln/>
        </p:spPr>
        <p:txBody>
          <a:bodyPr wrap="none" lIns="0" tIns="0" rIns="0" bIns="0" rtlCol="0" anchor="ctr">
            <a:normAutofit/>
          </a:bodyPr>
          <a:lstStyle/>
          <a:p>
            <a:pPr algn="ctr" indent="0" marL="0">
              <a:lnSpc>
                <a:spcPts val="1610"/>
              </a:lnSpc>
              <a:buNone/>
            </a:pPr>
            <a:r>
              <a:rPr lang="en-US" sz="1150" dirty="0">
                <a:solidFill>
                  <a:srgbClr val="DCD4F7"/>
                </a:solidFill>
                <a:latin typeface="Inter" pitchFamily="34" charset="0"/>
                <a:ea typeface="Inter" pitchFamily="34" charset="-122"/>
                <a:cs typeface="Inter" pitchFamily="34" charset="-120"/>
              </a:rPr>
              <a:t>Evaluation &amp; trust</a:t>
            </a:r>
            <a:endParaRPr lang="en-US" sz="1150" dirty="0"/>
          </a:p>
        </p:txBody>
      </p:sp>
      <p:sp>
        <p:nvSpPr>
          <p:cNvPr id="27" name="Text 24"/>
          <p:cNvSpPr/>
          <p:nvPr/>
        </p:nvSpPr>
        <p:spPr>
          <a:xfrm>
            <a:off x="8494157" y="2603500"/>
            <a:ext cx="1706642" cy="318770"/>
          </a:xfrm>
          <a:prstGeom prst="roundRect">
            <a:avLst>
              <a:gd name="adj" fmla="val 15936"/>
            </a:avLst>
          </a:prstGeom>
          <a:solidFill>
            <a:srgbClr val="3E3068"/>
          </a:solidFill>
          <a:ln/>
        </p:spPr>
        <p:txBody>
          <a:bodyPr wrap="none" lIns="0" tIns="0" rIns="0" bIns="0" rtlCol="0" anchor="ctr">
            <a:normAutofit/>
          </a:bodyPr>
          <a:lstStyle/>
          <a:p>
            <a:pPr algn="ctr" indent="0" marL="0">
              <a:lnSpc>
                <a:spcPts val="1610"/>
              </a:lnSpc>
              <a:buNone/>
            </a:pPr>
            <a:r>
              <a:rPr lang="en-US" sz="1150" dirty="0">
                <a:solidFill>
                  <a:srgbClr val="DCD4F7"/>
                </a:solidFill>
                <a:latin typeface="Inter" pitchFamily="34" charset="0"/>
                <a:ea typeface="Inter" pitchFamily="34" charset="-122"/>
                <a:cs typeface="Inter" pitchFamily="34" charset="-120"/>
              </a:rPr>
              <a:t>Governed tool access</a:t>
            </a:r>
            <a:endParaRPr lang="en-US" sz="1150" dirty="0"/>
          </a:p>
        </p:txBody>
      </p:sp>
      <p:sp>
        <p:nvSpPr>
          <p:cNvPr id="28" name="Shape 25"/>
          <p:cNvSpPr/>
          <p:nvPr/>
        </p:nvSpPr>
        <p:spPr>
          <a:xfrm>
            <a:off x="1327150" y="3144527"/>
            <a:ext cx="9537700" cy="962660"/>
          </a:xfrm>
          <a:prstGeom prst="roundRect">
            <a:avLst>
              <a:gd name="adj" fmla="val 8575"/>
            </a:avLst>
          </a:prstGeom>
          <a:solidFill>
            <a:srgbClr val="0F4A42"/>
          </a:solidFill>
          <a:ln w="12700">
            <a:solidFill>
              <a:srgbClr val="10897A"/>
            </a:solidFill>
            <a:prstDash val="solid"/>
          </a:ln>
        </p:spPr>
      </p:sp>
      <p:sp>
        <p:nvSpPr>
          <p:cNvPr id="29" name="Text 26"/>
          <p:cNvSpPr/>
          <p:nvPr/>
        </p:nvSpPr>
        <p:spPr>
          <a:xfrm>
            <a:off x="1496060" y="3523617"/>
            <a:ext cx="850900" cy="229870"/>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6FD3C0"/>
                </a:solidFill>
                <a:latin typeface="Space Grotesk" pitchFamily="34" charset="0"/>
                <a:ea typeface="Space Grotesk" pitchFamily="34" charset="-122"/>
                <a:cs typeface="Space Grotesk" pitchFamily="34" charset="-120"/>
              </a:rPr>
              <a:t>LAYER 2</a:t>
            </a:r>
            <a:endParaRPr lang="en-US" sz="1150" dirty="0"/>
          </a:p>
        </p:txBody>
      </p:sp>
      <p:sp>
        <p:nvSpPr>
          <p:cNvPr id="30" name="Text 27"/>
          <p:cNvSpPr/>
          <p:nvPr/>
        </p:nvSpPr>
        <p:spPr>
          <a:xfrm>
            <a:off x="2435860" y="3511550"/>
            <a:ext cx="1638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8F9"/>
                </a:solidFill>
                <a:latin typeface="Space Grotesk" pitchFamily="34" charset="0"/>
                <a:ea typeface="Space Grotesk" pitchFamily="34" charset="-122"/>
                <a:cs typeface="Space Grotesk" pitchFamily="34" charset="-120"/>
              </a:rPr>
              <a:t>Knowledge</a:t>
            </a:r>
            <a:endParaRPr lang="en-US" sz="1500" dirty="0"/>
          </a:p>
        </p:txBody>
      </p:sp>
      <p:sp>
        <p:nvSpPr>
          <p:cNvPr id="31" name="Text 28"/>
          <p:cNvSpPr/>
          <p:nvPr/>
        </p:nvSpPr>
        <p:spPr>
          <a:xfrm>
            <a:off x="4163060" y="3275335"/>
            <a:ext cx="2088594" cy="318770"/>
          </a:xfrm>
          <a:prstGeom prst="roundRect">
            <a:avLst>
              <a:gd name="adj" fmla="val 15936"/>
            </a:avLst>
          </a:prstGeom>
          <a:solidFill>
            <a:srgbClr val="156056"/>
          </a:solidFill>
          <a:ln/>
        </p:spPr>
        <p:txBody>
          <a:bodyPr wrap="none" lIns="0" tIns="0" rIns="0" bIns="0" rtlCol="0" anchor="ctr">
            <a:normAutofit/>
          </a:bodyPr>
          <a:lstStyle/>
          <a:p>
            <a:pPr algn="ctr" indent="0" marL="0">
              <a:lnSpc>
                <a:spcPts val="1610"/>
              </a:lnSpc>
              <a:buNone/>
            </a:pPr>
            <a:r>
              <a:rPr lang="en-US" sz="1150" dirty="0">
                <a:solidFill>
                  <a:srgbClr val="CFF0E8"/>
                </a:solidFill>
                <a:latin typeface="Inter" pitchFamily="34" charset="0"/>
                <a:ea typeface="Inter" pitchFamily="34" charset="-122"/>
                <a:cs typeface="Inter" pitchFamily="34" charset="-120"/>
              </a:rPr>
              <a:t>Temporal knowledge graph</a:t>
            </a:r>
            <a:endParaRPr lang="en-US" sz="1150" dirty="0"/>
          </a:p>
        </p:txBody>
      </p:sp>
      <p:sp>
        <p:nvSpPr>
          <p:cNvPr id="32" name="Text 29"/>
          <p:cNvSpPr/>
          <p:nvPr/>
        </p:nvSpPr>
        <p:spPr>
          <a:xfrm>
            <a:off x="6315154" y="3275335"/>
            <a:ext cx="1929924" cy="318770"/>
          </a:xfrm>
          <a:prstGeom prst="roundRect">
            <a:avLst>
              <a:gd name="adj" fmla="val 15936"/>
            </a:avLst>
          </a:prstGeom>
          <a:solidFill>
            <a:srgbClr val="156056"/>
          </a:solidFill>
          <a:ln/>
        </p:spPr>
        <p:txBody>
          <a:bodyPr wrap="none" lIns="0" tIns="0" rIns="0" bIns="0" rtlCol="0" anchor="ctr">
            <a:normAutofit/>
          </a:bodyPr>
          <a:lstStyle/>
          <a:p>
            <a:pPr algn="ctr" indent="0" marL="0">
              <a:lnSpc>
                <a:spcPts val="1610"/>
              </a:lnSpc>
              <a:buNone/>
            </a:pPr>
            <a:r>
              <a:rPr lang="en-US" sz="1150" dirty="0">
                <a:solidFill>
                  <a:srgbClr val="CFF0E8"/>
                </a:solidFill>
                <a:latin typeface="Inter" pitchFamily="34" charset="0"/>
                <a:ea typeface="Inter" pitchFamily="34" charset="-122"/>
                <a:cs typeface="Inter" pitchFamily="34" charset="-120"/>
              </a:rPr>
              <a:t>Context graph &amp; memory</a:t>
            </a:r>
            <a:endParaRPr lang="en-US" sz="1150" dirty="0"/>
          </a:p>
        </p:txBody>
      </p:sp>
      <p:sp>
        <p:nvSpPr>
          <p:cNvPr id="33" name="Text 30"/>
          <p:cNvSpPr/>
          <p:nvPr/>
        </p:nvSpPr>
        <p:spPr>
          <a:xfrm>
            <a:off x="8308578" y="3275335"/>
            <a:ext cx="1067832" cy="318770"/>
          </a:xfrm>
          <a:prstGeom prst="roundRect">
            <a:avLst>
              <a:gd name="adj" fmla="val 15936"/>
            </a:avLst>
          </a:prstGeom>
          <a:solidFill>
            <a:srgbClr val="156056"/>
          </a:solidFill>
          <a:ln/>
        </p:spPr>
        <p:txBody>
          <a:bodyPr wrap="none" lIns="0" tIns="0" rIns="0" bIns="0" rtlCol="0" anchor="ctr">
            <a:normAutofit/>
          </a:bodyPr>
          <a:lstStyle/>
          <a:p>
            <a:pPr algn="ctr" indent="0" marL="0">
              <a:lnSpc>
                <a:spcPts val="1610"/>
              </a:lnSpc>
              <a:buNone/>
            </a:pPr>
            <a:r>
              <a:rPr lang="en-US" sz="1150" dirty="0">
                <a:solidFill>
                  <a:srgbClr val="CFF0E8"/>
                </a:solidFill>
                <a:latin typeface="Inter" pitchFamily="34" charset="0"/>
                <a:ea typeface="Inter" pitchFamily="34" charset="-122"/>
                <a:cs typeface="Inter" pitchFamily="34" charset="-120"/>
              </a:rPr>
              <a:t>Vector index</a:t>
            </a:r>
            <a:endParaRPr lang="en-US" sz="1150" dirty="0"/>
          </a:p>
        </p:txBody>
      </p:sp>
      <p:sp>
        <p:nvSpPr>
          <p:cNvPr id="34" name="Text 31"/>
          <p:cNvSpPr/>
          <p:nvPr/>
        </p:nvSpPr>
        <p:spPr>
          <a:xfrm>
            <a:off x="4163060" y="3657600"/>
            <a:ext cx="1978501" cy="318770"/>
          </a:xfrm>
          <a:prstGeom prst="roundRect">
            <a:avLst>
              <a:gd name="adj" fmla="val 15936"/>
            </a:avLst>
          </a:prstGeom>
          <a:solidFill>
            <a:srgbClr val="156056"/>
          </a:solidFill>
          <a:ln/>
        </p:spPr>
        <p:txBody>
          <a:bodyPr wrap="none" lIns="0" tIns="0" rIns="0" bIns="0" rtlCol="0" anchor="ctr">
            <a:normAutofit/>
          </a:bodyPr>
          <a:lstStyle/>
          <a:p>
            <a:pPr algn="ctr" indent="0" marL="0">
              <a:lnSpc>
                <a:spcPts val="1610"/>
              </a:lnSpc>
              <a:buNone/>
            </a:pPr>
            <a:r>
              <a:rPr lang="en-US" sz="1150" dirty="0">
                <a:solidFill>
                  <a:srgbClr val="CFF0E8"/>
                </a:solidFill>
                <a:latin typeface="Inter" pitchFamily="34" charset="0"/>
                <a:ea typeface="Inter" pitchFamily="34" charset="-122"/>
                <a:cs typeface="Inter" pitchFamily="34" charset="-120"/>
              </a:rPr>
              <a:t>Algorithms &amp; embeddings</a:t>
            </a:r>
            <a:endParaRPr lang="en-US" sz="1150" dirty="0"/>
          </a:p>
        </p:txBody>
      </p:sp>
      <p:sp>
        <p:nvSpPr>
          <p:cNvPr id="35" name="Shape 32"/>
          <p:cNvSpPr/>
          <p:nvPr/>
        </p:nvSpPr>
        <p:spPr>
          <a:xfrm>
            <a:off x="1320800" y="4202435"/>
            <a:ext cx="9550400" cy="572770"/>
          </a:xfrm>
          <a:prstGeom prst="roundRect">
            <a:avLst>
              <a:gd name="adj" fmla="val 15521"/>
            </a:avLst>
          </a:prstGeom>
          <a:solidFill>
            <a:srgbClr val="192634"/>
          </a:solidFill>
          <a:ln/>
        </p:spPr>
      </p:sp>
      <p:sp>
        <p:nvSpPr>
          <p:cNvPr id="36" name="Text 33"/>
          <p:cNvSpPr/>
          <p:nvPr/>
        </p:nvSpPr>
        <p:spPr>
          <a:xfrm>
            <a:off x="1485900" y="4386585"/>
            <a:ext cx="850900" cy="229870"/>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9FB3BE"/>
                </a:solidFill>
                <a:latin typeface="Space Grotesk" pitchFamily="34" charset="0"/>
                <a:ea typeface="Space Grotesk" pitchFamily="34" charset="-122"/>
                <a:cs typeface="Space Grotesk" pitchFamily="34" charset="-120"/>
              </a:rPr>
              <a:t>LAYER 1</a:t>
            </a:r>
            <a:endParaRPr lang="en-US" sz="1150" dirty="0"/>
          </a:p>
        </p:txBody>
      </p:sp>
      <p:sp>
        <p:nvSpPr>
          <p:cNvPr id="37" name="Text 34"/>
          <p:cNvSpPr/>
          <p:nvPr/>
        </p:nvSpPr>
        <p:spPr>
          <a:xfrm>
            <a:off x="2425700" y="4374517"/>
            <a:ext cx="1638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8F9"/>
                </a:solidFill>
                <a:latin typeface="Space Grotesk" pitchFamily="34" charset="0"/>
                <a:ea typeface="Space Grotesk" pitchFamily="34" charset="-122"/>
                <a:cs typeface="Space Grotesk" pitchFamily="34" charset="-120"/>
              </a:rPr>
              <a:t>Foundation</a:t>
            </a:r>
            <a:endParaRPr lang="en-US" sz="1500" dirty="0"/>
          </a:p>
        </p:txBody>
      </p:sp>
      <p:sp>
        <p:nvSpPr>
          <p:cNvPr id="38" name="Text 35"/>
          <p:cNvSpPr/>
          <p:nvPr/>
        </p:nvSpPr>
        <p:spPr>
          <a:xfrm>
            <a:off x="4152900" y="4329435"/>
            <a:ext cx="2124472" cy="318770"/>
          </a:xfrm>
          <a:prstGeom prst="roundRect">
            <a:avLst>
              <a:gd name="adj" fmla="val 15936"/>
            </a:avLst>
          </a:prstGeom>
          <a:solidFill>
            <a:srgbClr val="26384A"/>
          </a:solidFill>
          <a:ln/>
        </p:spPr>
        <p:txBody>
          <a:bodyPr wrap="none" lIns="0" tIns="0" rIns="0" bIns="0" rtlCol="0" anchor="ctr">
            <a:normAutofit/>
          </a:bodyPr>
          <a:lstStyle/>
          <a:p>
            <a:pPr algn="ctr" indent="0" marL="0">
              <a:lnSpc>
                <a:spcPts val="1610"/>
              </a:lnSpc>
              <a:buNone/>
            </a:pPr>
            <a:r>
              <a:rPr lang="en-US" sz="1150" dirty="0">
                <a:solidFill>
                  <a:srgbClr val="CFDAE3"/>
                </a:solidFill>
                <a:latin typeface="Inter" pitchFamily="34" charset="0"/>
                <a:ea typeface="Inter" pitchFamily="34" charset="-122"/>
                <a:cs typeface="Inter" pitchFamily="34" charset="-120"/>
              </a:rPr>
              <a:t>Data &amp; knowledge ingestion</a:t>
            </a:r>
            <a:endParaRPr lang="en-US" sz="1150" dirty="0"/>
          </a:p>
        </p:txBody>
      </p:sp>
      <p:sp>
        <p:nvSpPr>
          <p:cNvPr id="39" name="Text 36"/>
          <p:cNvSpPr/>
          <p:nvPr/>
        </p:nvSpPr>
        <p:spPr>
          <a:xfrm>
            <a:off x="6340872" y="4329435"/>
            <a:ext cx="1771729" cy="318770"/>
          </a:xfrm>
          <a:prstGeom prst="roundRect">
            <a:avLst>
              <a:gd name="adj" fmla="val 15936"/>
            </a:avLst>
          </a:prstGeom>
          <a:solidFill>
            <a:srgbClr val="26384A"/>
          </a:solidFill>
          <a:ln/>
        </p:spPr>
        <p:txBody>
          <a:bodyPr wrap="none" lIns="0" tIns="0" rIns="0" bIns="0" rtlCol="0" anchor="ctr">
            <a:normAutofit/>
          </a:bodyPr>
          <a:lstStyle/>
          <a:p>
            <a:pPr algn="ctr" indent="0" marL="0">
              <a:lnSpc>
                <a:spcPts val="1610"/>
              </a:lnSpc>
              <a:buNone/>
            </a:pPr>
            <a:r>
              <a:rPr lang="en-US" sz="1150" dirty="0">
                <a:solidFill>
                  <a:srgbClr val="CFDAE3"/>
                </a:solidFill>
                <a:latin typeface="Inter" pitchFamily="34" charset="0"/>
                <a:ea typeface="Inter" pitchFamily="34" charset="-122"/>
                <a:cs typeface="Inter" pitchFamily="34" charset="-120"/>
              </a:rPr>
              <a:t>Security &amp; governance</a:t>
            </a:r>
            <a:endParaRPr lang="en-US" sz="1150" dirty="0"/>
          </a:p>
        </p:txBody>
      </p:sp>
      <p:sp>
        <p:nvSpPr>
          <p:cNvPr id="40" name="Text 37"/>
          <p:cNvSpPr/>
          <p:nvPr/>
        </p:nvSpPr>
        <p:spPr>
          <a:xfrm>
            <a:off x="8176102" y="4329435"/>
            <a:ext cx="1115457" cy="318770"/>
          </a:xfrm>
          <a:prstGeom prst="roundRect">
            <a:avLst>
              <a:gd name="adj" fmla="val 15936"/>
            </a:avLst>
          </a:prstGeom>
          <a:solidFill>
            <a:srgbClr val="26384A"/>
          </a:solidFill>
          <a:ln/>
        </p:spPr>
        <p:txBody>
          <a:bodyPr wrap="none" lIns="0" tIns="0" rIns="0" bIns="0" rtlCol="0" anchor="ctr">
            <a:normAutofit/>
          </a:bodyPr>
          <a:lstStyle/>
          <a:p>
            <a:pPr algn="ctr" indent="0" marL="0">
              <a:lnSpc>
                <a:spcPts val="1610"/>
              </a:lnSpc>
              <a:buNone/>
            </a:pPr>
            <a:r>
              <a:rPr lang="en-US" sz="1150" dirty="0">
                <a:solidFill>
                  <a:srgbClr val="CFDAE3"/>
                </a:solidFill>
                <a:latin typeface="Inter" pitchFamily="34" charset="0"/>
                <a:ea typeface="Inter" pitchFamily="34" charset="-122"/>
                <a:cs typeface="Inter" pitchFamily="34" charset="-120"/>
              </a:rPr>
              <a:t>Observability</a:t>
            </a:r>
            <a:endParaRPr lang="en-US" sz="1150" dirty="0"/>
          </a:p>
        </p:txBody>
      </p:sp>
      <p:sp>
        <p:nvSpPr>
          <p:cNvPr id="41" name="Text 38"/>
          <p:cNvSpPr/>
          <p:nvPr/>
        </p:nvSpPr>
        <p:spPr>
          <a:xfrm>
            <a:off x="9355058" y="4329435"/>
            <a:ext cx="1148001" cy="318770"/>
          </a:xfrm>
          <a:prstGeom prst="roundRect">
            <a:avLst>
              <a:gd name="adj" fmla="val 15936"/>
            </a:avLst>
          </a:prstGeom>
          <a:solidFill>
            <a:srgbClr val="26384A"/>
          </a:solidFill>
          <a:ln/>
        </p:spPr>
        <p:txBody>
          <a:bodyPr wrap="none" lIns="0" tIns="0" rIns="0" bIns="0" rtlCol="0" anchor="ctr">
            <a:normAutofit/>
          </a:bodyPr>
          <a:lstStyle/>
          <a:p>
            <a:pPr algn="ctr" indent="0" marL="0">
              <a:lnSpc>
                <a:spcPts val="1610"/>
              </a:lnSpc>
              <a:buNone/>
            </a:pPr>
            <a:r>
              <a:rPr lang="en-US" sz="1150" dirty="0">
                <a:solidFill>
                  <a:srgbClr val="CFDAE3"/>
                </a:solidFill>
                <a:latin typeface="Inter" pitchFamily="34" charset="0"/>
                <a:ea typeface="Inter" pitchFamily="34" charset="-122"/>
                <a:cs typeface="Inter" pitchFamily="34" charset="-120"/>
              </a:rPr>
              <a:t>AWS platform</a:t>
            </a:r>
            <a:endParaRPr lang="en-US" sz="1150" dirty="0"/>
          </a:p>
        </p:txBody>
      </p:sp>
      <p:pic>
        <p:nvPicPr>
          <p:cNvPr id="42" name="Image 1" descr="arrow-down">    </p:cNvPr>
          <p:cNvPicPr>
            <a:picLocks noChangeAspect="1"/>
          </p:cNvPicPr>
          <p:nvPr/>
        </p:nvPicPr>
        <p:blipFill>
          <a:blip r:embed="rId2"/>
          <a:srcRect l="0" r="0" t="0" b="0"/>
          <a:stretch/>
        </p:blipFill>
        <p:spPr>
          <a:xfrm>
            <a:off x="11087100" y="2547627"/>
            <a:ext cx="190500" cy="393700"/>
          </a:xfrm>
          <a:prstGeom prst="rect">
            <a:avLst/>
          </a:prstGeom>
        </p:spPr>
      </p:pic>
      <p:sp>
        <p:nvSpPr>
          <p:cNvPr id="43" name="Text 39"/>
          <p:cNvSpPr/>
          <p:nvPr/>
        </p:nvSpPr>
        <p:spPr>
          <a:xfrm>
            <a:off x="10960100" y="3030227"/>
            <a:ext cx="444500" cy="375920"/>
          </a:xfrm>
          <a:prstGeom prst="rect">
            <a:avLst/>
          </a:prstGeom>
          <a:noFill/>
          <a:ln/>
        </p:spPr>
        <p:txBody>
          <a:bodyPr wrap="square" lIns="0" tIns="0" rIns="0" bIns="0" rtlCol="0" anchor="t">
            <a:normAutofit/>
          </a:bodyPr>
          <a:lstStyle/>
          <a:p>
            <a:pPr algn="ctr" indent="0" marL="0">
              <a:lnSpc>
                <a:spcPts val="1380"/>
              </a:lnSpc>
              <a:buNone/>
            </a:pPr>
            <a:r>
              <a:rPr lang="en-US" sz="1150" dirty="0">
                <a:solidFill>
                  <a:srgbClr val="F0C99A"/>
                </a:solidFill>
                <a:latin typeface="Inter" pitchFamily="34" charset="0"/>
                <a:ea typeface="Inter" pitchFamily="34" charset="-122"/>
                <a:cs typeface="Inter" pitchFamily="34" charset="-120"/>
              </a:rPr>
              <a:t>value</a:t>
            </a:r>
            <a:endParaRPr lang="en-US" sz="1150" dirty="0"/>
          </a:p>
          <a:p>
            <a:pPr algn="ctr" indent="0" marL="0">
              <a:lnSpc>
                <a:spcPts val="1380"/>
              </a:lnSpc>
              <a:buNone/>
            </a:pPr>
            <a:r>
              <a:rPr lang="en-US" sz="1150" dirty="0">
                <a:solidFill>
                  <a:srgbClr val="F0C99A"/>
                </a:solidFill>
                <a:latin typeface="Inter" pitchFamily="34" charset="0"/>
                <a:ea typeface="Inter" pitchFamily="34" charset="-122"/>
                <a:cs typeface="Inter" pitchFamily="34" charset="-120"/>
              </a:rPr>
              <a:t>order</a:t>
            </a:r>
            <a:endParaRPr lang="en-US" sz="1150" dirty="0"/>
          </a:p>
        </p:txBody>
      </p:sp>
      <p:sp>
        <p:nvSpPr>
          <p:cNvPr id="44" name="Text 40"/>
          <p:cNvSpPr/>
          <p:nvPr/>
        </p:nvSpPr>
        <p:spPr>
          <a:xfrm>
            <a:off x="812800" y="6014727"/>
            <a:ext cx="1088339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FB3BE"/>
                </a:solidFill>
                <a:latin typeface="Inter" pitchFamily="34" charset="0"/>
                <a:ea typeface="Inter" pitchFamily="34" charset="-122"/>
                <a:cs typeface="Inter" pitchFamily="34" charset="-120"/>
              </a:rPr>
              <a:t>Bottom-up</a:t>
            </a:r>
            <a:r>
              <a:rPr lang="en-US" sz="1300" dirty="0">
                <a:solidFill>
                  <a:srgbClr val="9FB3BE"/>
                </a:solidFill>
                <a:latin typeface="Inter" pitchFamily="34" charset="0"/>
                <a:ea typeface="Inter" pitchFamily="34" charset="-122"/>
                <a:cs typeface="Inter" pitchFamily="34" charset="-120"/>
              </a:rPr>
              <a:t> is the build order — nothing above works without what is beneath it. </a:t>
            </a:r>
            <a:r>
              <a:rPr lang="en-US" sz="1300" b="1" dirty="0">
                <a:solidFill>
                  <a:srgbClr val="9FB3BE"/>
                </a:solidFill>
                <a:latin typeface="Inter" pitchFamily="34" charset="0"/>
                <a:ea typeface="Inter" pitchFamily="34" charset="-122"/>
                <a:cs typeface="Inter" pitchFamily="34" charset="-120"/>
              </a:rPr>
              <a:t>Top-down</a:t>
            </a:r>
            <a:r>
              <a:rPr lang="en-US" sz="1300" dirty="0">
                <a:solidFill>
                  <a:srgbClr val="9FB3BE"/>
                </a:solidFill>
                <a:latin typeface="Inter" pitchFamily="34" charset="0"/>
                <a:ea typeface="Inter" pitchFamily="34" charset="-122"/>
                <a:cs typeface="Inter" pitchFamily="34" charset="-120"/>
              </a:rPr>
              <a:t> is the value order — the business sees Layer 5; Layer 1 is what makes it trustworthy.</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635000"/>
            <a:ext cx="6598056"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B1622"/>
                </a:solidFill>
                <a:latin typeface="Space Grotesk" pitchFamily="34" charset="0"/>
                <a:ea typeface="Space Grotesk" pitchFamily="34" charset="-122"/>
                <a:cs typeface="Space Grotesk" pitchFamily="34" charset="-120"/>
              </a:rPr>
              <a:t>North Star implementation journey</a:t>
            </a:r>
            <a:endParaRPr lang="en-US" sz="3000" dirty="0"/>
          </a:p>
        </p:txBody>
      </p:sp>
      <p:sp>
        <p:nvSpPr>
          <p:cNvPr id="3" name="Shape 1"/>
          <p:cNvSpPr/>
          <p:nvPr/>
        </p:nvSpPr>
        <p:spPr>
          <a:xfrm>
            <a:off x="815975" y="1222375"/>
            <a:ext cx="3053477" cy="3153410"/>
          </a:xfrm>
          <a:prstGeom prst="roundRect">
            <a:avLst>
              <a:gd name="adj" fmla="val 2807"/>
            </a:avLst>
          </a:prstGeom>
          <a:solidFill>
            <a:srgbClr val="FFFFFF"/>
          </a:solidFill>
          <a:ln w="6350">
            <a:solidFill>
              <a:srgbClr val="DFE6EA"/>
            </a:solidFill>
            <a:prstDash val="solid"/>
          </a:ln>
        </p:spPr>
      </p:sp>
      <p:pic>
        <p:nvPicPr>
          <p:cNvPr id="4" name="Image 0" descr="CheckCircle">    </p:cNvPr>
          <p:cNvPicPr>
            <a:picLocks noChangeAspect="1"/>
          </p:cNvPicPr>
          <p:nvPr/>
        </p:nvPicPr>
        <p:blipFill>
          <a:blip r:embed="rId1"/>
          <a:srcRect l="0" r="0" t="0" b="0"/>
          <a:stretch/>
        </p:blipFill>
        <p:spPr>
          <a:xfrm>
            <a:off x="995680" y="1397000"/>
            <a:ext cx="228600" cy="228600"/>
          </a:xfrm>
          <a:prstGeom prst="rect">
            <a:avLst/>
          </a:prstGeom>
        </p:spPr>
      </p:pic>
      <p:sp>
        <p:nvSpPr>
          <p:cNvPr id="5" name="Text 2"/>
          <p:cNvSpPr/>
          <p:nvPr/>
        </p:nvSpPr>
        <p:spPr>
          <a:xfrm>
            <a:off x="1300480" y="1389385"/>
            <a:ext cx="4706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622"/>
                </a:solidFill>
                <a:latin typeface="Space Grotesk" pitchFamily="34" charset="0"/>
                <a:ea typeface="Space Grotesk" pitchFamily="34" charset="-122"/>
                <a:cs typeface="Space Grotesk" pitchFamily="34" charset="-120"/>
              </a:rPr>
              <a:t>Now</a:t>
            </a:r>
            <a:endParaRPr lang="en-US" sz="1600" dirty="0"/>
          </a:p>
        </p:txBody>
      </p:sp>
      <p:sp>
        <p:nvSpPr>
          <p:cNvPr id="6" name="Text 3"/>
          <p:cNvSpPr/>
          <p:nvPr/>
        </p:nvSpPr>
        <p:spPr>
          <a:xfrm>
            <a:off x="995680" y="1709427"/>
            <a:ext cx="27748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E"/>
                </a:solidFill>
                <a:latin typeface="Inter" pitchFamily="34" charset="0"/>
                <a:ea typeface="Inter" pitchFamily="34" charset="-122"/>
                <a:cs typeface="Inter" pitchFamily="34" charset="-120"/>
              </a:rPr>
              <a:t>Built and running</a:t>
            </a:r>
            <a:endParaRPr lang="en-US" sz="1200" dirty="0"/>
          </a:p>
        </p:txBody>
      </p:sp>
      <p:sp>
        <p:nvSpPr>
          <p:cNvPr id="7" name="Text 4"/>
          <p:cNvSpPr/>
          <p:nvPr/>
        </p:nvSpPr>
        <p:spPr>
          <a:xfrm>
            <a:off x="995680" y="1998985"/>
            <a:ext cx="2774889" cy="2235200"/>
          </a:xfrm>
          <a:prstGeom prst="rect">
            <a:avLst/>
          </a:prstGeom>
          <a:noFill/>
          <a:ln/>
        </p:spPr>
        <p:txBody>
          <a:bodyPr wrap="square" lIns="0" tIns="0" rIns="0" bIns="0" rtlCol="0" anchor="t">
            <a:normAutofit/>
          </a:bodyPr>
          <a:lstStyle/>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Practice AI and Practice Coach on production data</a:t>
            </a:r>
            <a:endParaRPr lang="en-US" sz="1200" dirty="0"/>
          </a:p>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Rules extracted from documents with citations</a:t>
            </a:r>
            <a:endParaRPr lang="en-US" sz="1200" dirty="0"/>
          </a:p>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Firm and advisor revenue with driver attribution</a:t>
            </a:r>
            <a:endParaRPr lang="en-US" sz="1200" dirty="0"/>
          </a:p>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Exception detection across 5,455 advisors</a:t>
            </a:r>
            <a:endParaRPr lang="en-US" sz="1200" dirty="0"/>
          </a:p>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Conversational assistant with evidence drill-down</a:t>
            </a:r>
            <a:endParaRPr lang="en-US" sz="1200" dirty="0"/>
          </a:p>
        </p:txBody>
      </p:sp>
      <p:pic>
        <p:nvPicPr>
          <p:cNvPr id="8" name="Image 1" descr="arrow-right">    </p:cNvPr>
          <p:cNvPicPr>
            <a:picLocks noChangeAspect="1"/>
          </p:cNvPicPr>
          <p:nvPr/>
        </p:nvPicPr>
        <p:blipFill>
          <a:blip r:embed="rId2"/>
          <a:srcRect l="0" r="0" t="0" b="0"/>
          <a:stretch/>
        </p:blipFill>
        <p:spPr>
          <a:xfrm>
            <a:off x="3999627" y="2684785"/>
            <a:ext cx="444500" cy="228600"/>
          </a:xfrm>
          <a:prstGeom prst="rect">
            <a:avLst/>
          </a:prstGeom>
        </p:spPr>
      </p:pic>
      <p:sp>
        <p:nvSpPr>
          <p:cNvPr id="9" name="Shape 5"/>
          <p:cNvSpPr/>
          <p:nvPr/>
        </p:nvSpPr>
        <p:spPr>
          <a:xfrm>
            <a:off x="4574302" y="1222375"/>
            <a:ext cx="3053556" cy="3153410"/>
          </a:xfrm>
          <a:prstGeom prst="roundRect">
            <a:avLst>
              <a:gd name="adj" fmla="val 2807"/>
            </a:avLst>
          </a:prstGeom>
          <a:solidFill>
            <a:srgbClr val="FFFFFF"/>
          </a:solidFill>
          <a:ln w="6350">
            <a:solidFill>
              <a:srgbClr val="DFE6EA"/>
            </a:solidFill>
            <a:prstDash val="solid"/>
          </a:ln>
        </p:spPr>
      </p:sp>
      <p:pic>
        <p:nvPicPr>
          <p:cNvPr id="10" name="Image 2" descr="Tool">    </p:cNvPr>
          <p:cNvPicPr>
            <a:picLocks noChangeAspect="1"/>
          </p:cNvPicPr>
          <p:nvPr/>
        </p:nvPicPr>
        <p:blipFill>
          <a:blip r:embed="rId3"/>
          <a:srcRect l="0" r="0" t="0" b="0"/>
          <a:stretch/>
        </p:blipFill>
        <p:spPr>
          <a:xfrm>
            <a:off x="4754007" y="1397000"/>
            <a:ext cx="228600" cy="228600"/>
          </a:xfrm>
          <a:prstGeom prst="rect">
            <a:avLst/>
          </a:prstGeom>
        </p:spPr>
      </p:pic>
      <p:sp>
        <p:nvSpPr>
          <p:cNvPr id="11" name="Text 6"/>
          <p:cNvSpPr/>
          <p:nvPr/>
        </p:nvSpPr>
        <p:spPr>
          <a:xfrm>
            <a:off x="5058807" y="1389385"/>
            <a:ext cx="5114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622"/>
                </a:solidFill>
                <a:latin typeface="Space Grotesk" pitchFamily="34" charset="0"/>
                <a:ea typeface="Space Grotesk" pitchFamily="34" charset="-122"/>
                <a:cs typeface="Space Grotesk" pitchFamily="34" charset="-120"/>
              </a:rPr>
              <a:t>Next</a:t>
            </a:r>
            <a:endParaRPr lang="en-US" sz="1600" dirty="0"/>
          </a:p>
        </p:txBody>
      </p:sp>
      <p:sp>
        <p:nvSpPr>
          <p:cNvPr id="12" name="Text 7"/>
          <p:cNvSpPr/>
          <p:nvPr/>
        </p:nvSpPr>
        <p:spPr>
          <a:xfrm>
            <a:off x="4754007" y="1709427"/>
            <a:ext cx="27749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6A1E"/>
                </a:solidFill>
                <a:latin typeface="Inter" pitchFamily="34" charset="0"/>
                <a:ea typeface="Inter" pitchFamily="34" charset="-122"/>
                <a:cs typeface="Inter" pitchFamily="34" charset="-120"/>
              </a:rPr>
              <a:t>In design</a:t>
            </a:r>
            <a:endParaRPr lang="en-US" sz="1200" dirty="0"/>
          </a:p>
        </p:txBody>
      </p:sp>
      <p:sp>
        <p:nvSpPr>
          <p:cNvPr id="13" name="Text 8"/>
          <p:cNvSpPr/>
          <p:nvPr/>
        </p:nvSpPr>
        <p:spPr>
          <a:xfrm>
            <a:off x="4754007" y="1998985"/>
            <a:ext cx="2774971" cy="1572260"/>
          </a:xfrm>
          <a:prstGeom prst="rect">
            <a:avLst/>
          </a:prstGeom>
          <a:noFill/>
          <a:ln/>
        </p:spPr>
        <p:txBody>
          <a:bodyPr wrap="square" lIns="0" tIns="0" rIns="0" bIns="0" rtlCol="0" anchor="t">
            <a:normAutofit/>
          </a:bodyPr>
          <a:lstStyle/>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iPerform AI and iPerform Coach on the same platform</a:t>
            </a:r>
            <a:endParaRPr lang="en-US" sz="1200" dirty="0"/>
          </a:p>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Content Cloud integration for document processing</a:t>
            </a:r>
            <a:endParaRPr lang="en-US" sz="1200" dirty="0"/>
          </a:p>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AWS production deployment</a:t>
            </a:r>
            <a:endParaRPr lang="en-US" sz="1200" dirty="0"/>
          </a:p>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Autonomous monthly generation</a:t>
            </a:r>
            <a:endParaRPr lang="en-US" sz="1200" dirty="0"/>
          </a:p>
          <a:p>
            <a:pPr algn="l" marL="182880" indent="-148844">
              <a:lnSpc>
                <a:spcPts val="1740"/>
              </a:lnSpc>
              <a:buSzPct val="100000"/>
              <a:buChar char="•"/>
            </a:pPr>
            <a:r>
              <a:rPr lang="en-US" sz="1200" dirty="0">
                <a:solidFill>
                  <a:srgbClr val="5C6B7A"/>
                </a:solidFill>
                <a:latin typeface="Inter" pitchFamily="34" charset="0"/>
                <a:ea typeface="Inter" pitchFamily="34" charset="-122"/>
                <a:cs typeface="Inter" pitchFamily="34" charset="-120"/>
              </a:rPr>
              <a:t>Opportunities and coaching</a:t>
            </a:r>
            <a:endParaRPr lang="en-US" sz="1200" dirty="0"/>
          </a:p>
        </p:txBody>
      </p:sp>
      <p:pic>
        <p:nvPicPr>
          <p:cNvPr id="14" name="Image 3" descr="arrow-right">    </p:cNvPr>
          <p:cNvPicPr>
            <a:picLocks noChangeAspect="1"/>
          </p:cNvPicPr>
          <p:nvPr/>
        </p:nvPicPr>
        <p:blipFill>
          <a:blip r:embed="rId4"/>
          <a:srcRect l="0" r="0" t="0" b="0"/>
          <a:stretch/>
        </p:blipFill>
        <p:spPr>
          <a:xfrm>
            <a:off x="7758033" y="2684785"/>
            <a:ext cx="444500" cy="228600"/>
          </a:xfrm>
          <a:prstGeom prst="rect">
            <a:avLst/>
          </a:prstGeom>
        </p:spPr>
      </p:pic>
      <p:sp>
        <p:nvSpPr>
          <p:cNvPr id="15" name="Shape 9"/>
          <p:cNvSpPr/>
          <p:nvPr/>
        </p:nvSpPr>
        <p:spPr>
          <a:xfrm>
            <a:off x="8329533" y="1219200"/>
            <a:ext cx="3049667" cy="3159760"/>
          </a:xfrm>
          <a:prstGeom prst="roundRect">
            <a:avLst>
              <a:gd name="adj" fmla="val 2915"/>
            </a:avLst>
          </a:prstGeom>
          <a:solidFill>
            <a:srgbClr val="0B1622"/>
          </a:solidFill>
          <a:ln/>
        </p:spPr>
      </p:sp>
      <p:pic>
        <p:nvPicPr>
          <p:cNvPr id="16" name="Image 4" descr="Star">    </p:cNvPr>
          <p:cNvPicPr>
            <a:picLocks noChangeAspect="1"/>
          </p:cNvPicPr>
          <p:nvPr/>
        </p:nvPicPr>
        <p:blipFill>
          <a:blip r:embed="rId5"/>
          <a:srcRect l="0" r="0" t="0" b="0"/>
          <a:stretch/>
        </p:blipFill>
        <p:spPr>
          <a:xfrm>
            <a:off x="8507333" y="1391927"/>
            <a:ext cx="228600" cy="228600"/>
          </a:xfrm>
          <a:prstGeom prst="rect">
            <a:avLst/>
          </a:prstGeom>
        </p:spPr>
      </p:pic>
      <p:sp>
        <p:nvSpPr>
          <p:cNvPr id="17" name="Text 10"/>
          <p:cNvSpPr/>
          <p:nvPr/>
        </p:nvSpPr>
        <p:spPr>
          <a:xfrm>
            <a:off x="8812133" y="1384300"/>
            <a:ext cx="107330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Space Grotesk" pitchFamily="34" charset="0"/>
                <a:ea typeface="Space Grotesk" pitchFamily="34" charset="-122"/>
                <a:cs typeface="Space Grotesk" pitchFamily="34" charset="-120"/>
              </a:rPr>
              <a:t>North Star</a:t>
            </a:r>
            <a:endParaRPr lang="en-US" sz="1600" dirty="0"/>
          </a:p>
        </p:txBody>
      </p:sp>
      <p:sp>
        <p:nvSpPr>
          <p:cNvPr id="18" name="Text 11"/>
          <p:cNvSpPr/>
          <p:nvPr/>
        </p:nvSpPr>
        <p:spPr>
          <a:xfrm>
            <a:off x="8507333" y="1704342"/>
            <a:ext cx="27748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C0"/>
                </a:solidFill>
                <a:latin typeface="Inter" pitchFamily="34" charset="0"/>
                <a:ea typeface="Inter" pitchFamily="34" charset="-122"/>
                <a:cs typeface="Inter" pitchFamily="34" charset="-120"/>
              </a:rPr>
              <a:t>Target state</a:t>
            </a:r>
            <a:endParaRPr lang="en-US" sz="1200" dirty="0"/>
          </a:p>
        </p:txBody>
      </p:sp>
      <p:sp>
        <p:nvSpPr>
          <p:cNvPr id="19" name="Text 12"/>
          <p:cNvSpPr/>
          <p:nvPr/>
        </p:nvSpPr>
        <p:spPr>
          <a:xfrm>
            <a:off x="8507333" y="1993900"/>
            <a:ext cx="2774889" cy="2235200"/>
          </a:xfrm>
          <a:prstGeom prst="rect">
            <a:avLst/>
          </a:prstGeom>
          <a:noFill/>
          <a:ln/>
        </p:spPr>
        <p:txBody>
          <a:bodyPr wrap="square" lIns="0" tIns="0" rIns="0" bIns="0" rtlCol="0" anchor="t">
            <a:normAutofit/>
          </a:bodyPr>
          <a:lstStyle/>
          <a:p>
            <a:pPr algn="l" marL="182880" indent="-148844">
              <a:lnSpc>
                <a:spcPts val="1740"/>
              </a:lnSpc>
              <a:buSzPct val="100000"/>
              <a:buChar char="•"/>
            </a:pPr>
            <a:r>
              <a:rPr lang="en-US" sz="1200" dirty="0">
                <a:solidFill>
                  <a:srgbClr val="CFE3DC"/>
                </a:solidFill>
                <a:latin typeface="Inter" pitchFamily="34" charset="0"/>
                <a:ea typeface="Inter" pitchFamily="34" charset="-122"/>
                <a:cs typeface="Inter" pitchFamily="34" charset="-120"/>
              </a:rPr>
              <a:t>Prediction and recommendation engine</a:t>
            </a:r>
            <a:endParaRPr lang="en-US" sz="1200" dirty="0"/>
          </a:p>
          <a:p>
            <a:pPr algn="l" marL="182880" indent="-148844">
              <a:lnSpc>
                <a:spcPts val="1740"/>
              </a:lnSpc>
              <a:buSzPct val="100000"/>
              <a:buChar char="•"/>
            </a:pPr>
            <a:r>
              <a:rPr lang="en-US" sz="1200" dirty="0">
                <a:solidFill>
                  <a:srgbClr val="CFE3DC"/>
                </a:solidFill>
                <a:latin typeface="Inter" pitchFamily="34" charset="0"/>
                <a:ea typeface="Inter" pitchFamily="34" charset="-122"/>
                <a:cs typeface="Inter" pitchFamily="34" charset="-120"/>
              </a:rPr>
              <a:t>Graph embeddings and behavioural models</a:t>
            </a:r>
            <a:endParaRPr lang="en-US" sz="1200" dirty="0"/>
          </a:p>
          <a:p>
            <a:pPr algn="l" marL="182880" indent="-148844">
              <a:lnSpc>
                <a:spcPts val="1740"/>
              </a:lnSpc>
              <a:buSzPct val="100000"/>
              <a:buChar char="•"/>
            </a:pPr>
            <a:r>
              <a:rPr lang="en-US" sz="1200" dirty="0">
                <a:solidFill>
                  <a:srgbClr val="CFE3DC"/>
                </a:solidFill>
                <a:latin typeface="Inter" pitchFamily="34" charset="0"/>
                <a:ea typeface="Inter" pitchFamily="34" charset="-122"/>
                <a:cs typeface="Inter" pitchFamily="34" charset="-120"/>
              </a:rPr>
              <a:t>Full temporal knowledge graph with as-of history</a:t>
            </a:r>
            <a:endParaRPr lang="en-US" sz="1200" dirty="0"/>
          </a:p>
          <a:p>
            <a:pPr algn="l" marL="182880" indent="-148844">
              <a:lnSpc>
                <a:spcPts val="1740"/>
              </a:lnSpc>
              <a:buSzPct val="100000"/>
              <a:buChar char="•"/>
            </a:pPr>
            <a:r>
              <a:rPr lang="en-US" sz="1200" dirty="0">
                <a:solidFill>
                  <a:srgbClr val="CFE3DC"/>
                </a:solidFill>
                <a:latin typeface="Inter" pitchFamily="34" charset="0"/>
                <a:ea typeface="Inter" pitchFamily="34" charset="-122"/>
                <a:cs typeface="Inter" pitchFamily="34" charset="-120"/>
              </a:rPr>
              <a:t>Agent memory across conversations and outcomes</a:t>
            </a:r>
            <a:endParaRPr lang="en-US" sz="1200" dirty="0"/>
          </a:p>
          <a:p>
            <a:pPr algn="l" marL="182880" indent="-148844">
              <a:lnSpc>
                <a:spcPts val="1740"/>
              </a:lnSpc>
              <a:buSzPct val="100000"/>
              <a:buChar char="•"/>
            </a:pPr>
            <a:r>
              <a:rPr lang="en-US" sz="1200" dirty="0">
                <a:solidFill>
                  <a:srgbClr val="CFE3DC"/>
                </a:solidFill>
                <a:latin typeface="Inter" pitchFamily="34" charset="0"/>
                <a:ea typeface="Inter" pitchFamily="34" charset="-122"/>
                <a:cs typeface="Inter" pitchFamily="34" charset="-120"/>
              </a:rPr>
              <a:t>Continuous learning from outcomes</a:t>
            </a:r>
            <a:endParaRPr lang="en-US" sz="1200" dirty="0"/>
          </a:p>
        </p:txBody>
      </p:sp>
      <p:sp>
        <p:nvSpPr>
          <p:cNvPr id="20" name="Shape 13"/>
          <p:cNvSpPr/>
          <p:nvPr/>
        </p:nvSpPr>
        <p:spPr>
          <a:xfrm>
            <a:off x="812800" y="4544058"/>
            <a:ext cx="10566400" cy="495300"/>
          </a:xfrm>
          <a:prstGeom prst="roundRect">
            <a:avLst>
              <a:gd name="adj" fmla="val 17949"/>
            </a:avLst>
          </a:prstGeom>
          <a:solidFill>
            <a:srgbClr val="E4F1EE"/>
          </a:solidFill>
          <a:ln/>
        </p:spPr>
      </p:sp>
      <p:sp>
        <p:nvSpPr>
          <p:cNvPr id="21" name="Shape 14"/>
          <p:cNvSpPr/>
          <p:nvPr/>
        </p:nvSpPr>
        <p:spPr>
          <a:xfrm>
            <a:off x="812800" y="4544058"/>
            <a:ext cx="10566400" cy="495300"/>
          </a:xfrm>
          <a:custGeom>
            <a:avLst/>
            <a:gdLst/>
            <a:ahLst/>
            <a:cxnLst/>
            <a:rect l="l" t="t" r="r" b="b"/>
            <a:pathLst>
              <a:path w="10566400" h="495300">
                <a:moveTo>
                  <a:pt x="88900" y="495300"/>
                </a:moveTo>
                <a:lnTo>
                  <a:pt x="88900" y="495300"/>
                </a:lnTo>
                <a:arcTo hR="88900" wR="88900" stAng="5400000" swAng="5400000"/>
                <a:lnTo>
                  <a:pt x="0" y="88900"/>
                </a:lnTo>
                <a:arcTo hR="88900" wR="88900" stAng="10800000" swAng="5400000"/>
                <a:lnTo>
                  <a:pt x="88900" y="0"/>
                </a:lnTo>
                <a:arcTo hR="88900" wR="57150" stAng="16200000" swAng="-5400000"/>
                <a:lnTo>
                  <a:pt x="31750" y="406400"/>
                </a:lnTo>
                <a:arcTo hR="88900" wR="57150" stAng="10800000" swAng="-5400000"/>
                <a:close/>
              </a:path>
            </a:pathLst>
          </a:custGeom>
          <a:solidFill>
            <a:srgbClr val="10897A"/>
          </a:solidFill>
          <a:ln/>
        </p:spPr>
      </p:sp>
      <p:pic>
        <p:nvPicPr>
          <p:cNvPr id="22" name="Image 5" descr="Lightning">    </p:cNvPr>
          <p:cNvPicPr>
            <a:picLocks noChangeAspect="1"/>
          </p:cNvPicPr>
          <p:nvPr/>
        </p:nvPicPr>
        <p:blipFill>
          <a:blip r:embed="rId6"/>
          <a:srcRect l="0" r="0" t="0" b="0"/>
          <a:stretch/>
        </p:blipFill>
        <p:spPr>
          <a:xfrm>
            <a:off x="1021080" y="4671058"/>
            <a:ext cx="241300" cy="241300"/>
          </a:xfrm>
          <a:prstGeom prst="rect">
            <a:avLst/>
          </a:prstGeom>
        </p:spPr>
      </p:pic>
      <p:sp>
        <p:nvSpPr>
          <p:cNvPr id="23" name="Text 15"/>
          <p:cNvSpPr/>
          <p:nvPr/>
        </p:nvSpPr>
        <p:spPr>
          <a:xfrm>
            <a:off x="1402080" y="4675981"/>
            <a:ext cx="7547410" cy="25685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0B4F46"/>
                </a:solidFill>
                <a:latin typeface="Inter" pitchFamily="34" charset="0"/>
                <a:ea typeface="Inter" pitchFamily="34" charset="-122"/>
                <a:cs typeface="Inter" pitchFamily="34" charset="-120"/>
              </a:rPr>
              <a:t>Each stage reuses the foundation beneath it. </a:t>
            </a:r>
            <a:r>
              <a:rPr lang="en-US" sz="1350" b="1" dirty="0">
                <a:solidFill>
                  <a:srgbClr val="0B4F46"/>
                </a:solidFill>
                <a:latin typeface="Inter" pitchFamily="34" charset="0"/>
                <a:ea typeface="Inter" pitchFamily="34" charset="-122"/>
                <a:cs typeface="Inter" pitchFamily="34" charset="-120"/>
              </a:rPr>
              <a:t>That is the argument for building it this way.</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11200"/>
            <a:ext cx="3490011" cy="430530"/>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0B1622"/>
                </a:solidFill>
                <a:latin typeface="Space Grotesk" pitchFamily="34" charset="0"/>
                <a:ea typeface="Space Grotesk" pitchFamily="34" charset="-122"/>
                <a:cs typeface="Space Grotesk" pitchFamily="34" charset="-120"/>
              </a:rPr>
              <a:t>Production on AWS</a:t>
            </a:r>
            <a:endParaRPr lang="en-US" sz="2900" dirty="0"/>
          </a:p>
        </p:txBody>
      </p:sp>
      <p:sp>
        <p:nvSpPr>
          <p:cNvPr id="3" name="Text 1"/>
          <p:cNvSpPr/>
          <p:nvPr/>
        </p:nvSpPr>
        <p:spPr>
          <a:xfrm>
            <a:off x="4353560" y="853442"/>
            <a:ext cx="4633372"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5C6B7A"/>
                </a:solidFill>
                <a:latin typeface="Inter" pitchFamily="34" charset="0"/>
                <a:ea typeface="Inter" pitchFamily="34" charset="-122"/>
                <a:cs typeface="Inter" pitchFamily="34" charset="-120"/>
              </a:rPr>
              <a:t>Built for the firm's environment, not for a demonstration</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278895"/>
          <a:ext cx="6034246" cy="4500880"/>
        </p:xfrm>
        <a:graphic>
          <a:graphicData uri="http://schemas.openxmlformats.org/drawingml/2006/table">
            <a:tbl>
              <a:tblPr/>
              <a:tblGrid>
                <a:gridCol w="2051644"/>
                <a:gridCol w="3982603"/>
              </a:tblGrid>
              <a:tr h="375920">
                <a:tc>
                  <a:txBody>
                    <a:bodyPr/>
                    <a:lstStyle/>
                    <a:p>
                      <a:pPr indent="0" marL="0">
                        <a:lnSpc>
                          <a:spcPts val="1680"/>
                        </a:lnSpc>
                        <a:buNone/>
                      </a:pPr>
                      <a:r>
                        <a:rPr lang="en-US" sz="1200" b="1" dirty="0">
                          <a:solidFill>
                            <a:srgbClr val="6FD3C0"/>
                          </a:solidFill>
                          <a:latin typeface="Inter" pitchFamily="34" charset="0"/>
                          <a:ea typeface="Inter" pitchFamily="34" charset="-122"/>
                          <a:cs typeface="Inter" pitchFamily="34" charset="-120"/>
                        </a:rPr>
                        <a:t>Concern</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0D161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161F"/>
                      </a:solidFill>
                      <a:prstDash val="solid"/>
                      <a:round/>
                      <a:headEnd type="none" w="med" len="med"/>
                      <a:tailEnd type="none" w="med" len="med"/>
                    </a:lnB>
                    <a:solidFill>
                      <a:srgbClr val="0B1622"/>
                    </a:solidFill>
                  </a:tcPr>
                </a:tc>
                <a:tc>
                  <a:txBody>
                    <a:bodyPr/>
                    <a:lstStyle/>
                    <a:p>
                      <a:pPr indent="0" marL="0">
                        <a:lnSpc>
                          <a:spcPts val="1680"/>
                        </a:lnSpc>
                        <a:buNone/>
                      </a:pPr>
                      <a:r>
                        <a:rPr lang="en-US" sz="1200" b="1" dirty="0">
                          <a:solidFill>
                            <a:srgbClr val="9FB3BE"/>
                          </a:solidFill>
                          <a:latin typeface="Inter" pitchFamily="34" charset="0"/>
                          <a:ea typeface="Inter" pitchFamily="34" charset="-122"/>
                          <a:cs typeface="Inter" pitchFamily="34" charset="-120"/>
                        </a:rPr>
                        <a:t>Production approach</a:t>
                      </a:r>
                      <a:endParaRPr lang="en-US" sz="1200" dirty="0">
                        <a:latin typeface="Inter" charset="0"/>
                        <a:ea typeface="Inter" charset="0"/>
                        <a:cs typeface="Inter" charset="0"/>
                      </a:endParaRPr>
                    </a:p>
                  </a:txBody>
                  <a:tcPr marL="101600" marR="101600" marT="76200" marB="76200" anchor="t">
                    <a:lnL w="12700" cap="flat" cmpd="sng" algn="ctr">
                      <a:solidFill>
                        <a:srgbClr val="0D161F"/>
                      </a:solidFill>
                      <a:prstDash val="solid"/>
                      <a:round/>
                      <a:headEnd type="none" w="med" len="med"/>
                      <a:tailEnd type="none" w="med" len="med"/>
                    </a:lnL>
                    <a:lnR w="12700" cap="flat" cmpd="sng" algn="ctr">
                      <a:solidFill>
                        <a:srgbClr val="0D161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161F"/>
                      </a:solidFill>
                      <a:prstDash val="solid"/>
                      <a:round/>
                      <a:headEnd type="none" w="med" len="med"/>
                      <a:tailEnd type="none" w="med" len="med"/>
                    </a:lnB>
                    <a:solidFill>
                      <a:srgbClr val="0B1622"/>
                    </a:solidFill>
                  </a:tcPr>
                </a:tc>
              </a:tr>
              <a:tr h="589280">
                <a:tc>
                  <a:txBody>
                    <a:bodyPr/>
                    <a:lstStyle/>
                    <a:p>
                      <a:pPr indent="0" marL="0">
                        <a:lnSpc>
                          <a:spcPts val="1680"/>
                        </a:lnSpc>
                        <a:buNone/>
                      </a:pPr>
                      <a:r>
                        <a:rPr lang="en-US" sz="1200" dirty="0">
                          <a:solidFill>
                            <a:srgbClr val="5C6B7A"/>
                          </a:solidFill>
                          <a:latin typeface="Inter" pitchFamily="34" charset="0"/>
                          <a:ea typeface="Inter" pitchFamily="34" charset="-122"/>
                          <a:cs typeface="Inter" pitchFamily="34" charset="-120"/>
                        </a:rPr>
                        <a:t>Edge &amp; identity</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161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B1622"/>
                          </a:solidFill>
                          <a:latin typeface="Inter" pitchFamily="34" charset="0"/>
                          <a:ea typeface="Inter" pitchFamily="34" charset="-122"/>
                          <a:cs typeface="Inter" pitchFamily="34" charset="-120"/>
                        </a:rPr>
                        <a:t>Corporate authentication; entitlements enforced at every layer, including in the database</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161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89280">
                <a:tc>
                  <a:txBody>
                    <a:bodyPr/>
                    <a:lstStyle/>
                    <a:p>
                      <a:pPr indent="0" marL="0">
                        <a:lnSpc>
                          <a:spcPts val="1680"/>
                        </a:lnSpc>
                        <a:buNone/>
                      </a:pPr>
                      <a:r>
                        <a:rPr lang="en-US" sz="1200" dirty="0">
                          <a:solidFill>
                            <a:srgbClr val="5C6B7A"/>
                          </a:solidFill>
                          <a:latin typeface="Inter" pitchFamily="34" charset="0"/>
                          <a:ea typeface="Inter" pitchFamily="34" charset="-122"/>
                          <a:cs typeface="Inter" pitchFamily="34" charset="-120"/>
                        </a:rPr>
                        <a:t>Application tier</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680"/>
                        </a:lnSpc>
                        <a:buNone/>
                      </a:pPr>
                      <a:r>
                        <a:rPr lang="en-US" sz="1200" dirty="0">
                          <a:solidFill>
                            <a:srgbClr val="0B1622"/>
                          </a:solidFill>
                          <a:latin typeface="Inter" pitchFamily="34" charset="0"/>
                          <a:ea typeface="Inter" pitchFamily="34" charset="-122"/>
                          <a:cs typeface="Inter" pitchFamily="34" charset="-120"/>
                        </a:rPr>
                        <a:t>Containerised services, independently scaled by workload profile</a:t>
                      </a:r>
                      <a:endParaRPr lang="en-US" sz="1200" dirty="0">
                        <a:latin typeface="Inter" charset="0"/>
                        <a:ea typeface="Inter" charset="0"/>
                        <a:cs typeface="Inter" charset="0"/>
                      </a:endParaRPr>
                    </a:p>
                  </a:txBody>
                  <a:tcPr marL="101600" marR="1016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r>
              <a:tr h="589280">
                <a:tc>
                  <a:txBody>
                    <a:bodyPr/>
                    <a:lstStyle/>
                    <a:p>
                      <a:pPr indent="0" marL="0">
                        <a:lnSpc>
                          <a:spcPts val="1680"/>
                        </a:lnSpc>
                        <a:buNone/>
                      </a:pPr>
                      <a:r>
                        <a:rPr lang="en-US" sz="1200" dirty="0">
                          <a:solidFill>
                            <a:srgbClr val="5C6B7A"/>
                          </a:solidFill>
                          <a:latin typeface="Inter" pitchFamily="34" charset="0"/>
                          <a:ea typeface="Inter" pitchFamily="34" charset="-122"/>
                          <a:cs typeface="Inter" pitchFamily="34" charset="-120"/>
                        </a:rPr>
                        <a:t>Long-running analysis</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B1622"/>
                          </a:solidFill>
                          <a:latin typeface="Inter" pitchFamily="34" charset="0"/>
                          <a:ea typeface="Inter" pitchFamily="34" charset="-122"/>
                          <a:cs typeface="Inter" pitchFamily="34" charset="-120"/>
                        </a:rPr>
                        <a:t>Managed asynchronous execution with scheduling, retry and resumption</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89280">
                <a:tc>
                  <a:txBody>
                    <a:bodyPr/>
                    <a:lstStyle/>
                    <a:p>
                      <a:pPr indent="0" marL="0">
                        <a:lnSpc>
                          <a:spcPts val="1680"/>
                        </a:lnSpc>
                        <a:buNone/>
                      </a:pPr>
                      <a:r>
                        <a:rPr lang="en-US" sz="1200" dirty="0">
                          <a:solidFill>
                            <a:srgbClr val="5C6B7A"/>
                          </a:solidFill>
                          <a:latin typeface="Inter" pitchFamily="34" charset="0"/>
                          <a:ea typeface="Inter" pitchFamily="34" charset="-122"/>
                          <a:cs typeface="Inter" pitchFamily="34" charset="-120"/>
                        </a:rPr>
                        <a:t>Knowledge graph</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680"/>
                        </a:lnSpc>
                        <a:buNone/>
                      </a:pPr>
                      <a:r>
                        <a:rPr lang="en-US" sz="1200" dirty="0">
                          <a:solidFill>
                            <a:srgbClr val="0B1622"/>
                          </a:solidFill>
                          <a:latin typeface="Inter" pitchFamily="34" charset="0"/>
                          <a:ea typeface="Inter" pitchFamily="34" charset="-122"/>
                          <a:cs typeface="Inter" pitchFamily="34" charset="-120"/>
                        </a:rPr>
                        <a:t>TigerGraph on Kubernetes — HA across zones, cross-region replication, point-in-time recovery</a:t>
                      </a:r>
                      <a:endParaRPr lang="en-US" sz="1200" dirty="0">
                        <a:latin typeface="Inter" charset="0"/>
                        <a:ea typeface="Inter" charset="0"/>
                        <a:cs typeface="Inter" charset="0"/>
                      </a:endParaRPr>
                    </a:p>
                  </a:txBody>
                  <a:tcPr marL="101600" marR="1016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r>
              <a:tr h="589280">
                <a:tc>
                  <a:txBody>
                    <a:bodyPr/>
                    <a:lstStyle/>
                    <a:p>
                      <a:pPr indent="0" marL="0">
                        <a:lnSpc>
                          <a:spcPts val="1680"/>
                        </a:lnSpc>
                        <a:buNone/>
                      </a:pPr>
                      <a:r>
                        <a:rPr lang="en-US" sz="1200" dirty="0">
                          <a:solidFill>
                            <a:srgbClr val="5C6B7A"/>
                          </a:solidFill>
                          <a:latin typeface="Inter" pitchFamily="34" charset="0"/>
                          <a:ea typeface="Inter" pitchFamily="34" charset="-122"/>
                          <a:cs typeface="Inter" pitchFamily="34" charset="-120"/>
                        </a:rPr>
                        <a:t>Operational state</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B1622"/>
                          </a:solidFill>
                          <a:latin typeface="Inter" pitchFamily="34" charset="0"/>
                          <a:ea typeface="Inter" pitchFamily="34" charset="-122"/>
                          <a:cs typeface="Inter" pitchFamily="34" charset="-120"/>
                        </a:rPr>
                        <a:t>Managed relational store for rules, versions, runs and conversation history</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89280">
                <a:tc>
                  <a:txBody>
                    <a:bodyPr/>
                    <a:lstStyle/>
                    <a:p>
                      <a:pPr indent="0" marL="0">
                        <a:lnSpc>
                          <a:spcPts val="1680"/>
                        </a:lnSpc>
                        <a:buNone/>
                      </a:pPr>
                      <a:r>
                        <a:rPr lang="en-US" sz="1200" dirty="0">
                          <a:solidFill>
                            <a:srgbClr val="5C6B7A"/>
                          </a:solidFill>
                          <a:latin typeface="Inter" pitchFamily="34" charset="0"/>
                          <a:ea typeface="Inter" pitchFamily="34" charset="-122"/>
                          <a:cs typeface="Inter" pitchFamily="34" charset="-120"/>
                        </a:rPr>
                        <a:t>Documents &amp; retrieval</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c>
                  <a:txBody>
                    <a:bodyPr/>
                    <a:lstStyle/>
                    <a:p>
                      <a:pPr indent="0" marL="0">
                        <a:lnSpc>
                          <a:spcPts val="1680"/>
                        </a:lnSpc>
                        <a:buNone/>
                      </a:pPr>
                      <a:r>
                        <a:rPr lang="en-US" sz="1200" dirty="0">
                          <a:solidFill>
                            <a:srgbClr val="0B1622"/>
                          </a:solidFill>
                          <a:latin typeface="Inter" pitchFamily="34" charset="0"/>
                          <a:ea typeface="Inter" pitchFamily="34" charset="-122"/>
                          <a:cs typeface="Inter" pitchFamily="34" charset="-120"/>
                        </a:rPr>
                        <a:t>Content Cloud parses, chunks, embeds and indexes; consumed through governed API access</a:t>
                      </a:r>
                      <a:endParaRPr lang="en-US" sz="1200" dirty="0">
                        <a:latin typeface="Inter" charset="0"/>
                        <a:ea typeface="Inter" charset="0"/>
                        <a:cs typeface="Inter" charset="0"/>
                      </a:endParaRPr>
                    </a:p>
                  </a:txBody>
                  <a:tcPr marL="101600" marR="101600" marT="76200" marB="76200" anchor="t">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9"/>
                    </a:solidFill>
                  </a:tcPr>
                </a:tc>
              </a:tr>
              <a:tr h="589280">
                <a:tc>
                  <a:txBody>
                    <a:bodyPr/>
                    <a:lstStyle/>
                    <a:p>
                      <a:pPr indent="0" marL="0">
                        <a:lnSpc>
                          <a:spcPts val="1680"/>
                        </a:lnSpc>
                        <a:buNone/>
                      </a:pPr>
                      <a:r>
                        <a:rPr lang="en-US" sz="1200" dirty="0">
                          <a:solidFill>
                            <a:srgbClr val="5C6B7A"/>
                          </a:solidFill>
                          <a:latin typeface="Inter" pitchFamily="34" charset="0"/>
                          <a:ea typeface="Inter" pitchFamily="34" charset="-122"/>
                          <a:cs typeface="Inter" pitchFamily="34" charset="-120"/>
                        </a:rPr>
                        <a:t>Observability</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B1622"/>
                          </a:solidFill>
                          <a:latin typeface="Inter" pitchFamily="34" charset="0"/>
                          <a:ea typeface="Inter" pitchFamily="34" charset="-122"/>
                          <a:cs typeface="Inter" pitchFamily="34" charset="-120"/>
                        </a:rPr>
                        <a:t>Tracing, metrics, logs and audit across agents, models, queries and data</a:t>
                      </a:r>
                      <a:endParaRPr lang="en-US" sz="1200" dirty="0">
                        <a:latin typeface="Inter" charset="0"/>
                        <a:ea typeface="Inter" charset="0"/>
                        <a:cs typeface="Inter"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7009606" y="1268735"/>
            <a:ext cx="4369594" cy="1102360"/>
          </a:xfrm>
          <a:prstGeom prst="roundRect">
            <a:avLst>
              <a:gd name="adj" fmla="val 6912"/>
            </a:avLst>
          </a:prstGeom>
          <a:solidFill>
            <a:srgbClr val="E4F1EE"/>
          </a:solidFill>
          <a:ln/>
        </p:spPr>
        <p:txBody>
          <a:bodyPr wrap="square" lIns="173262" tIns="117382" rIns="22514" bIns="91982" rtlCol="0" anchor="t">
            <a:normAutofit/>
          </a:bodyPr>
          <a:lstStyle/>
          <a:p>
            <a:pPr algn="l" indent="0" marL="0">
              <a:lnSpc>
                <a:spcPts val="1620"/>
              </a:lnSpc>
              <a:buNone/>
            </a:pPr>
            <a:r>
              <a:rPr lang="en-US" sz="1200" dirty="0">
                <a:solidFill>
                  <a:srgbClr val="0B4F46"/>
                </a:solidFill>
                <a:latin typeface="Inter" pitchFamily="34" charset="0"/>
                <a:ea typeface="Inter" pitchFamily="34" charset="-122"/>
                <a:cs typeface="Inter" pitchFamily="34" charset="-120"/>
              </a:rPr>
              <a:t>A firm-wide evaluation across </a:t>
            </a:r>
            <a:r>
              <a:rPr lang="en-US" sz="1200" b="1" dirty="0">
                <a:solidFill>
                  <a:srgbClr val="0B4F46"/>
                </a:solidFill>
                <a:latin typeface="Inter" pitchFamily="34" charset="0"/>
                <a:ea typeface="Inter" pitchFamily="34" charset="-122"/>
                <a:cs typeface="Inter" pitchFamily="34" charset="-120"/>
              </a:rPr>
              <a:t>5,455 advisors</a:t>
            </a:r>
            <a:r>
              <a:rPr lang="en-US" sz="1200" dirty="0">
                <a:solidFill>
                  <a:srgbClr val="0B4F46"/>
                </a:solidFill>
                <a:latin typeface="Inter" pitchFamily="34" charset="0"/>
                <a:ea typeface="Inter" pitchFamily="34" charset="-122"/>
                <a:cs typeface="Inter" pitchFamily="34" charset="-120"/>
              </a:rPr>
              <a:t> cannot complete inside a web request. In production it does not try to — it runs as managed background work with progress, retry and resumption.</a:t>
            </a:r>
            <a:endParaRPr lang="en-US" sz="1200" dirty="0"/>
          </a:p>
        </p:txBody>
      </p:sp>
      <p:sp>
        <p:nvSpPr>
          <p:cNvPr id="6" name="Shape 3"/>
          <p:cNvSpPr/>
          <p:nvPr/>
        </p:nvSpPr>
        <p:spPr>
          <a:xfrm>
            <a:off x="7009606" y="1268735"/>
            <a:ext cx="4369594" cy="1102360"/>
          </a:xfrm>
          <a:custGeom>
            <a:avLst/>
            <a:gdLst/>
            <a:ahLst/>
            <a:cxnLst/>
            <a:rect l="l" t="t" r="r" b="b"/>
            <a:pathLst>
              <a:path w="4369594" h="1102360">
                <a:moveTo>
                  <a:pt x="76200" y="1102360"/>
                </a:moveTo>
                <a:lnTo>
                  <a:pt x="76200" y="1102360"/>
                </a:lnTo>
                <a:arcTo hR="76200" wR="76200" stAng="5400000" swAng="5400000"/>
                <a:lnTo>
                  <a:pt x="0" y="76200"/>
                </a:lnTo>
                <a:arcTo hR="76200" wR="76200" stAng="10800000" swAng="5400000"/>
                <a:lnTo>
                  <a:pt x="76200" y="0"/>
                </a:lnTo>
                <a:arcTo hR="76200" wR="44450" stAng="16200000" swAng="-5400000"/>
                <a:lnTo>
                  <a:pt x="31750" y="1026160"/>
                </a:lnTo>
                <a:arcTo hR="76200" wR="44450" stAng="10800000" swAng="-5400000"/>
                <a:close/>
              </a:path>
            </a:pathLst>
          </a:custGeom>
          <a:solidFill>
            <a:srgbClr val="10897A"/>
          </a:solidFill>
          <a:ln/>
        </p:spPr>
      </p:sp>
      <p:sp>
        <p:nvSpPr>
          <p:cNvPr id="7" name="Shape 4"/>
          <p:cNvSpPr/>
          <p:nvPr/>
        </p:nvSpPr>
        <p:spPr>
          <a:xfrm>
            <a:off x="7009606" y="2459992"/>
            <a:ext cx="4369594" cy="2074863"/>
          </a:xfrm>
          <a:prstGeom prst="roundRect">
            <a:avLst>
              <a:gd name="adj" fmla="val 3673"/>
            </a:avLst>
          </a:prstGeom>
          <a:solidFill>
            <a:srgbClr val="F5F8F9"/>
          </a:solidFill>
          <a:ln/>
        </p:spPr>
      </p:sp>
      <p:sp>
        <p:nvSpPr>
          <p:cNvPr id="8" name="Text 5"/>
          <p:cNvSpPr/>
          <p:nvPr/>
        </p:nvSpPr>
        <p:spPr>
          <a:xfrm>
            <a:off x="7174706" y="2599692"/>
            <a:ext cx="4160576" cy="212090"/>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10897A"/>
                </a:solidFill>
                <a:latin typeface="Space Grotesk" pitchFamily="34" charset="0"/>
                <a:ea typeface="Space Grotesk" pitchFamily="34" charset="-122"/>
                <a:cs typeface="Space Grotesk" pitchFamily="34" charset="-120"/>
              </a:rPr>
              <a:t>API STRATEGY</a:t>
            </a:r>
            <a:endParaRPr lang="en-US" sz="1050" dirty="0"/>
          </a:p>
        </p:txBody>
      </p:sp>
      <p:pic>
        <p:nvPicPr>
          <p:cNvPr id="9" name="Image 0" descr="Link">    </p:cNvPr>
          <p:cNvPicPr>
            <a:picLocks noChangeAspect="1"/>
          </p:cNvPicPr>
          <p:nvPr/>
        </p:nvPicPr>
        <p:blipFill>
          <a:blip r:embed="rId1"/>
          <a:srcRect l="0" r="0" t="0" b="0"/>
          <a:stretch/>
        </p:blipFill>
        <p:spPr>
          <a:xfrm>
            <a:off x="7174706" y="2862585"/>
            <a:ext cx="177800" cy="177800"/>
          </a:xfrm>
          <a:prstGeom prst="rect">
            <a:avLst/>
          </a:prstGeom>
        </p:spPr>
      </p:pic>
      <p:sp>
        <p:nvSpPr>
          <p:cNvPr id="10" name="Text 6"/>
          <p:cNvSpPr/>
          <p:nvPr/>
        </p:nvSpPr>
        <p:spPr>
          <a:xfrm>
            <a:off x="7428706" y="2862585"/>
            <a:ext cx="3466465" cy="616903"/>
          </a:xfrm>
          <a:prstGeom prst="rect">
            <a:avLst/>
          </a:prstGeom>
          <a:noFill/>
          <a:ln/>
        </p:spPr>
        <p:txBody>
          <a:bodyPr wrap="square" lIns="0" tIns="0" rIns="0" bIns="0" rtlCol="0" anchor="t">
            <a:normAutofit/>
          </a:bodyPr>
          <a:lstStyle/>
          <a:p>
            <a:pPr algn="l" indent="0" marL="0">
              <a:lnSpc>
                <a:spcPts val="1553"/>
              </a:lnSpc>
              <a:buNone/>
            </a:pPr>
            <a:r>
              <a:rPr lang="en-US" sz="1150" b="1" dirty="0">
                <a:solidFill>
                  <a:srgbClr val="5C6B7A"/>
                </a:solidFill>
                <a:latin typeface="Inter" pitchFamily="34" charset="0"/>
                <a:ea typeface="Inter" pitchFamily="34" charset="-122"/>
                <a:cs typeface="Inter" pitchFamily="34" charset="-120"/>
              </a:rPr>
              <a:t>GraphQL</a:t>
            </a:r>
            <a:r>
              <a:rPr lang="en-US" sz="1150" dirty="0">
                <a:solidFill>
                  <a:srgbClr val="5C6B7A"/>
                </a:solidFill>
                <a:latin typeface="Inter" pitchFamily="34" charset="0"/>
                <a:ea typeface="Inter" pitchFamily="34" charset="-122"/>
                <a:cs typeface="Inter" pitchFamily="34" charset="-120"/>
              </a:rPr>
              <a:t> — served natively from the database. Consumers shape their own queries; no resolver tier to build or maintain</a:t>
            </a:r>
            <a:endParaRPr lang="en-US" sz="1150" dirty="0"/>
          </a:p>
        </p:txBody>
      </p:sp>
      <p:pic>
        <p:nvPicPr>
          <p:cNvPr id="11" name="Image 1" descr="Globe">    </p:cNvPr>
          <p:cNvPicPr>
            <a:picLocks noChangeAspect="1"/>
          </p:cNvPicPr>
          <p:nvPr/>
        </p:nvPicPr>
        <p:blipFill>
          <a:blip r:embed="rId2"/>
          <a:srcRect l="0" r="0" t="0" b="0"/>
          <a:stretch/>
        </p:blipFill>
        <p:spPr>
          <a:xfrm>
            <a:off x="7174706" y="3530290"/>
            <a:ext cx="177800" cy="177800"/>
          </a:xfrm>
          <a:prstGeom prst="rect">
            <a:avLst/>
          </a:prstGeom>
        </p:spPr>
      </p:pic>
      <p:sp>
        <p:nvSpPr>
          <p:cNvPr id="12" name="Text 7"/>
          <p:cNvSpPr/>
          <p:nvPr/>
        </p:nvSpPr>
        <p:spPr>
          <a:xfrm>
            <a:off x="7428706" y="3530290"/>
            <a:ext cx="3466465" cy="419735"/>
          </a:xfrm>
          <a:prstGeom prst="rect">
            <a:avLst/>
          </a:prstGeom>
          <a:noFill/>
          <a:ln/>
        </p:spPr>
        <p:txBody>
          <a:bodyPr wrap="square" lIns="0" tIns="0" rIns="0" bIns="0" rtlCol="0" anchor="t">
            <a:normAutofit/>
          </a:bodyPr>
          <a:lstStyle/>
          <a:p>
            <a:pPr algn="l" indent="0" marL="0">
              <a:lnSpc>
                <a:spcPts val="1553"/>
              </a:lnSpc>
              <a:buNone/>
            </a:pPr>
            <a:r>
              <a:rPr lang="en-US" sz="1150" b="1" dirty="0">
                <a:solidFill>
                  <a:srgbClr val="5C6B7A"/>
                </a:solidFill>
                <a:latin typeface="Inter" pitchFamily="34" charset="0"/>
                <a:ea typeface="Inter" pitchFamily="34" charset="-122"/>
                <a:cs typeface="Inter" pitchFamily="34" charset="-120"/>
              </a:rPr>
              <a:t>REST</a:t>
            </a:r>
            <a:r>
              <a:rPr lang="en-US" sz="1150" dirty="0">
                <a:solidFill>
                  <a:srgbClr val="5C6B7A"/>
                </a:solidFill>
                <a:latin typeface="Inter" pitchFamily="34" charset="0"/>
                <a:ea typeface="Inter" pitchFamily="34" charset="-122"/>
                <a:cs typeface="Inter" pitchFamily="34" charset="-120"/>
              </a:rPr>
              <a:t> — service endpoints aligned to existing bank standards</a:t>
            </a:r>
            <a:endParaRPr lang="en-US" sz="1150" dirty="0"/>
          </a:p>
        </p:txBody>
      </p:sp>
      <p:pic>
        <p:nvPicPr>
          <p:cNvPr id="13" name="Image 2" descr="Tool">    </p:cNvPr>
          <p:cNvPicPr>
            <a:picLocks noChangeAspect="1"/>
          </p:cNvPicPr>
          <p:nvPr/>
        </p:nvPicPr>
        <p:blipFill>
          <a:blip r:embed="rId3"/>
          <a:srcRect l="0" r="0" t="0" b="0"/>
          <a:stretch/>
        </p:blipFill>
        <p:spPr>
          <a:xfrm>
            <a:off x="7174706" y="4000822"/>
            <a:ext cx="177800" cy="177800"/>
          </a:xfrm>
          <a:prstGeom prst="rect">
            <a:avLst/>
          </a:prstGeom>
        </p:spPr>
      </p:pic>
      <p:sp>
        <p:nvSpPr>
          <p:cNvPr id="14" name="Text 8"/>
          <p:cNvSpPr/>
          <p:nvPr/>
        </p:nvSpPr>
        <p:spPr>
          <a:xfrm>
            <a:off x="7428706" y="4000822"/>
            <a:ext cx="3466465" cy="419735"/>
          </a:xfrm>
          <a:prstGeom prst="rect">
            <a:avLst/>
          </a:prstGeom>
          <a:noFill/>
          <a:ln/>
        </p:spPr>
        <p:txBody>
          <a:bodyPr wrap="square" lIns="0" tIns="0" rIns="0" bIns="0" rtlCol="0" anchor="t">
            <a:normAutofit/>
          </a:bodyPr>
          <a:lstStyle/>
          <a:p>
            <a:pPr algn="l" indent="0" marL="0">
              <a:lnSpc>
                <a:spcPts val="1553"/>
              </a:lnSpc>
              <a:buNone/>
            </a:pPr>
            <a:r>
              <a:rPr lang="en-US" sz="1150" b="1" dirty="0">
                <a:solidFill>
                  <a:srgbClr val="5C6B7A"/>
                </a:solidFill>
                <a:latin typeface="Inter" pitchFamily="34" charset="0"/>
                <a:ea typeface="Inter" pitchFamily="34" charset="-122"/>
                <a:cs typeface="Inter" pitchFamily="34" charset="-120"/>
              </a:rPr>
              <a:t>MCP</a:t>
            </a:r>
            <a:r>
              <a:rPr lang="en-US" sz="1150" dirty="0">
                <a:solidFill>
                  <a:srgbClr val="5C6B7A"/>
                </a:solidFill>
                <a:latin typeface="Inter" pitchFamily="34" charset="0"/>
                <a:ea typeface="Inter" pitchFamily="34" charset="-122"/>
                <a:cs typeface="Inter" pitchFamily="34" charset="-120"/>
              </a:rPr>
              <a:t> — agents receive governed tools, not query access</a:t>
            </a:r>
            <a:endParaRPr lang="en-US" sz="1150" dirty="0"/>
          </a:p>
        </p:txBody>
      </p:sp>
      <p:sp>
        <p:nvSpPr>
          <p:cNvPr id="15" name="Text 9"/>
          <p:cNvSpPr/>
          <p:nvPr/>
        </p:nvSpPr>
        <p:spPr>
          <a:xfrm>
            <a:off x="812800" y="6220458"/>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897A"/>
                </a:solidFill>
                <a:latin typeface="Space Grotesk" pitchFamily="34" charset="0"/>
                <a:ea typeface="Space Grotesk" pitchFamily="34" charset="-122"/>
                <a:cs typeface="Space Grotesk" pitchFamily="34" charset="-120"/>
              </a:rPr>
              <a:t>Detailed AWS design follows separately. Every architectural decision here assumes production.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609600"/>
            <a:ext cx="4884773"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B1622"/>
                </a:solidFill>
                <a:latin typeface="Space Grotesk" pitchFamily="34" charset="0"/>
                <a:ea typeface="Space Grotesk" pitchFamily="34" charset="-122"/>
                <a:cs typeface="Space Grotesk" pitchFamily="34" charset="-120"/>
              </a:rPr>
              <a:t>GraphQL, served by the graph</a:t>
            </a:r>
            <a:endParaRPr lang="en-US" sz="2600" dirty="0"/>
          </a:p>
        </p:txBody>
      </p:sp>
      <p:sp>
        <p:nvSpPr>
          <p:cNvPr id="3" name="Text 1"/>
          <p:cNvSpPr/>
          <p:nvPr/>
        </p:nvSpPr>
        <p:spPr>
          <a:xfrm>
            <a:off x="5694998" y="741685"/>
            <a:ext cx="281192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C6B7A"/>
                </a:solidFill>
                <a:latin typeface="Inter" pitchFamily="34" charset="0"/>
                <a:ea typeface="Inter" pitchFamily="34" charset="-122"/>
                <a:cs typeface="Inter" pitchFamily="34" charset="-120"/>
              </a:rPr>
              <a:t>One request where REST needs four</a:t>
            </a:r>
            <a:endParaRPr lang="en-US" sz="1250" dirty="0"/>
          </a:p>
        </p:txBody>
      </p:sp>
      <p:sp>
        <p:nvSpPr>
          <p:cNvPr id="4" name="Shape 2"/>
          <p:cNvSpPr/>
          <p:nvPr/>
        </p:nvSpPr>
        <p:spPr>
          <a:xfrm>
            <a:off x="812800" y="804627"/>
            <a:ext cx="10229215" cy="5215176"/>
          </a:xfrm>
          <a:prstGeom prst="roundRect">
            <a:avLst>
              <a:gd name="adj" fmla="val 1705"/>
            </a:avLst>
          </a:prstGeom>
          <a:solidFill>
            <a:srgbClr val="0B1622"/>
          </a:solidFill>
          <a:ln/>
        </p:spPr>
      </p:sp>
      <p:sp>
        <p:nvSpPr>
          <p:cNvPr id="5" name="Text 3"/>
          <p:cNvSpPr/>
          <p:nvPr/>
        </p:nvSpPr>
        <p:spPr>
          <a:xfrm>
            <a:off x="990600" y="957027"/>
            <a:ext cx="101698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3C0"/>
                </a:solidFill>
                <a:latin typeface="Space Grotesk" pitchFamily="34" charset="0"/>
                <a:ea typeface="Space Grotesk" pitchFamily="34" charset="-122"/>
                <a:cs typeface="Space Grotesk" pitchFamily="34" charset="-120"/>
              </a:rPr>
              <a:t>ADVISOR 360 — ONE CALL, FOUR HOPS</a:t>
            </a:r>
            <a:endParaRPr lang="en-US" sz="1200" dirty="0"/>
          </a:p>
        </p:txBody>
      </p:sp>
      <p:sp>
        <p:nvSpPr>
          <p:cNvPr id="6" name="Text 4"/>
          <p:cNvSpPr/>
          <p:nvPr/>
        </p:nvSpPr>
        <p:spPr>
          <a:xfrm>
            <a:off x="990600" y="1259284"/>
            <a:ext cx="10169824" cy="193040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CFE3DC"/>
                </a:solidFill>
                <a:latin typeface="Courier New" pitchFamily="34" charset="0"/>
                <a:ea typeface="Courier New" pitchFamily="34" charset="-122"/>
                <a:cs typeface="Courier New" pitchFamily="34" charset="-120"/>
              </a:rPr>
              <a:t>{ </a:t>
            </a:r>
            <a:r>
              <a:rPr lang="en-US" sz="1250" dirty="0">
                <a:solidFill>
                  <a:srgbClr val="6FD3C0"/>
                </a:solidFill>
                <a:latin typeface="Courier New" pitchFamily="34" charset="0"/>
                <a:ea typeface="Courier New" pitchFamily="34" charset="-122"/>
                <a:cs typeface="Courier New" pitchFamily="34" charset="-120"/>
              </a:rPr>
              <a:t>Advisor</a:t>
            </a:r>
            <a:r>
              <a:rPr lang="en-US" sz="1250" dirty="0">
                <a:solidFill>
                  <a:srgbClr val="CFE3DC"/>
                </a:solidFill>
                <a:latin typeface="Courier New" pitchFamily="34" charset="0"/>
                <a:ea typeface="Courier New" pitchFamily="34" charset="-122"/>
                <a:cs typeface="Courier New" pitchFamily="34" charset="-120"/>
              </a:rPr>
              <a:t>(advisor_sid: $sid) {</a:t>
            </a:r>
            <a:endParaRPr lang="en-US" sz="1250" dirty="0"/>
          </a:p>
          <a:p>
            <a:pPr algn="l" indent="0" marL="0">
              <a:lnSpc>
                <a:spcPts val="1875"/>
              </a:lnSpc>
              <a:buNone/>
            </a:pPr>
            <a:r>
              <a:rPr lang="en-US" sz="1250" dirty="0">
                <a:solidFill>
                  <a:srgbClr val="CFE3DC"/>
                </a:solidFill>
                <a:latin typeface="Courier New" pitchFamily="34" charset="0"/>
                <a:ea typeface="Courier New" pitchFamily="34" charset="-122"/>
                <a:cs typeface="Courier New" pitchFamily="34" charset="-120"/>
              </a:rPr>
              <a:t>  advisor_name credited_revenue</a:t>
            </a:r>
            <a:endParaRPr lang="en-US" sz="1250" dirty="0"/>
          </a:p>
          <a:p>
            <a:pPr algn="l" indent="0" marL="0">
              <a:lnSpc>
                <a:spcPts val="1875"/>
              </a:lnSpc>
              <a:buNone/>
            </a:pPr>
            <a:r>
              <a:rPr lang="en-US" sz="1250" dirty="0">
                <a:solidFill>
                  <a:srgbClr val="CFE3DC"/>
                </a:solidFill>
                <a:latin typeface="Courier New" pitchFamily="34" charset="0"/>
                <a:ea typeface="Courier New" pitchFamily="34" charset="-122"/>
                <a:cs typeface="Courier New" pitchFamily="34" charset="-120"/>
              </a:rPr>
              <a:t>  </a:t>
            </a:r>
            <a:r>
              <a:rPr lang="en-US" sz="1250" dirty="0">
                <a:solidFill>
                  <a:srgbClr val="F0C99A"/>
                </a:solidFill>
                <a:latin typeface="Courier New" pitchFamily="34" charset="0"/>
                <a:ea typeface="Courier New" pitchFamily="34" charset="-122"/>
                <a:cs typeface="Courier New" pitchFamily="34" charset="-120"/>
              </a:rPr>
              <a:t>advises</a:t>
            </a:r>
            <a:r>
              <a:rPr lang="en-US" sz="1250" dirty="0">
                <a:solidFill>
                  <a:srgbClr val="CFE3DC"/>
                </a:solidFill>
                <a:latin typeface="Courier New" pitchFamily="34" charset="0"/>
                <a:ea typeface="Courier New" pitchFamily="34" charset="-122"/>
                <a:cs typeface="Courier New" pitchFamily="34" charset="-120"/>
              </a:rPr>
              <a:t> { </a:t>
            </a:r>
            <a:r>
              <a:rPr lang="en-US" sz="1250" dirty="0">
                <a:solidFill>
                  <a:srgbClr val="6FD3C0"/>
                </a:solidFill>
                <a:latin typeface="Courier New" pitchFamily="34" charset="0"/>
                <a:ea typeface="Courier New" pitchFamily="34" charset="-122"/>
                <a:cs typeface="Courier New" pitchFamily="34" charset="-120"/>
              </a:rPr>
              <a:t>Household</a:t>
            </a:r>
            <a:r>
              <a:rPr lang="en-US" sz="1250" dirty="0">
                <a:solidFill>
                  <a:srgbClr val="CFE3DC"/>
                </a:solidFill>
                <a:latin typeface="Courier New" pitchFamily="34" charset="0"/>
                <a:ea typeface="Courier New" pitchFamily="34" charset="-122"/>
                <a:cs typeface="Courier New" pitchFamily="34" charset="-120"/>
              </a:rPr>
              <a:t> {</a:t>
            </a:r>
            <a:endParaRPr lang="en-US" sz="1250" dirty="0"/>
          </a:p>
          <a:p>
            <a:pPr algn="l" indent="0" marL="0">
              <a:lnSpc>
                <a:spcPts val="1875"/>
              </a:lnSpc>
              <a:buNone/>
            </a:pPr>
            <a:r>
              <a:rPr lang="en-US" sz="1250" dirty="0">
                <a:solidFill>
                  <a:srgbClr val="CFE3DC"/>
                </a:solidFill>
                <a:latin typeface="Courier New" pitchFamily="34" charset="0"/>
                <a:ea typeface="Courier New" pitchFamily="34" charset="-122"/>
                <a:cs typeface="Courier New" pitchFamily="34" charset="-120"/>
              </a:rPr>
              <a:t>    </a:t>
            </a:r>
            <a:r>
              <a:rPr lang="en-US" sz="1250" dirty="0">
                <a:solidFill>
                  <a:srgbClr val="F0C99A"/>
                </a:solidFill>
                <a:latin typeface="Courier New" pitchFamily="34" charset="0"/>
                <a:ea typeface="Courier New" pitchFamily="34" charset="-122"/>
                <a:cs typeface="Courier New" pitchFamily="34" charset="-120"/>
              </a:rPr>
              <a:t>owns</a:t>
            </a:r>
            <a:r>
              <a:rPr lang="en-US" sz="1250" dirty="0">
                <a:solidFill>
                  <a:srgbClr val="CFE3DC"/>
                </a:solidFill>
                <a:latin typeface="Courier New" pitchFamily="34" charset="0"/>
                <a:ea typeface="Courier New" pitchFamily="34" charset="-122"/>
                <a:cs typeface="Courier New" pitchFamily="34" charset="-120"/>
              </a:rPr>
              <a:t> { </a:t>
            </a:r>
            <a:r>
              <a:rPr lang="en-US" sz="1250" dirty="0">
                <a:solidFill>
                  <a:srgbClr val="6FD3C0"/>
                </a:solidFill>
                <a:latin typeface="Courier New" pitchFamily="34" charset="0"/>
                <a:ea typeface="Courier New" pitchFamily="34" charset="-122"/>
                <a:cs typeface="Courier New" pitchFamily="34" charset="-120"/>
              </a:rPr>
              <a:t>Account</a:t>
            </a:r>
            <a:r>
              <a:rPr lang="en-US" sz="1250" dirty="0">
                <a:solidFill>
                  <a:srgbClr val="CFE3DC"/>
                </a:solidFill>
                <a:latin typeface="Courier New" pitchFamily="34" charset="0"/>
                <a:ea typeface="Courier New" pitchFamily="34" charset="-122"/>
                <a:cs typeface="Courier New" pitchFamily="34" charset="-120"/>
              </a:rPr>
              <a:t> {</a:t>
            </a:r>
            <a:endParaRPr lang="en-US" sz="1250" dirty="0"/>
          </a:p>
          <a:p>
            <a:pPr algn="l" indent="0" marL="0">
              <a:lnSpc>
                <a:spcPts val="1875"/>
              </a:lnSpc>
              <a:buNone/>
            </a:pPr>
            <a:r>
              <a:rPr lang="en-US" sz="1250" dirty="0">
                <a:solidFill>
                  <a:srgbClr val="CFE3DC"/>
                </a:solidFill>
                <a:latin typeface="Courier New" pitchFamily="34" charset="0"/>
                <a:ea typeface="Courier New" pitchFamily="34" charset="-122"/>
                <a:cs typeface="Courier New" pitchFamily="34" charset="-120"/>
              </a:rPr>
              <a:t>      </a:t>
            </a:r>
            <a:r>
              <a:rPr lang="en-US" sz="1250" dirty="0">
                <a:solidFill>
                  <a:srgbClr val="F0C99A"/>
                </a:solidFill>
                <a:latin typeface="Courier New" pitchFamily="34" charset="0"/>
                <a:ea typeface="Courier New" pitchFamily="34" charset="-122"/>
                <a:cs typeface="Courier New" pitchFamily="34" charset="-120"/>
              </a:rPr>
              <a:t>holds</a:t>
            </a:r>
            <a:r>
              <a:rPr lang="en-US" sz="1250" dirty="0">
                <a:solidFill>
                  <a:srgbClr val="CFE3DC"/>
                </a:solidFill>
                <a:latin typeface="Courier New" pitchFamily="34" charset="0"/>
                <a:ea typeface="Courier New" pitchFamily="34" charset="-122"/>
                <a:cs typeface="Courier New" pitchFamily="34" charset="-120"/>
              </a:rPr>
              <a:t> { </a:t>
            </a:r>
            <a:r>
              <a:rPr lang="en-US" sz="1250" dirty="0">
                <a:solidFill>
                  <a:srgbClr val="6FD3C0"/>
                </a:solidFill>
                <a:latin typeface="Courier New" pitchFamily="34" charset="0"/>
                <a:ea typeface="Courier New" pitchFamily="34" charset="-122"/>
                <a:cs typeface="Courier New" pitchFamily="34" charset="-120"/>
              </a:rPr>
              <a:t>Product</a:t>
            </a:r>
            <a:r>
              <a:rPr lang="en-US" sz="1250" dirty="0">
                <a:solidFill>
                  <a:srgbClr val="CFE3DC"/>
                </a:solidFill>
                <a:latin typeface="Courier New" pitchFamily="34" charset="0"/>
                <a:ea typeface="Courier New" pitchFamily="34" charset="-122"/>
                <a:cs typeface="Courier New" pitchFamily="34" charset="-120"/>
              </a:rPr>
              <a:t> { name } }</a:t>
            </a:r>
            <a:endParaRPr lang="en-US" sz="1250" dirty="0"/>
          </a:p>
          <a:p>
            <a:pPr algn="l" indent="0" marL="0">
              <a:lnSpc>
                <a:spcPts val="1875"/>
              </a:lnSpc>
              <a:buNone/>
            </a:pPr>
            <a:r>
              <a:rPr lang="en-US" sz="1250" dirty="0">
                <a:solidFill>
                  <a:srgbClr val="CFE3DC"/>
                </a:solidFill>
                <a:latin typeface="Courier New" pitchFamily="34" charset="0"/>
                <a:ea typeface="Courier New" pitchFamily="34" charset="-122"/>
                <a:cs typeface="Courier New" pitchFamily="34" charset="-120"/>
              </a:rPr>
              <a:t>    } }</a:t>
            </a:r>
            <a:endParaRPr lang="en-US" sz="1250" dirty="0"/>
          </a:p>
          <a:p>
            <a:pPr algn="l" indent="0" marL="0">
              <a:lnSpc>
                <a:spcPts val="1875"/>
              </a:lnSpc>
              <a:buNone/>
            </a:pPr>
            <a:r>
              <a:rPr lang="en-US" sz="1250" dirty="0">
                <a:solidFill>
                  <a:srgbClr val="CFE3DC"/>
                </a:solidFill>
                <a:latin typeface="Courier New" pitchFamily="34" charset="0"/>
                <a:ea typeface="Courier New" pitchFamily="34" charset="-122"/>
                <a:cs typeface="Courier New" pitchFamily="34" charset="-120"/>
              </a:rPr>
              <a:t>  } }</a:t>
            </a:r>
            <a:endParaRPr lang="en-US" sz="1250" dirty="0"/>
          </a:p>
          <a:p>
            <a:pPr algn="l" indent="0" marL="0">
              <a:lnSpc>
                <a:spcPts val="1875"/>
              </a:lnSpc>
              <a:buNone/>
            </a:pPr>
            <a:r>
              <a:rPr lang="en-US" sz="1250" dirty="0">
                <a:solidFill>
                  <a:srgbClr val="CFE3DC"/>
                </a:solidFill>
                <a:latin typeface="Courier New" pitchFamily="34" charset="0"/>
                <a:ea typeface="Courier New" pitchFamily="34" charset="-122"/>
                <a:cs typeface="Courier New" pitchFamily="34" charset="-120"/>
              </a:rPr>
              <a:t>} }</a:t>
            </a:r>
            <a:endParaRPr lang="en-US" sz="1250" dirty="0"/>
          </a:p>
        </p:txBody>
      </p:sp>
      <p:sp>
        <p:nvSpPr>
          <p:cNvPr id="7" name="Text 5"/>
          <p:cNvSpPr/>
          <p:nvPr/>
        </p:nvSpPr>
        <p:spPr>
          <a:xfrm>
            <a:off x="990600" y="3253184"/>
            <a:ext cx="101698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FB3BE"/>
                </a:solidFill>
                <a:latin typeface="Inter" pitchFamily="34" charset="0"/>
                <a:ea typeface="Inter" pitchFamily="34" charset="-122"/>
                <a:cs typeface="Inter" pitchFamily="34" charset="-120"/>
              </a:rPr>
              <a:t>Relationships in the schema become traversals in the query.</a:t>
            </a:r>
            <a:endParaRPr lang="en-US" sz="1200" dirty="0"/>
          </a:p>
        </p:txBody>
      </p:sp>
      <p:sp>
        <p:nvSpPr>
          <p:cNvPr id="8" name="Shape 6"/>
          <p:cNvSpPr/>
          <p:nvPr/>
        </p:nvSpPr>
        <p:spPr>
          <a:xfrm>
            <a:off x="11184890" y="807802"/>
            <a:ext cx="334010" cy="2652951"/>
          </a:xfrm>
          <a:prstGeom prst="roundRect">
            <a:avLst>
              <a:gd name="adj" fmla="val 25665"/>
            </a:avLst>
          </a:prstGeom>
          <a:solidFill>
            <a:srgbClr val="FFFFFF"/>
          </a:solidFill>
          <a:ln w="6350">
            <a:solidFill>
              <a:srgbClr val="DFE6EA"/>
            </a:solidFill>
            <a:prstDash val="solid"/>
          </a:ln>
        </p:spPr>
      </p:sp>
      <p:sp>
        <p:nvSpPr>
          <p:cNvPr id="9" name="Text 7"/>
          <p:cNvSpPr/>
          <p:nvPr/>
        </p:nvSpPr>
        <p:spPr>
          <a:xfrm>
            <a:off x="11351895" y="949412"/>
            <a:ext cx="50800" cy="259159"/>
          </a:xfrm>
          <a:prstGeom prst="rect">
            <a:avLst/>
          </a:prstGeom>
          <a:noFill/>
          <a:ln/>
        </p:spPr>
        <p:txBody>
          <a:bodyPr wrap="square" lIns="0" tIns="0" rIns="0" bIns="0" rtlCol="0" anchor="t">
            <a:normAutofit/>
          </a:bodyPr>
          <a:lstStyle/>
          <a:p>
            <a:pPr algn="l" indent="0" marL="0">
              <a:lnSpc>
                <a:spcPts val="972"/>
              </a:lnSpc>
              <a:buNone/>
            </a:pPr>
            <a:r>
              <a:rPr lang="en-US" sz="810" b="1" dirty="0">
                <a:solidFill>
                  <a:srgbClr val="0B1622"/>
                </a:solidFill>
                <a:latin typeface="Space Grotesk" pitchFamily="34" charset="0"/>
                <a:ea typeface="Space Grotesk" pitchFamily="34" charset="-122"/>
                <a:cs typeface="Space Grotesk" pitchFamily="34" charset="-120"/>
              </a:rPr>
              <a:t>Why it matters here</a:t>
            </a:r>
            <a:endParaRPr lang="en-US" sz="810" dirty="0"/>
          </a:p>
        </p:txBody>
      </p:sp>
      <p:sp>
        <p:nvSpPr>
          <p:cNvPr id="10" name="Text 8"/>
          <p:cNvSpPr/>
          <p:nvPr/>
        </p:nvSpPr>
        <p:spPr>
          <a:xfrm>
            <a:off x="11351895" y="1233971"/>
            <a:ext cx="50800" cy="2110581"/>
          </a:xfrm>
          <a:prstGeom prst="rect">
            <a:avLst/>
          </a:prstGeom>
          <a:noFill/>
          <a:ln/>
        </p:spPr>
        <p:txBody>
          <a:bodyPr wrap="square" lIns="0" tIns="0" rIns="0" bIns="0" rtlCol="0" anchor="t">
            <a:normAutofit/>
          </a:bodyPr>
          <a:lstStyle/>
          <a:p>
            <a:pPr algn="l" marL="114300" indent="-113665">
              <a:lnSpc>
                <a:spcPts val="1013"/>
              </a:lnSpc>
              <a:buSzPct val="100000"/>
              <a:buChar char="•"/>
            </a:pPr>
            <a:r>
              <a:rPr lang="en-US" sz="750" dirty="0">
                <a:solidFill>
                  <a:srgbClr val="5C6B7A"/>
                </a:solidFill>
                <a:latin typeface="Inter" pitchFamily="34" charset="0"/>
                <a:ea typeface="Inter" pitchFamily="34" charset="-122"/>
                <a:cs typeface="Inter" pitchFamily="34" charset="-120"/>
              </a:rPr>
              <a:t>Generated from the schema — </a:t>
            </a:r>
            <a:r>
              <a:rPr lang="en-US" sz="750" b="1" dirty="0">
                <a:solidFill>
                  <a:srgbClr val="5C6B7A"/>
                </a:solidFill>
                <a:latin typeface="Inter" pitchFamily="34" charset="0"/>
                <a:ea typeface="Inter" pitchFamily="34" charset="-122"/>
                <a:cs typeface="Inter" pitchFamily="34" charset="-120"/>
              </a:rPr>
              <a:t>no resolver tier</a:t>
            </a:r>
            <a:r>
              <a:rPr lang="en-US" sz="750" dirty="0">
                <a:solidFill>
                  <a:srgbClr val="5C6B7A"/>
                </a:solidFill>
                <a:latin typeface="Inter" pitchFamily="34" charset="0"/>
                <a:ea typeface="Inter" pitchFamily="34" charset="-122"/>
                <a:cs typeface="Inter" pitchFamily="34" charset="-120"/>
              </a:rPr>
              <a:t> to build, host or secure</a:t>
            </a:r>
            <a:endParaRPr lang="en-US" sz="750" dirty="0"/>
          </a:p>
          <a:p>
            <a:pPr algn="l" marL="114300" indent="-113665">
              <a:lnSpc>
                <a:spcPts val="1013"/>
              </a:lnSpc>
              <a:buSzPct val="100000"/>
              <a:buChar char="•"/>
            </a:pPr>
            <a:r>
              <a:rPr lang="en-US" sz="750" dirty="0">
                <a:solidFill>
                  <a:srgbClr val="5C6B7A"/>
                </a:solidFill>
                <a:latin typeface="Inter" pitchFamily="34" charset="0"/>
                <a:ea typeface="Inter" pitchFamily="34" charset="-122"/>
                <a:cs typeface="Inter" pitchFamily="34" charset="-120"/>
              </a:rPr>
              <a:t>Advisor 360 in one call instead of four round trips</a:t>
            </a:r>
            <a:endParaRPr lang="en-US" sz="750" dirty="0"/>
          </a:p>
          <a:p>
            <a:pPr algn="l" marL="114300" indent="-113665">
              <a:lnSpc>
                <a:spcPts val="1013"/>
              </a:lnSpc>
              <a:buSzPct val="100000"/>
              <a:buChar char="•"/>
            </a:pPr>
            <a:r>
              <a:rPr lang="en-US" sz="750" dirty="0">
                <a:solidFill>
                  <a:srgbClr val="5C6B7A"/>
                </a:solidFill>
                <a:latin typeface="Inter" pitchFamily="34" charset="0"/>
                <a:ea typeface="Inter" pitchFamily="34" charset="-122"/>
                <a:cs typeface="Inter" pitchFamily="34" charset="-120"/>
              </a:rPr>
              <a:t>Included in the licence we are already buying</a:t>
            </a:r>
            <a:endParaRPr lang="en-US" sz="750" dirty="0"/>
          </a:p>
        </p:txBody>
      </p:sp>
      <p:sp>
        <p:nvSpPr>
          <p:cNvPr id="11" name="Shape 9"/>
          <p:cNvSpPr/>
          <p:nvPr/>
        </p:nvSpPr>
        <p:spPr>
          <a:xfrm>
            <a:off x="11184890" y="3568700"/>
            <a:ext cx="334010" cy="2447925"/>
          </a:xfrm>
          <a:prstGeom prst="roundRect">
            <a:avLst>
              <a:gd name="adj" fmla="val 25665"/>
            </a:avLst>
          </a:prstGeom>
          <a:solidFill>
            <a:srgbClr val="FFFFFF"/>
          </a:solidFill>
          <a:ln w="6350">
            <a:solidFill>
              <a:srgbClr val="DFE6EA"/>
            </a:solidFill>
            <a:prstDash val="solid"/>
          </a:ln>
        </p:spPr>
      </p:sp>
      <p:sp>
        <p:nvSpPr>
          <p:cNvPr id="12" name="Text 10"/>
          <p:cNvSpPr/>
          <p:nvPr/>
        </p:nvSpPr>
        <p:spPr>
          <a:xfrm>
            <a:off x="11351895" y="3710310"/>
            <a:ext cx="50800" cy="331629"/>
          </a:xfrm>
          <a:prstGeom prst="rect">
            <a:avLst/>
          </a:prstGeom>
          <a:noFill/>
          <a:ln/>
        </p:spPr>
        <p:txBody>
          <a:bodyPr wrap="square" lIns="0" tIns="0" rIns="0" bIns="0" rtlCol="0" anchor="t">
            <a:normAutofit/>
          </a:bodyPr>
          <a:lstStyle/>
          <a:p>
            <a:pPr algn="l" indent="0" marL="0">
              <a:lnSpc>
                <a:spcPts val="972"/>
              </a:lnSpc>
              <a:buNone/>
            </a:pPr>
            <a:r>
              <a:rPr lang="en-US" sz="810" b="1" dirty="0">
                <a:solidFill>
                  <a:srgbClr val="0B1622"/>
                </a:solidFill>
                <a:latin typeface="Space Grotesk" pitchFamily="34" charset="0"/>
                <a:ea typeface="Space Grotesk" pitchFamily="34" charset="-122"/>
                <a:cs typeface="Space Grotesk" pitchFamily="34" charset="-120"/>
              </a:rPr>
              <a:t>Governed at the database</a:t>
            </a:r>
            <a:endParaRPr lang="en-US" sz="810" dirty="0"/>
          </a:p>
        </p:txBody>
      </p:sp>
      <p:sp>
        <p:nvSpPr>
          <p:cNvPr id="13" name="Text 11"/>
          <p:cNvSpPr/>
          <p:nvPr/>
        </p:nvSpPr>
        <p:spPr>
          <a:xfrm>
            <a:off x="11351895" y="4067336"/>
            <a:ext cx="50800" cy="1833086"/>
          </a:xfrm>
          <a:prstGeom prst="rect">
            <a:avLst/>
          </a:prstGeom>
          <a:noFill/>
          <a:ln/>
        </p:spPr>
        <p:txBody>
          <a:bodyPr wrap="square" lIns="0" tIns="0" rIns="0" bIns="0" rtlCol="0" anchor="t">
            <a:normAutofit/>
          </a:bodyPr>
          <a:lstStyle/>
          <a:p>
            <a:pPr algn="l" marL="114300" indent="-113665">
              <a:lnSpc>
                <a:spcPts val="1013"/>
              </a:lnSpc>
              <a:buSzPct val="100000"/>
              <a:buChar char="•"/>
            </a:pPr>
            <a:r>
              <a:rPr lang="en-US" sz="750" dirty="0">
                <a:solidFill>
                  <a:srgbClr val="5C6B7A"/>
                </a:solidFill>
                <a:latin typeface="Inter" pitchFamily="34" charset="0"/>
                <a:ea typeface="Inter" pitchFamily="34" charset="-122"/>
                <a:cs typeface="Inter" pitchFamily="34" charset="-120"/>
              </a:rPr>
              <a:t>Authentication and role-based authorisation</a:t>
            </a:r>
            <a:endParaRPr lang="en-US" sz="750" dirty="0"/>
          </a:p>
          <a:p>
            <a:pPr algn="l" marL="114300" indent="-113665">
              <a:lnSpc>
                <a:spcPts val="1013"/>
              </a:lnSpc>
              <a:buSzPct val="100000"/>
              <a:buChar char="•"/>
            </a:pPr>
            <a:r>
              <a:rPr lang="en-US" sz="750" dirty="0">
                <a:solidFill>
                  <a:srgbClr val="5C6B7A"/>
                </a:solidFill>
                <a:latin typeface="Inter" pitchFamily="34" charset="0"/>
                <a:ea typeface="Inter" pitchFamily="34" charset="-122"/>
                <a:cs typeface="Inter" pitchFamily="34" charset="-120"/>
              </a:rPr>
              <a:t>Row policies beneath the query — scoping cannot be bypassed</a:t>
            </a:r>
            <a:endParaRPr lang="en-US" sz="750" dirty="0"/>
          </a:p>
          <a:p>
            <a:pPr algn="l" marL="114300" indent="-113665">
              <a:lnSpc>
                <a:spcPts val="1013"/>
              </a:lnSpc>
              <a:buSzPct val="100000"/>
              <a:buChar char="•"/>
            </a:pPr>
            <a:r>
              <a:rPr lang="en-US" sz="750" dirty="0">
                <a:solidFill>
                  <a:srgbClr val="5C6B7A"/>
                </a:solidFill>
                <a:latin typeface="Inter" pitchFamily="34" charset="0"/>
                <a:ea typeface="Inter" pitchFamily="34" charset="-122"/>
                <a:cs typeface="Inter" pitchFamily="34" charset="-120"/>
              </a:rPr>
              <a:t>Query depth and complexity limits</a:t>
            </a:r>
            <a:endParaRPr lang="en-US" sz="750" dirty="0"/>
          </a:p>
        </p:txBody>
      </p:sp>
      <p:sp>
        <p:nvSpPr>
          <p:cNvPr id="14" name="Text 12"/>
          <p:cNvSpPr/>
          <p:nvPr/>
        </p:nvSpPr>
        <p:spPr>
          <a:xfrm>
            <a:off x="812800" y="628015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0897A"/>
                </a:solidFill>
                <a:latin typeface="Space Grotesk" pitchFamily="34" charset="0"/>
                <a:ea typeface="Space Grotesk" pitchFamily="34" charset="-122"/>
                <a:cs typeface="Space Grotesk" pitchFamily="34" charset="-120"/>
              </a:rPr>
              <a:t>Graph, vectors, algorithms, MPP and GraphQL in one platform and one licence — rather than assembled from several.</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46758"/>
            <a:ext cx="90900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B99A6"/>
                </a:solidFill>
                <a:latin typeface="Space Grotesk" pitchFamily="34" charset="0"/>
                <a:ea typeface="Space Grotesk" pitchFamily="34" charset="-122"/>
                <a:cs typeface="Space Grotesk" pitchFamily="34" charset="-120"/>
              </a:rPr>
              <a:t>APPENDIX</a:t>
            </a:r>
            <a:endParaRPr lang="en-US" sz="1200" dirty="0"/>
          </a:p>
        </p:txBody>
      </p:sp>
      <p:sp>
        <p:nvSpPr>
          <p:cNvPr id="3" name="Text 1"/>
          <p:cNvSpPr/>
          <p:nvPr/>
        </p:nvSpPr>
        <p:spPr>
          <a:xfrm>
            <a:off x="1810702" y="609600"/>
            <a:ext cx="3376860"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B1622"/>
                </a:solidFill>
                <a:latin typeface="Space Grotesk" pitchFamily="34" charset="0"/>
                <a:ea typeface="Space Grotesk" pitchFamily="34" charset="-122"/>
                <a:cs typeface="Space Grotesk" pitchFamily="34" charset="-120"/>
              </a:rPr>
              <a:t>Context engineering</a:t>
            </a:r>
            <a:endParaRPr lang="en-US" sz="2600" dirty="0"/>
          </a:p>
        </p:txBody>
      </p:sp>
      <p:sp>
        <p:nvSpPr>
          <p:cNvPr id="4" name="Text 2"/>
          <p:cNvSpPr/>
          <p:nvPr/>
        </p:nvSpPr>
        <p:spPr>
          <a:xfrm>
            <a:off x="812800" y="1099827"/>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C6B7A"/>
                </a:solidFill>
                <a:latin typeface="Inter" pitchFamily="34" charset="0"/>
                <a:ea typeface="Inter" pitchFamily="34" charset="-122"/>
                <a:cs typeface="Inter" pitchFamily="34" charset="-120"/>
              </a:rPr>
              <a:t>An agent given everything produces noise. An agent given the right context produces a defensible answer.</a:t>
            </a:r>
            <a:endParaRPr lang="en-US" sz="1400" dirty="0"/>
          </a:p>
        </p:txBody>
      </p:sp>
      <p:sp>
        <p:nvSpPr>
          <p:cNvPr id="5" name="Shape 3"/>
          <p:cNvSpPr/>
          <p:nvPr/>
        </p:nvSpPr>
        <p:spPr>
          <a:xfrm>
            <a:off x="812800" y="1475742"/>
            <a:ext cx="1444149" cy="1539557"/>
          </a:xfrm>
          <a:prstGeom prst="roundRect">
            <a:avLst>
              <a:gd name="adj" fmla="val 5276"/>
            </a:avLst>
          </a:prstGeom>
          <a:solidFill>
            <a:srgbClr val="F5F8F9"/>
          </a:solidFill>
          <a:ln/>
        </p:spPr>
      </p:sp>
      <p:sp>
        <p:nvSpPr>
          <p:cNvPr id="6" name="Text 4"/>
          <p:cNvSpPr/>
          <p:nvPr/>
        </p:nvSpPr>
        <p:spPr>
          <a:xfrm>
            <a:off x="927100" y="1602742"/>
            <a:ext cx="126634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897A"/>
                </a:solidFill>
                <a:latin typeface="Space Grotesk" pitchFamily="34" charset="0"/>
                <a:ea typeface="Space Grotesk" pitchFamily="34" charset="-122"/>
                <a:cs typeface="Space Grotesk" pitchFamily="34" charset="-120"/>
              </a:rPr>
              <a:t>1</a:t>
            </a:r>
            <a:endParaRPr lang="en-US" sz="1200" dirty="0"/>
          </a:p>
        </p:txBody>
      </p:sp>
      <p:sp>
        <p:nvSpPr>
          <p:cNvPr id="7" name="Text 5"/>
          <p:cNvSpPr/>
          <p:nvPr/>
        </p:nvSpPr>
        <p:spPr>
          <a:xfrm>
            <a:off x="927100" y="1866900"/>
            <a:ext cx="1266349"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Retrieval</a:t>
            </a:r>
            <a:endParaRPr lang="en-US" sz="1250" dirty="0"/>
          </a:p>
        </p:txBody>
      </p:sp>
      <p:sp>
        <p:nvSpPr>
          <p:cNvPr id="8" name="Text 6"/>
          <p:cNvSpPr/>
          <p:nvPr/>
        </p:nvSpPr>
        <p:spPr>
          <a:xfrm>
            <a:off x="927100" y="2108200"/>
            <a:ext cx="1266349" cy="805497"/>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Candidates from graph, documents and memory</a:t>
            </a:r>
            <a:endParaRPr lang="en-US" sz="1200" dirty="0"/>
          </a:p>
        </p:txBody>
      </p:sp>
      <p:sp>
        <p:nvSpPr>
          <p:cNvPr id="9" name="Shape 7"/>
          <p:cNvSpPr/>
          <p:nvPr/>
        </p:nvSpPr>
        <p:spPr>
          <a:xfrm>
            <a:off x="2333149" y="1475742"/>
            <a:ext cx="1444228" cy="1539557"/>
          </a:xfrm>
          <a:prstGeom prst="roundRect">
            <a:avLst>
              <a:gd name="adj" fmla="val 5276"/>
            </a:avLst>
          </a:prstGeom>
          <a:solidFill>
            <a:srgbClr val="F5F8F9"/>
          </a:solidFill>
          <a:ln/>
        </p:spPr>
      </p:sp>
      <p:sp>
        <p:nvSpPr>
          <p:cNvPr id="10" name="Text 8"/>
          <p:cNvSpPr/>
          <p:nvPr/>
        </p:nvSpPr>
        <p:spPr>
          <a:xfrm>
            <a:off x="2447449" y="1602742"/>
            <a:ext cx="126642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897A"/>
                </a:solidFill>
                <a:latin typeface="Space Grotesk" pitchFamily="34" charset="0"/>
                <a:ea typeface="Space Grotesk" pitchFamily="34" charset="-122"/>
                <a:cs typeface="Space Grotesk" pitchFamily="34" charset="-120"/>
              </a:rPr>
              <a:t>2</a:t>
            </a:r>
            <a:endParaRPr lang="en-US" sz="1200" dirty="0"/>
          </a:p>
        </p:txBody>
      </p:sp>
      <p:sp>
        <p:nvSpPr>
          <p:cNvPr id="11" name="Text 9"/>
          <p:cNvSpPr/>
          <p:nvPr/>
        </p:nvSpPr>
        <p:spPr>
          <a:xfrm>
            <a:off x="2447449" y="1866900"/>
            <a:ext cx="1266428"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Ranking</a:t>
            </a:r>
            <a:endParaRPr lang="en-US" sz="1250" dirty="0"/>
          </a:p>
        </p:txBody>
      </p:sp>
      <p:sp>
        <p:nvSpPr>
          <p:cNvPr id="12" name="Text 10"/>
          <p:cNvSpPr/>
          <p:nvPr/>
        </p:nvSpPr>
        <p:spPr>
          <a:xfrm>
            <a:off x="2447449" y="2108200"/>
            <a:ext cx="1266428" cy="805497"/>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Relevance, recency and business importance</a:t>
            </a:r>
            <a:endParaRPr lang="en-US" sz="1200" dirty="0"/>
          </a:p>
        </p:txBody>
      </p:sp>
      <p:sp>
        <p:nvSpPr>
          <p:cNvPr id="13" name="Shape 11"/>
          <p:cNvSpPr/>
          <p:nvPr/>
        </p:nvSpPr>
        <p:spPr>
          <a:xfrm>
            <a:off x="3853577" y="1475742"/>
            <a:ext cx="1444149" cy="1539557"/>
          </a:xfrm>
          <a:prstGeom prst="roundRect">
            <a:avLst>
              <a:gd name="adj" fmla="val 5276"/>
            </a:avLst>
          </a:prstGeom>
          <a:solidFill>
            <a:srgbClr val="F5F8F9"/>
          </a:solidFill>
          <a:ln/>
        </p:spPr>
      </p:sp>
      <p:sp>
        <p:nvSpPr>
          <p:cNvPr id="14" name="Text 12"/>
          <p:cNvSpPr/>
          <p:nvPr/>
        </p:nvSpPr>
        <p:spPr>
          <a:xfrm>
            <a:off x="3967877" y="1602742"/>
            <a:ext cx="126634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897A"/>
                </a:solidFill>
                <a:latin typeface="Space Grotesk" pitchFamily="34" charset="0"/>
                <a:ea typeface="Space Grotesk" pitchFamily="34" charset="-122"/>
                <a:cs typeface="Space Grotesk" pitchFamily="34" charset="-120"/>
              </a:rPr>
              <a:t>3</a:t>
            </a:r>
            <a:endParaRPr lang="en-US" sz="1200" dirty="0"/>
          </a:p>
        </p:txBody>
      </p:sp>
      <p:sp>
        <p:nvSpPr>
          <p:cNvPr id="15" name="Text 13"/>
          <p:cNvSpPr/>
          <p:nvPr/>
        </p:nvSpPr>
        <p:spPr>
          <a:xfrm>
            <a:off x="3967877" y="1866900"/>
            <a:ext cx="1266349"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Filtering</a:t>
            </a:r>
            <a:endParaRPr lang="en-US" sz="1250" dirty="0"/>
          </a:p>
        </p:txBody>
      </p:sp>
      <p:sp>
        <p:nvSpPr>
          <p:cNvPr id="16" name="Text 14"/>
          <p:cNvSpPr/>
          <p:nvPr/>
        </p:nvSpPr>
        <p:spPr>
          <a:xfrm>
            <a:off x="3967877" y="2108200"/>
            <a:ext cx="1266349" cy="610473"/>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Business rules, entitlements, thresholds</a:t>
            </a:r>
            <a:endParaRPr lang="en-US" sz="1200" dirty="0"/>
          </a:p>
        </p:txBody>
      </p:sp>
      <p:sp>
        <p:nvSpPr>
          <p:cNvPr id="17" name="Shape 15"/>
          <p:cNvSpPr/>
          <p:nvPr/>
        </p:nvSpPr>
        <p:spPr>
          <a:xfrm>
            <a:off x="5373926" y="1475742"/>
            <a:ext cx="1444228" cy="1539557"/>
          </a:xfrm>
          <a:prstGeom prst="roundRect">
            <a:avLst>
              <a:gd name="adj" fmla="val 5276"/>
            </a:avLst>
          </a:prstGeom>
          <a:solidFill>
            <a:srgbClr val="F5F8F9"/>
          </a:solidFill>
          <a:ln/>
        </p:spPr>
      </p:sp>
      <p:sp>
        <p:nvSpPr>
          <p:cNvPr id="18" name="Text 16"/>
          <p:cNvSpPr/>
          <p:nvPr/>
        </p:nvSpPr>
        <p:spPr>
          <a:xfrm>
            <a:off x="5488226" y="1602742"/>
            <a:ext cx="126642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897A"/>
                </a:solidFill>
                <a:latin typeface="Space Grotesk" pitchFamily="34" charset="0"/>
                <a:ea typeface="Space Grotesk" pitchFamily="34" charset="-122"/>
                <a:cs typeface="Space Grotesk" pitchFamily="34" charset="-120"/>
              </a:rPr>
              <a:t>4</a:t>
            </a:r>
            <a:endParaRPr lang="en-US" sz="1200" dirty="0"/>
          </a:p>
        </p:txBody>
      </p:sp>
      <p:sp>
        <p:nvSpPr>
          <p:cNvPr id="19" name="Text 17"/>
          <p:cNvSpPr/>
          <p:nvPr/>
        </p:nvSpPr>
        <p:spPr>
          <a:xfrm>
            <a:off x="5488226" y="1866900"/>
            <a:ext cx="1266428"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Pruning</a:t>
            </a:r>
            <a:endParaRPr lang="en-US" sz="1250" dirty="0"/>
          </a:p>
        </p:txBody>
      </p:sp>
      <p:sp>
        <p:nvSpPr>
          <p:cNvPr id="20" name="Text 18"/>
          <p:cNvSpPr/>
          <p:nvPr/>
        </p:nvSpPr>
        <p:spPr>
          <a:xfrm>
            <a:off x="5488226" y="2108200"/>
            <a:ext cx="1266428" cy="805497"/>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Redundant and superseded content removed</a:t>
            </a:r>
            <a:endParaRPr lang="en-US" sz="1200" dirty="0"/>
          </a:p>
        </p:txBody>
      </p:sp>
      <p:sp>
        <p:nvSpPr>
          <p:cNvPr id="21" name="Shape 19"/>
          <p:cNvSpPr/>
          <p:nvPr/>
        </p:nvSpPr>
        <p:spPr>
          <a:xfrm>
            <a:off x="6894354" y="1475742"/>
            <a:ext cx="1444149" cy="1539557"/>
          </a:xfrm>
          <a:prstGeom prst="roundRect">
            <a:avLst>
              <a:gd name="adj" fmla="val 5276"/>
            </a:avLst>
          </a:prstGeom>
          <a:solidFill>
            <a:srgbClr val="F5F8F9"/>
          </a:solidFill>
          <a:ln/>
        </p:spPr>
      </p:sp>
      <p:sp>
        <p:nvSpPr>
          <p:cNvPr id="22" name="Text 20"/>
          <p:cNvSpPr/>
          <p:nvPr/>
        </p:nvSpPr>
        <p:spPr>
          <a:xfrm>
            <a:off x="7008654" y="1602742"/>
            <a:ext cx="126634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897A"/>
                </a:solidFill>
                <a:latin typeface="Space Grotesk" pitchFamily="34" charset="0"/>
                <a:ea typeface="Space Grotesk" pitchFamily="34" charset="-122"/>
                <a:cs typeface="Space Grotesk" pitchFamily="34" charset="-120"/>
              </a:rPr>
              <a:t>5</a:t>
            </a:r>
            <a:endParaRPr lang="en-US" sz="1200" dirty="0"/>
          </a:p>
        </p:txBody>
      </p:sp>
      <p:sp>
        <p:nvSpPr>
          <p:cNvPr id="23" name="Text 21"/>
          <p:cNvSpPr/>
          <p:nvPr/>
        </p:nvSpPr>
        <p:spPr>
          <a:xfrm>
            <a:off x="7008654" y="1866900"/>
            <a:ext cx="1266349"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Compression</a:t>
            </a:r>
            <a:endParaRPr lang="en-US" sz="1250" dirty="0"/>
          </a:p>
        </p:txBody>
      </p:sp>
      <p:sp>
        <p:nvSpPr>
          <p:cNvPr id="24" name="Text 22"/>
          <p:cNvSpPr/>
          <p:nvPr/>
        </p:nvSpPr>
        <p:spPr>
          <a:xfrm>
            <a:off x="7008654" y="2108200"/>
            <a:ext cx="1266349" cy="610473"/>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Long content into high-signal form</a:t>
            </a:r>
            <a:endParaRPr lang="en-US" sz="1200" dirty="0"/>
          </a:p>
        </p:txBody>
      </p:sp>
      <p:sp>
        <p:nvSpPr>
          <p:cNvPr id="25" name="Shape 23"/>
          <p:cNvSpPr/>
          <p:nvPr/>
        </p:nvSpPr>
        <p:spPr>
          <a:xfrm>
            <a:off x="8414703" y="1475742"/>
            <a:ext cx="1444149" cy="1539557"/>
          </a:xfrm>
          <a:prstGeom prst="roundRect">
            <a:avLst>
              <a:gd name="adj" fmla="val 5276"/>
            </a:avLst>
          </a:prstGeom>
          <a:solidFill>
            <a:srgbClr val="F5F8F9"/>
          </a:solidFill>
          <a:ln/>
        </p:spPr>
      </p:sp>
      <p:sp>
        <p:nvSpPr>
          <p:cNvPr id="26" name="Text 24"/>
          <p:cNvSpPr/>
          <p:nvPr/>
        </p:nvSpPr>
        <p:spPr>
          <a:xfrm>
            <a:off x="8529003" y="1602742"/>
            <a:ext cx="126634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897A"/>
                </a:solidFill>
                <a:latin typeface="Space Grotesk" pitchFamily="34" charset="0"/>
                <a:ea typeface="Space Grotesk" pitchFamily="34" charset="-122"/>
                <a:cs typeface="Space Grotesk" pitchFamily="34" charset="-120"/>
              </a:rPr>
              <a:t>6</a:t>
            </a:r>
            <a:endParaRPr lang="en-US" sz="1200" dirty="0"/>
          </a:p>
        </p:txBody>
      </p:sp>
      <p:sp>
        <p:nvSpPr>
          <p:cNvPr id="27" name="Text 25"/>
          <p:cNvSpPr/>
          <p:nvPr/>
        </p:nvSpPr>
        <p:spPr>
          <a:xfrm>
            <a:off x="8529003" y="1866900"/>
            <a:ext cx="1266349"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0B1622"/>
                </a:solidFill>
                <a:latin typeface="Space Grotesk" pitchFamily="34" charset="0"/>
                <a:ea typeface="Space Grotesk" pitchFamily="34" charset="-122"/>
                <a:cs typeface="Space Grotesk" pitchFamily="34" charset="-120"/>
              </a:rPr>
              <a:t>Assembly</a:t>
            </a:r>
            <a:endParaRPr lang="en-US" sz="1250" dirty="0"/>
          </a:p>
        </p:txBody>
      </p:sp>
      <p:sp>
        <p:nvSpPr>
          <p:cNvPr id="28" name="Text 26"/>
          <p:cNvSpPr/>
          <p:nvPr/>
        </p:nvSpPr>
        <p:spPr>
          <a:xfrm>
            <a:off x="8529003" y="2108200"/>
            <a:ext cx="1266349" cy="610473"/>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5C6B7A"/>
                </a:solidFill>
                <a:latin typeface="Inter" pitchFamily="34" charset="0"/>
                <a:ea typeface="Inter" pitchFamily="34" charset="-122"/>
                <a:cs typeface="Inter" pitchFamily="34" charset="-120"/>
              </a:rPr>
              <a:t>Final package with structure and metadata</a:t>
            </a:r>
            <a:endParaRPr lang="en-US" sz="1200" dirty="0"/>
          </a:p>
        </p:txBody>
      </p:sp>
      <p:sp>
        <p:nvSpPr>
          <p:cNvPr id="29" name="Shape 27"/>
          <p:cNvSpPr/>
          <p:nvPr/>
        </p:nvSpPr>
        <p:spPr>
          <a:xfrm>
            <a:off x="9935052" y="1475742"/>
            <a:ext cx="1444149" cy="1539557"/>
          </a:xfrm>
          <a:prstGeom prst="roundRect">
            <a:avLst>
              <a:gd name="adj" fmla="val 5276"/>
            </a:avLst>
          </a:prstGeom>
          <a:solidFill>
            <a:srgbClr val="0B1622"/>
          </a:solidFill>
          <a:ln/>
        </p:spPr>
      </p:sp>
      <p:sp>
        <p:nvSpPr>
          <p:cNvPr id="30" name="Text 28"/>
          <p:cNvSpPr/>
          <p:nvPr/>
        </p:nvSpPr>
        <p:spPr>
          <a:xfrm>
            <a:off x="10049352" y="1602742"/>
            <a:ext cx="126634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C0"/>
                </a:solidFill>
                <a:latin typeface="Space Grotesk" pitchFamily="34" charset="0"/>
                <a:ea typeface="Space Grotesk" pitchFamily="34" charset="-122"/>
                <a:cs typeface="Space Grotesk" pitchFamily="34" charset="-120"/>
              </a:rPr>
              <a:t>7</a:t>
            </a:r>
            <a:endParaRPr lang="en-US" sz="1200" dirty="0"/>
          </a:p>
        </p:txBody>
      </p:sp>
      <p:sp>
        <p:nvSpPr>
          <p:cNvPr id="31" name="Text 29"/>
          <p:cNvSpPr/>
          <p:nvPr/>
        </p:nvSpPr>
        <p:spPr>
          <a:xfrm>
            <a:off x="10049352" y="1866900"/>
            <a:ext cx="1266349"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FFFFFF"/>
                </a:solidFill>
                <a:latin typeface="Space Grotesk" pitchFamily="34" charset="0"/>
                <a:ea typeface="Space Grotesk" pitchFamily="34" charset="-122"/>
                <a:cs typeface="Space Grotesk" pitchFamily="34" charset="-120"/>
              </a:rPr>
              <a:t>Citation</a:t>
            </a:r>
            <a:endParaRPr lang="en-US" sz="1250" dirty="0"/>
          </a:p>
        </p:txBody>
      </p:sp>
      <p:sp>
        <p:nvSpPr>
          <p:cNvPr id="32" name="Text 30"/>
          <p:cNvSpPr/>
          <p:nvPr/>
        </p:nvSpPr>
        <p:spPr>
          <a:xfrm>
            <a:off x="10049352" y="2108200"/>
            <a:ext cx="1266349" cy="610473"/>
          </a:xfrm>
          <a:prstGeom prst="rect">
            <a:avLst/>
          </a:prstGeom>
          <a:noFill/>
          <a:ln/>
        </p:spPr>
        <p:txBody>
          <a:bodyPr wrap="square" lIns="0" tIns="0" rIns="0" bIns="0" rtlCol="0" anchor="t">
            <a:normAutofit/>
          </a:bodyPr>
          <a:lstStyle/>
          <a:p>
            <a:pPr algn="l" indent="0" marL="0">
              <a:lnSpc>
                <a:spcPts val="1536"/>
              </a:lnSpc>
              <a:buNone/>
            </a:pPr>
            <a:r>
              <a:rPr lang="en-US" sz="1200" dirty="0">
                <a:solidFill>
                  <a:srgbClr val="CFE3DC"/>
                </a:solidFill>
                <a:latin typeface="Inter" pitchFamily="34" charset="0"/>
                <a:ea typeface="Inter" pitchFamily="34" charset="-122"/>
                <a:cs typeface="Inter" pitchFamily="34" charset="-120"/>
              </a:rPr>
              <a:t>Every fact carries its source</a:t>
            </a:r>
            <a:endParaRPr lang="en-US" sz="1200" dirty="0"/>
          </a:p>
        </p:txBody>
      </p:sp>
      <p:sp>
        <p:nvSpPr>
          <p:cNvPr id="33" name="Shape 31"/>
          <p:cNvSpPr/>
          <p:nvPr/>
        </p:nvSpPr>
        <p:spPr>
          <a:xfrm>
            <a:off x="812800" y="3142295"/>
            <a:ext cx="5219700" cy="1554321"/>
          </a:xfrm>
          <a:prstGeom prst="roundRect">
            <a:avLst>
              <a:gd name="adj" fmla="val 5720"/>
            </a:avLst>
          </a:prstGeom>
          <a:solidFill>
            <a:srgbClr val="F5F8F9"/>
          </a:solidFill>
          <a:ln/>
        </p:spPr>
      </p:sp>
      <p:sp>
        <p:nvSpPr>
          <p:cNvPr id="34" name="Shape 32"/>
          <p:cNvSpPr/>
          <p:nvPr/>
        </p:nvSpPr>
        <p:spPr>
          <a:xfrm>
            <a:off x="812800" y="3142295"/>
            <a:ext cx="5219700" cy="1554321"/>
          </a:xfrm>
          <a:custGeom>
            <a:avLst/>
            <a:gdLst/>
            <a:ahLst/>
            <a:cxnLst/>
            <a:rect l="l" t="t" r="r" b="b"/>
            <a:pathLst>
              <a:path w="5219700" h="1554321">
                <a:moveTo>
                  <a:pt x="88900" y="1554321"/>
                </a:moveTo>
                <a:lnTo>
                  <a:pt x="88900" y="1554321"/>
                </a:lnTo>
                <a:arcTo hR="88900" wR="88900" stAng="5400000" swAng="5400000"/>
                <a:lnTo>
                  <a:pt x="0" y="88900"/>
                </a:lnTo>
                <a:arcTo hR="88900" wR="88900" stAng="10800000" swAng="5400000"/>
                <a:lnTo>
                  <a:pt x="88900" y="0"/>
                </a:lnTo>
                <a:arcTo hR="88900" wR="57150" stAng="16200000" swAng="-5400000"/>
                <a:lnTo>
                  <a:pt x="31750" y="1465421"/>
                </a:lnTo>
                <a:arcTo hR="88900" wR="57150" stAng="10800000" swAng="-5400000"/>
                <a:close/>
              </a:path>
            </a:pathLst>
          </a:custGeom>
          <a:solidFill>
            <a:srgbClr val="10897A"/>
          </a:solidFill>
          <a:ln/>
        </p:spPr>
      </p:sp>
      <p:sp>
        <p:nvSpPr>
          <p:cNvPr id="35" name="Text 33"/>
          <p:cNvSpPr/>
          <p:nvPr/>
        </p:nvSpPr>
        <p:spPr>
          <a:xfrm>
            <a:off x="1008380" y="3281995"/>
            <a:ext cx="5004791"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Context sources</a:t>
            </a:r>
            <a:endParaRPr lang="en-US" sz="1350" dirty="0"/>
          </a:p>
        </p:txBody>
      </p:sp>
      <p:sp>
        <p:nvSpPr>
          <p:cNvPr id="36" name="Text 34"/>
          <p:cNvSpPr/>
          <p:nvPr/>
        </p:nvSpPr>
        <p:spPr>
          <a:xfrm>
            <a:off x="1008380" y="3551238"/>
            <a:ext cx="5004791" cy="1031081"/>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The knowledge graph — entities, relationships, as-of state</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Plan documents and policies, via governed retrieval</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Conversation and agent memory</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Advisor and household history · computed insights and outcomes</a:t>
            </a:r>
            <a:endParaRPr lang="en-US" sz="1200" dirty="0"/>
          </a:p>
        </p:txBody>
      </p:sp>
      <p:sp>
        <p:nvSpPr>
          <p:cNvPr id="37" name="Shape 35"/>
          <p:cNvSpPr/>
          <p:nvPr/>
        </p:nvSpPr>
        <p:spPr>
          <a:xfrm>
            <a:off x="6159500" y="3142295"/>
            <a:ext cx="5219700" cy="1554321"/>
          </a:xfrm>
          <a:prstGeom prst="roundRect">
            <a:avLst>
              <a:gd name="adj" fmla="val 5720"/>
            </a:avLst>
          </a:prstGeom>
          <a:solidFill>
            <a:srgbClr val="F5F8F9"/>
          </a:solidFill>
          <a:ln/>
        </p:spPr>
      </p:sp>
      <p:sp>
        <p:nvSpPr>
          <p:cNvPr id="38" name="Shape 36"/>
          <p:cNvSpPr/>
          <p:nvPr/>
        </p:nvSpPr>
        <p:spPr>
          <a:xfrm>
            <a:off x="6159500" y="3142295"/>
            <a:ext cx="5219700" cy="1554321"/>
          </a:xfrm>
          <a:custGeom>
            <a:avLst/>
            <a:gdLst/>
            <a:ahLst/>
            <a:cxnLst/>
            <a:rect l="l" t="t" r="r" b="b"/>
            <a:pathLst>
              <a:path w="5219700" h="1554321">
                <a:moveTo>
                  <a:pt x="88900" y="1554321"/>
                </a:moveTo>
                <a:lnTo>
                  <a:pt x="88900" y="1554321"/>
                </a:lnTo>
                <a:arcTo hR="88900" wR="88900" stAng="5400000" swAng="5400000"/>
                <a:lnTo>
                  <a:pt x="0" y="88900"/>
                </a:lnTo>
                <a:arcTo hR="88900" wR="88900" stAng="10800000" swAng="5400000"/>
                <a:lnTo>
                  <a:pt x="88900" y="0"/>
                </a:lnTo>
                <a:arcTo hR="88900" wR="57150" stAng="16200000" swAng="-5400000"/>
                <a:lnTo>
                  <a:pt x="31750" y="1465421"/>
                </a:lnTo>
                <a:arcTo hR="88900" wR="57150" stAng="10800000" swAng="-5400000"/>
                <a:close/>
              </a:path>
            </a:pathLst>
          </a:custGeom>
          <a:solidFill>
            <a:srgbClr val="D98324"/>
          </a:solidFill>
          <a:ln/>
        </p:spPr>
      </p:sp>
      <p:sp>
        <p:nvSpPr>
          <p:cNvPr id="39" name="Text 37"/>
          <p:cNvSpPr/>
          <p:nvPr/>
        </p:nvSpPr>
        <p:spPr>
          <a:xfrm>
            <a:off x="6355080" y="3281995"/>
            <a:ext cx="5004791"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Why it also controls cost</a:t>
            </a:r>
            <a:endParaRPr lang="en-US" sz="1350" dirty="0"/>
          </a:p>
        </p:txBody>
      </p:sp>
      <p:sp>
        <p:nvSpPr>
          <p:cNvPr id="40" name="Text 38"/>
          <p:cNvSpPr/>
          <p:nvPr/>
        </p:nvSpPr>
        <p:spPr>
          <a:xfrm>
            <a:off x="6355080" y="3551238"/>
            <a:ext cx="5004791" cy="829945"/>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Ranking, filtering, pruning and compression run </a:t>
            </a:r>
            <a:r>
              <a:rPr lang="en-US" sz="1200" b="1" dirty="0">
                <a:solidFill>
                  <a:srgbClr val="5C6B7A"/>
                </a:solidFill>
                <a:latin typeface="Inter" pitchFamily="34" charset="0"/>
                <a:ea typeface="Inter" pitchFamily="34" charset="-122"/>
                <a:cs typeface="Inter" pitchFamily="34" charset="-120"/>
              </a:rPr>
              <a:t>before</a:t>
            </a:r>
            <a:r>
              <a:rPr lang="en-US" sz="1200" dirty="0">
                <a:solidFill>
                  <a:srgbClr val="5C6B7A"/>
                </a:solidFill>
                <a:latin typeface="Inter" pitchFamily="34" charset="0"/>
                <a:ea typeface="Inter" pitchFamily="34" charset="-122"/>
                <a:cs typeface="Inter" pitchFamily="34" charset="-120"/>
              </a:rPr>
              <a:t> the model call</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The model sees a fraction of the candidate context</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Quality and cost improve together, not in tension</a:t>
            </a:r>
            <a:endParaRPr lang="en-US" sz="1200" dirty="0"/>
          </a:p>
        </p:txBody>
      </p:sp>
      <p:sp>
        <p:nvSpPr>
          <p:cNvPr id="41" name="Text 39"/>
          <p:cNvSpPr/>
          <p:nvPr/>
        </p:nvSpPr>
        <p:spPr>
          <a:xfrm>
            <a:off x="812800" y="6271258"/>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897A"/>
                </a:solidFill>
                <a:latin typeface="Space Grotesk" pitchFamily="34" charset="0"/>
                <a:ea typeface="Space Grotesk" pitchFamily="34" charset="-122"/>
                <a:cs typeface="Space Grotesk" pitchFamily="34" charset="-120"/>
              </a:rPr>
              <a:t>Every claim an agent makes traces to a passage or a query result. Nothing is generated from memory alone.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812800" y="746758"/>
            <a:ext cx="90900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B99A6"/>
                </a:solidFill>
                <a:latin typeface="Space Grotesk" pitchFamily="34" charset="0"/>
                <a:ea typeface="Space Grotesk" pitchFamily="34" charset="-122"/>
                <a:cs typeface="Space Grotesk" pitchFamily="34" charset="-120"/>
              </a:rPr>
              <a:t>APPENDIX</a:t>
            </a:r>
            <a:endParaRPr lang="en-US" sz="1200" dirty="0"/>
          </a:p>
        </p:txBody>
      </p:sp>
      <p:sp>
        <p:nvSpPr>
          <p:cNvPr id="3" name="Text 1"/>
          <p:cNvSpPr/>
          <p:nvPr/>
        </p:nvSpPr>
        <p:spPr>
          <a:xfrm>
            <a:off x="1810702" y="609600"/>
            <a:ext cx="3519525"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B1622"/>
                </a:solidFill>
                <a:latin typeface="Space Grotesk" pitchFamily="34" charset="0"/>
                <a:ea typeface="Space Grotesk" pitchFamily="34" charset="-122"/>
                <a:cs typeface="Space Grotesk" pitchFamily="34" charset="-120"/>
              </a:rPr>
              <a:t>Trust and verification</a:t>
            </a:r>
            <a:endParaRPr lang="en-US" sz="2600" dirty="0"/>
          </a:p>
        </p:txBody>
      </p:sp>
      <p:sp>
        <p:nvSpPr>
          <p:cNvPr id="4" name="Text 2"/>
          <p:cNvSpPr/>
          <p:nvPr/>
        </p:nvSpPr>
        <p:spPr>
          <a:xfrm>
            <a:off x="812800" y="1099827"/>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B1622"/>
                </a:solidFill>
                <a:latin typeface="Instrument Serif" pitchFamily="34" charset="0"/>
                <a:ea typeface="Instrument Serif" pitchFamily="34" charset="-122"/>
                <a:cs typeface="Instrument Serif" pitchFamily="34" charset="-120"/>
              </a:rPr>
              <a:t>A missing answer is acceptable. A confident wrong number is not.</a:t>
            </a:r>
            <a:endParaRPr lang="en-US" sz="2000" dirty="0"/>
          </a:p>
        </p:txBody>
      </p:sp>
      <p:sp>
        <p:nvSpPr>
          <p:cNvPr id="5" name="Shape 3"/>
          <p:cNvSpPr/>
          <p:nvPr/>
        </p:nvSpPr>
        <p:spPr>
          <a:xfrm>
            <a:off x="815975" y="1585602"/>
            <a:ext cx="5213350" cy="2006124"/>
          </a:xfrm>
          <a:prstGeom prst="roundRect">
            <a:avLst>
              <a:gd name="adj" fmla="val 4273"/>
            </a:avLst>
          </a:prstGeom>
          <a:solidFill>
            <a:srgbClr val="FFFFFF"/>
          </a:solidFill>
          <a:ln w="6350">
            <a:solidFill>
              <a:srgbClr val="DFE6EA"/>
            </a:solidFill>
            <a:prstDash val="solid"/>
          </a:ln>
        </p:spPr>
      </p:sp>
      <p:sp>
        <p:nvSpPr>
          <p:cNvPr id="6" name="Text 4"/>
          <p:cNvSpPr/>
          <p:nvPr/>
        </p:nvSpPr>
        <p:spPr>
          <a:xfrm>
            <a:off x="982980" y="1739900"/>
            <a:ext cx="502572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Before the agent answers</a:t>
            </a:r>
            <a:endParaRPr lang="en-US" sz="1400" dirty="0"/>
          </a:p>
        </p:txBody>
      </p:sp>
      <p:sp>
        <p:nvSpPr>
          <p:cNvPr id="7" name="Text 5"/>
          <p:cNvSpPr/>
          <p:nvPr/>
        </p:nvSpPr>
        <p:spPr>
          <a:xfrm>
            <a:off x="982980" y="2029458"/>
            <a:ext cx="50257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A"/>
                </a:solidFill>
                <a:latin typeface="Inter" pitchFamily="34" charset="0"/>
                <a:ea typeface="Inter" pitchFamily="34" charset="-122"/>
                <a:cs typeface="Inter" pitchFamily="34" charset="-120"/>
              </a:rPr>
              <a:t>Every message classified, then admitted or blocked</a:t>
            </a:r>
            <a:endParaRPr lang="en-US" sz="1200" dirty="0"/>
          </a:p>
        </p:txBody>
      </p:sp>
      <p:sp>
        <p:nvSpPr>
          <p:cNvPr id="8" name="Text 6"/>
          <p:cNvSpPr/>
          <p:nvPr/>
        </p:nvSpPr>
        <p:spPr>
          <a:xfrm>
            <a:off x="982980" y="2319027"/>
            <a:ext cx="592058" cy="314960"/>
          </a:xfrm>
          <a:prstGeom prst="roundRect">
            <a:avLst>
              <a:gd name="adj" fmla="val 16129"/>
            </a:avLst>
          </a:prstGeom>
          <a:solidFill>
            <a:srgbClr val="E4F1EE"/>
          </a:solidFill>
          <a:ln/>
        </p:spPr>
        <p:txBody>
          <a:bodyPr wrap="none" lIns="0" tIns="0" rIns="0" bIns="0" rtlCol="0" anchor="ctr">
            <a:normAutofit/>
          </a:bodyPr>
          <a:lstStyle/>
          <a:p>
            <a:pPr algn="ctr" indent="0" marL="0">
              <a:lnSpc>
                <a:spcPts val="1680"/>
              </a:lnSpc>
              <a:buNone/>
            </a:pPr>
            <a:r>
              <a:rPr lang="en-US" sz="1200" dirty="0">
                <a:solidFill>
                  <a:srgbClr val="0B4F46"/>
                </a:solidFill>
                <a:latin typeface="Inter" pitchFamily="34" charset="0"/>
                <a:ea typeface="Inter" pitchFamily="34" charset="-122"/>
                <a:cs typeface="Inter" pitchFamily="34" charset="-120"/>
              </a:rPr>
              <a:t>Clean</a:t>
            </a:r>
            <a:endParaRPr lang="en-US" sz="1200" dirty="0"/>
          </a:p>
        </p:txBody>
      </p:sp>
      <p:sp>
        <p:nvSpPr>
          <p:cNvPr id="9" name="Text 7"/>
          <p:cNvSpPr/>
          <p:nvPr/>
        </p:nvSpPr>
        <p:spPr>
          <a:xfrm>
            <a:off x="1625838" y="2319027"/>
            <a:ext cx="1348899" cy="314960"/>
          </a:xfrm>
          <a:prstGeom prst="roundRect">
            <a:avLst>
              <a:gd name="adj" fmla="val 16129"/>
            </a:avLst>
          </a:prstGeom>
          <a:solidFill>
            <a:srgbClr val="FBEAE7"/>
          </a:solidFill>
          <a:ln/>
        </p:spPr>
        <p:txBody>
          <a:bodyPr wrap="none" lIns="0" tIns="0" rIns="0" bIns="0" rtlCol="0" anchor="ctr">
            <a:normAutofit/>
          </a:bodyPr>
          <a:lstStyle/>
          <a:p>
            <a:pPr algn="ctr" indent="0" marL="0">
              <a:lnSpc>
                <a:spcPts val="1680"/>
              </a:lnSpc>
              <a:buNone/>
            </a:pPr>
            <a:r>
              <a:rPr lang="en-US" sz="1200" dirty="0">
                <a:solidFill>
                  <a:srgbClr val="8C2E22"/>
                </a:solidFill>
                <a:latin typeface="Inter" pitchFamily="34" charset="0"/>
                <a:ea typeface="Inter" pitchFamily="34" charset="-122"/>
                <a:cs typeface="Inter" pitchFamily="34" charset="-120"/>
              </a:rPr>
              <a:t>Prompt injection</a:t>
            </a:r>
            <a:endParaRPr lang="en-US" sz="1200" dirty="0"/>
          </a:p>
        </p:txBody>
      </p:sp>
      <p:sp>
        <p:nvSpPr>
          <p:cNvPr id="10" name="Text 8"/>
          <p:cNvSpPr/>
          <p:nvPr/>
        </p:nvSpPr>
        <p:spPr>
          <a:xfrm>
            <a:off x="3025537" y="2319027"/>
            <a:ext cx="831929" cy="314960"/>
          </a:xfrm>
          <a:prstGeom prst="roundRect">
            <a:avLst>
              <a:gd name="adj" fmla="val 16129"/>
            </a:avLst>
          </a:prstGeom>
          <a:solidFill>
            <a:srgbClr val="FBEAE7"/>
          </a:solidFill>
          <a:ln/>
        </p:spPr>
        <p:txBody>
          <a:bodyPr wrap="none" lIns="0" tIns="0" rIns="0" bIns="0" rtlCol="0" anchor="ctr">
            <a:normAutofit/>
          </a:bodyPr>
          <a:lstStyle/>
          <a:p>
            <a:pPr algn="ctr" indent="0" marL="0">
              <a:lnSpc>
                <a:spcPts val="1680"/>
              </a:lnSpc>
              <a:buNone/>
            </a:pPr>
            <a:r>
              <a:rPr lang="en-US" sz="1200" dirty="0">
                <a:solidFill>
                  <a:srgbClr val="8C2E22"/>
                </a:solidFill>
                <a:latin typeface="Inter" pitchFamily="34" charset="0"/>
                <a:ea typeface="Inter" pitchFamily="34" charset="-122"/>
                <a:cs typeface="Inter" pitchFamily="34" charset="-120"/>
              </a:rPr>
              <a:t>Jailbreak</a:t>
            </a:r>
            <a:endParaRPr lang="en-US" sz="1200" dirty="0"/>
          </a:p>
        </p:txBody>
      </p:sp>
      <p:sp>
        <p:nvSpPr>
          <p:cNvPr id="11" name="Text 9"/>
          <p:cNvSpPr/>
          <p:nvPr/>
        </p:nvSpPr>
        <p:spPr>
          <a:xfrm>
            <a:off x="3908266" y="2319027"/>
            <a:ext cx="1269603" cy="314960"/>
          </a:xfrm>
          <a:prstGeom prst="roundRect">
            <a:avLst>
              <a:gd name="adj" fmla="val 16129"/>
            </a:avLst>
          </a:prstGeom>
          <a:solidFill>
            <a:srgbClr val="FBEAE7"/>
          </a:solidFill>
          <a:ln/>
        </p:spPr>
        <p:txBody>
          <a:bodyPr wrap="none" lIns="0" tIns="0" rIns="0" bIns="0" rtlCol="0" anchor="ctr">
            <a:normAutofit/>
          </a:bodyPr>
          <a:lstStyle/>
          <a:p>
            <a:pPr algn="ctr" indent="0" marL="0">
              <a:lnSpc>
                <a:spcPts val="1680"/>
              </a:lnSpc>
              <a:buNone/>
            </a:pPr>
            <a:r>
              <a:rPr lang="en-US" sz="1200" dirty="0">
                <a:solidFill>
                  <a:srgbClr val="8C2E22"/>
                </a:solidFill>
                <a:latin typeface="Inter" pitchFamily="34" charset="0"/>
                <a:ea typeface="Inter" pitchFamily="34" charset="-122"/>
                <a:cs typeface="Inter" pitchFamily="34" charset="-120"/>
              </a:rPr>
              <a:t>Query injection</a:t>
            </a:r>
            <a:endParaRPr lang="en-US" sz="1200" dirty="0"/>
          </a:p>
        </p:txBody>
      </p:sp>
      <p:sp>
        <p:nvSpPr>
          <p:cNvPr id="12" name="Text 10"/>
          <p:cNvSpPr/>
          <p:nvPr/>
        </p:nvSpPr>
        <p:spPr>
          <a:xfrm>
            <a:off x="982980" y="2684785"/>
            <a:ext cx="1512570" cy="314960"/>
          </a:xfrm>
          <a:prstGeom prst="roundRect">
            <a:avLst>
              <a:gd name="adj" fmla="val 16129"/>
            </a:avLst>
          </a:prstGeom>
          <a:solidFill>
            <a:srgbClr val="FBEAE7"/>
          </a:solidFill>
          <a:ln/>
        </p:spPr>
        <p:txBody>
          <a:bodyPr wrap="none" lIns="0" tIns="0" rIns="0" bIns="0" rtlCol="0" anchor="ctr">
            <a:normAutofit/>
          </a:bodyPr>
          <a:lstStyle/>
          <a:p>
            <a:pPr algn="ctr" indent="0" marL="0">
              <a:lnSpc>
                <a:spcPts val="1680"/>
              </a:lnSpc>
              <a:buNone/>
            </a:pPr>
            <a:r>
              <a:rPr lang="en-US" sz="1200" dirty="0">
                <a:solidFill>
                  <a:srgbClr val="8C2E22"/>
                </a:solidFill>
                <a:latin typeface="Inter" pitchFamily="34" charset="0"/>
                <a:ea typeface="Inter" pitchFamily="34" charset="-122"/>
                <a:cs typeface="Inter" pitchFamily="34" charset="-120"/>
              </a:rPr>
              <a:t>Social engineering</a:t>
            </a:r>
            <a:endParaRPr lang="en-US" sz="1200" dirty="0"/>
          </a:p>
        </p:txBody>
      </p:sp>
      <p:sp>
        <p:nvSpPr>
          <p:cNvPr id="13" name="Text 11"/>
          <p:cNvSpPr/>
          <p:nvPr/>
        </p:nvSpPr>
        <p:spPr>
          <a:xfrm>
            <a:off x="2546350" y="2684785"/>
            <a:ext cx="1317466" cy="314960"/>
          </a:xfrm>
          <a:prstGeom prst="roundRect">
            <a:avLst>
              <a:gd name="adj" fmla="val 16129"/>
            </a:avLst>
          </a:prstGeom>
          <a:solidFill>
            <a:srgbClr val="FBEAE7"/>
          </a:solidFill>
          <a:ln/>
        </p:spPr>
        <p:txBody>
          <a:bodyPr wrap="none" lIns="0" tIns="0" rIns="0" bIns="0" rtlCol="0" anchor="ctr">
            <a:normAutofit/>
          </a:bodyPr>
          <a:lstStyle/>
          <a:p>
            <a:pPr algn="ctr" indent="0" marL="0">
              <a:lnSpc>
                <a:spcPts val="1680"/>
              </a:lnSpc>
              <a:buNone/>
            </a:pPr>
            <a:r>
              <a:rPr lang="en-US" sz="1200" dirty="0">
                <a:solidFill>
                  <a:srgbClr val="8C2E22"/>
                </a:solidFill>
                <a:latin typeface="Inter" pitchFamily="34" charset="0"/>
                <a:ea typeface="Inter" pitchFamily="34" charset="-122"/>
                <a:cs typeface="Inter" pitchFamily="34" charset="-120"/>
              </a:rPr>
              <a:t>Data exfiltration</a:t>
            </a:r>
            <a:endParaRPr lang="en-US" sz="1200" dirty="0"/>
          </a:p>
        </p:txBody>
      </p:sp>
      <p:sp>
        <p:nvSpPr>
          <p:cNvPr id="14" name="Text 12"/>
          <p:cNvSpPr/>
          <p:nvPr/>
        </p:nvSpPr>
        <p:spPr>
          <a:xfrm>
            <a:off x="3914616" y="2684785"/>
            <a:ext cx="801132" cy="314960"/>
          </a:xfrm>
          <a:prstGeom prst="roundRect">
            <a:avLst>
              <a:gd name="adj" fmla="val 16129"/>
            </a:avLst>
          </a:prstGeom>
          <a:solidFill>
            <a:srgbClr val="FBEAE7"/>
          </a:solidFill>
          <a:ln/>
        </p:spPr>
        <p:txBody>
          <a:bodyPr wrap="none" lIns="0" tIns="0" rIns="0" bIns="0" rtlCol="0" anchor="ctr">
            <a:normAutofit/>
          </a:bodyPr>
          <a:lstStyle/>
          <a:p>
            <a:pPr algn="ctr" indent="0" marL="0">
              <a:lnSpc>
                <a:spcPts val="1680"/>
              </a:lnSpc>
              <a:buNone/>
            </a:pPr>
            <a:r>
              <a:rPr lang="en-US" sz="1200" dirty="0">
                <a:solidFill>
                  <a:srgbClr val="8C2E22"/>
                </a:solidFill>
                <a:latin typeface="Inter" pitchFamily="34" charset="0"/>
                <a:ea typeface="Inter" pitchFamily="34" charset="-122"/>
                <a:cs typeface="Inter" pitchFamily="34" charset="-120"/>
              </a:rPr>
              <a:t>Off topic</a:t>
            </a:r>
            <a:endParaRPr lang="en-US" sz="1200" dirty="0"/>
          </a:p>
        </p:txBody>
      </p:sp>
      <p:sp>
        <p:nvSpPr>
          <p:cNvPr id="15" name="Text 13"/>
          <p:cNvSpPr/>
          <p:nvPr/>
        </p:nvSpPr>
        <p:spPr>
          <a:xfrm>
            <a:off x="982980" y="3075942"/>
            <a:ext cx="502572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A"/>
                </a:solidFill>
                <a:latin typeface="Inter" pitchFamily="34" charset="0"/>
                <a:ea typeface="Inter" pitchFamily="34" charset="-122"/>
                <a:cs typeface="Inter" pitchFamily="34" charset="-120"/>
              </a:rPr>
              <a:t>Fails closed — doubt blocks rather than admits.</a:t>
            </a:r>
            <a:endParaRPr lang="en-US" sz="1200" dirty="0"/>
          </a:p>
        </p:txBody>
      </p:sp>
      <p:sp>
        <p:nvSpPr>
          <p:cNvPr id="16" name="Shape 14"/>
          <p:cNvSpPr/>
          <p:nvPr/>
        </p:nvSpPr>
        <p:spPr>
          <a:xfrm>
            <a:off x="6162675" y="1585602"/>
            <a:ext cx="5213350" cy="2006124"/>
          </a:xfrm>
          <a:prstGeom prst="roundRect">
            <a:avLst>
              <a:gd name="adj" fmla="val 4273"/>
            </a:avLst>
          </a:prstGeom>
          <a:solidFill>
            <a:srgbClr val="FFFFFF"/>
          </a:solidFill>
          <a:ln w="6350">
            <a:solidFill>
              <a:srgbClr val="DFE6EA"/>
            </a:solidFill>
            <a:prstDash val="solid"/>
          </a:ln>
        </p:spPr>
      </p:sp>
      <p:sp>
        <p:nvSpPr>
          <p:cNvPr id="17" name="Text 15"/>
          <p:cNvSpPr/>
          <p:nvPr/>
        </p:nvSpPr>
        <p:spPr>
          <a:xfrm>
            <a:off x="6329680" y="1739900"/>
            <a:ext cx="502572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622"/>
                </a:solidFill>
                <a:latin typeface="Space Grotesk" pitchFamily="34" charset="0"/>
                <a:ea typeface="Space Grotesk" pitchFamily="34" charset="-122"/>
                <a:cs typeface="Space Grotesk" pitchFamily="34" charset="-120"/>
              </a:rPr>
              <a:t>After the agent answers</a:t>
            </a:r>
            <a:endParaRPr lang="en-US" sz="1400" dirty="0"/>
          </a:p>
        </p:txBody>
      </p:sp>
      <p:sp>
        <p:nvSpPr>
          <p:cNvPr id="18" name="Text 16"/>
          <p:cNvSpPr/>
          <p:nvPr/>
        </p:nvSpPr>
        <p:spPr>
          <a:xfrm>
            <a:off x="6329680" y="2029458"/>
            <a:ext cx="5025720" cy="1433354"/>
          </a:xfrm>
          <a:prstGeom prst="rect">
            <a:avLst/>
          </a:prstGeom>
          <a:noFill/>
          <a:ln/>
        </p:spPr>
        <p:txBody>
          <a:bodyPr wrap="square" lIns="0" tIns="0" rIns="0" bIns="0" rtlCol="0" anchor="t">
            <a:normAutofit/>
          </a:bodyPr>
          <a:lstStyle/>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Every figure must appear in the retrieved data</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Roundings and verified sums or differences permitted</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Percentages pass only where numerator and denominator are named together</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Evidence rows copied from query results, never generated</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Coverage computed and flagged when out of range</a:t>
            </a:r>
            <a:endParaRPr lang="en-US" sz="1200" dirty="0"/>
          </a:p>
          <a:p>
            <a:pPr algn="l" marL="182880" indent="-148844">
              <a:lnSpc>
                <a:spcPts val="1584"/>
              </a:lnSpc>
              <a:buSzPct val="100000"/>
              <a:buChar char="•"/>
            </a:pPr>
            <a:r>
              <a:rPr lang="en-US" sz="1200" dirty="0">
                <a:solidFill>
                  <a:srgbClr val="5C6B7A"/>
                </a:solidFill>
                <a:latin typeface="Inter" pitchFamily="34" charset="0"/>
                <a:ea typeface="Inter" pitchFamily="34" charset="-122"/>
                <a:cs typeface="Inter" pitchFamily="34" charset="-120"/>
              </a:rPr>
              <a:t>Literal prompt-leak check on every answer</a:t>
            </a:r>
            <a:endParaRPr lang="en-US" sz="1200" dirty="0"/>
          </a:p>
        </p:txBody>
      </p:sp>
      <p:sp>
        <p:nvSpPr>
          <p:cNvPr id="19" name="Shape 17"/>
          <p:cNvSpPr/>
          <p:nvPr/>
        </p:nvSpPr>
        <p:spPr>
          <a:xfrm>
            <a:off x="815975" y="3725069"/>
            <a:ext cx="5218430" cy="1334770"/>
          </a:xfrm>
          <a:prstGeom prst="roundRect">
            <a:avLst>
              <a:gd name="adj" fmla="val 6422"/>
            </a:avLst>
          </a:prstGeom>
          <a:solidFill>
            <a:srgbClr val="FFFFFF"/>
          </a:solidFill>
          <a:ln w="6350">
            <a:solidFill>
              <a:srgbClr val="DFE6EA"/>
            </a:solidFill>
            <a:prstDash val="solid"/>
          </a:ln>
        </p:spPr>
      </p:sp>
      <p:sp>
        <p:nvSpPr>
          <p:cNvPr id="20" name="Text 18"/>
          <p:cNvSpPr/>
          <p:nvPr/>
        </p:nvSpPr>
        <p:spPr>
          <a:xfrm>
            <a:off x="982980" y="3866679"/>
            <a:ext cx="5030953"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0B1622"/>
                </a:solidFill>
                <a:latin typeface="Space Grotesk" pitchFamily="34" charset="0"/>
                <a:ea typeface="Space Grotesk" pitchFamily="34" charset="-122"/>
                <a:cs typeface="Space Grotesk" pitchFamily="34" charset="-120"/>
              </a:rPr>
              <a:t>On failure</a:t>
            </a:r>
            <a:endParaRPr lang="en-US" sz="1350" dirty="0"/>
          </a:p>
        </p:txBody>
      </p:sp>
      <p:sp>
        <p:nvSpPr>
          <p:cNvPr id="21" name="Text 19"/>
          <p:cNvSpPr/>
          <p:nvPr/>
        </p:nvSpPr>
        <p:spPr>
          <a:xfrm>
            <a:off x="982980" y="4135921"/>
            <a:ext cx="5030953" cy="619760"/>
          </a:xfrm>
          <a:prstGeom prst="rect">
            <a:avLst/>
          </a:prstGeom>
          <a:noFill/>
          <a:ln/>
        </p:spPr>
        <p:txBody>
          <a:bodyPr wrap="square" lIns="0" tIns="0" rIns="0" bIns="0" rtlCol="0" anchor="t">
            <a:normAutofit/>
          </a:bodyPr>
          <a:lstStyle/>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The unverified figure is surfaced, not displayed</a:t>
            </a:r>
            <a:endParaRPr lang="en-US" sz="1200" dirty="0"/>
          </a:p>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One retry on the fallback route</a:t>
            </a:r>
            <a:endParaRPr lang="en-US" sz="1200" dirty="0"/>
          </a:p>
          <a:p>
            <a:pPr algn="l" marL="182880" indent="-148844">
              <a:lnSpc>
                <a:spcPts val="1560"/>
              </a:lnSpc>
              <a:buSzPct val="100000"/>
              <a:buChar char="•"/>
            </a:pPr>
            <a:r>
              <a:rPr lang="en-US" sz="1200" dirty="0">
                <a:solidFill>
                  <a:srgbClr val="5C6B7A"/>
                </a:solidFill>
                <a:latin typeface="Inter" pitchFamily="34" charset="0"/>
                <a:ea typeface="Inter" pitchFamily="34" charset="-122"/>
                <a:cs typeface="Inter" pitchFamily="34" charset="-120"/>
              </a:rPr>
              <a:t>Then an honest failure state, recorded on the run</a:t>
            </a:r>
            <a:endParaRPr lang="en-US" sz="1200" dirty="0"/>
          </a:p>
        </p:txBody>
      </p:sp>
      <p:sp>
        <p:nvSpPr>
          <p:cNvPr id="22" name="Shape 20"/>
          <p:cNvSpPr/>
          <p:nvPr/>
        </p:nvSpPr>
        <p:spPr>
          <a:xfrm>
            <a:off x="6164580" y="3721894"/>
            <a:ext cx="5214620" cy="1341120"/>
          </a:xfrm>
          <a:prstGeom prst="roundRect">
            <a:avLst>
              <a:gd name="adj" fmla="val 6629"/>
            </a:avLst>
          </a:prstGeom>
          <a:solidFill>
            <a:srgbClr val="0B1622"/>
          </a:solidFill>
          <a:ln/>
        </p:spPr>
      </p:sp>
      <p:sp>
        <p:nvSpPr>
          <p:cNvPr id="23" name="Text 21"/>
          <p:cNvSpPr/>
          <p:nvPr/>
        </p:nvSpPr>
        <p:spPr>
          <a:xfrm>
            <a:off x="6329680" y="3861594"/>
            <a:ext cx="5030953"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FFFFFF"/>
                </a:solidFill>
                <a:latin typeface="Space Grotesk" pitchFamily="34" charset="0"/>
                <a:ea typeface="Space Grotesk" pitchFamily="34" charset="-122"/>
                <a:cs typeface="Space Grotesk" pitchFamily="34" charset="-120"/>
              </a:rPr>
              <a:t>Why deterministic, not a judge model</a:t>
            </a:r>
            <a:endParaRPr lang="en-US" sz="1350" dirty="0"/>
          </a:p>
        </p:txBody>
      </p:sp>
      <p:sp>
        <p:nvSpPr>
          <p:cNvPr id="24" name="Text 22"/>
          <p:cNvSpPr/>
          <p:nvPr/>
        </p:nvSpPr>
        <p:spPr>
          <a:xfrm>
            <a:off x="6329680" y="4130836"/>
            <a:ext cx="5030953" cy="8178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FE3DC"/>
                </a:solidFill>
                <a:latin typeface="Inter" pitchFamily="34" charset="0"/>
                <a:ea typeface="Inter" pitchFamily="34" charset="-122"/>
                <a:cs typeface="Inter" pitchFamily="34" charset="-120"/>
              </a:rPr>
              <a:t>The gate reproduces every piece of arithmetic. Anything unreproducible does not pass — no judgement call is involved. In a compensation system that is the only standard that holds up to audit.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Graph-Powered Intelligence — Architecture Review</dc:title>
  <dc:subject>PptxGenJS Presentation</dc:subject>
  <dc:creator>PptxGenJS</dc:creator>
  <cp:lastModifiedBy>PptxGenJS</cp:lastModifiedBy>
  <cp:revision>1</cp:revision>
  <dcterms:created xsi:type="dcterms:W3CDTF">2026-09-30T18:07:12Z</dcterms:created>
  <dcterms:modified xsi:type="dcterms:W3CDTF">2026-09-30T18:07:12Z</dcterms:modified>
</cp:coreProperties>
</file>