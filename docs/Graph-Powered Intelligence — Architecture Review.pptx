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24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5082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frame. Two systems, one approach. The demo later is what makes the rest credible.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their pain, not our features. The last card sets up the two questions carried through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value pillars. Trust is visually separated because it is the one an ARB cares about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shifts. The two trigger models at the bottom are the architectural judgement call worth pausing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 slide. Everything before is the problem; everything after is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cards. Vector storage and enterprise controls are here because the ARB will ask both anyway.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rows, every one chosen because it maps to something this workload actually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worked example is the slide. Four library algorithms composing into one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regulator question on the left is the one that lands hardest with a bank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1,800x comparison is the number to land. It answers "will this hold in production" before it is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here is either on a vendor pricing page or one division away from it. The derivation is shown so it can be checked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levers. The architectural point at the bottom is the one that compounds.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2x2 is the whole point. Two systems, same shape, shared foundation.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GOES HERE. Show rule extraction from a document, then a complex conversational question with drill-down.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layers. The dark band at the bottom is deliberate — the graph is the foundation everything rests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agents. The boundary line at the bottom is the anti-hallucination argument in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it twice. The knowledge layer is outlined because that is where TigerGraph sits and where this approval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about what exists. The Now column is the credibility; the North Star column is the ambition.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Detailed AWS design is a separate session. This slide establishes that production was designed for, not retrofitted.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anyone new to GraphQL on a graph database. The point is the missing resolver 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Appendix. Shown if the ARB asks how context is assembled.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Appendix. This is the slide that answers "how do you know the AI is not making numbers up".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3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4403C"/>
              </a:gs>
              <a:gs pos="62000">
                <a:srgbClr val="0B1622"/>
              </a:gs>
            </a:gsLst>
            <a:path path="circle">
              <a:fillToRect l="78000" t="28000" r="22000" b="72000"/>
            </a:path>
          </a:gradFill>
          <a:ln/>
        </p:spPr>
      </p:sp>
      <p:pic>
        <p:nvPicPr>
          <p:cNvPr id="3" name="Image 0" descr="Graph network motif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93000" y="762000"/>
            <a:ext cx="3937000" cy="393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1089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ARCHITECTURE REVIEW BOARD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1203960"/>
            <a:ext cx="7063740" cy="1398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08"/>
              </a:lnSpc>
              <a:buNone/>
            </a:pPr>
            <a:r>
              <a:rPr lang="en-US" sz="5200" b="1" dirty="0">
                <a:solidFill>
                  <a:srgbClr val="F5F8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Graph-Powered Intelligence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812800" y="2755265"/>
            <a:ext cx="65405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9FB3B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Two systems. One architectural approach.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9FB3B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Built on TigerGraph.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815975" y="5629275"/>
            <a:ext cx="2092484" cy="412750"/>
          </a:xfrm>
          <a:prstGeom prst="roundRect">
            <a:avLst>
              <a:gd name="adj" fmla="val 50000"/>
            </a:avLst>
          </a:prstGeom>
          <a:solidFill>
            <a:srgbClr val="142639"/>
          </a:solidFill>
          <a:ln w="6350">
            <a:solidFill>
              <a:srgbClr val="1E6F6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8380" y="5720080"/>
            <a:ext cx="175890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Management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041809" y="5629275"/>
            <a:ext cx="1054973" cy="412750"/>
          </a:xfrm>
          <a:prstGeom prst="roundRect">
            <a:avLst>
              <a:gd name="adj" fmla="val 50000"/>
            </a:avLst>
          </a:prstGeom>
          <a:solidFill>
            <a:srgbClr val="142639"/>
          </a:solidFill>
          <a:ln w="6350">
            <a:solidFill>
              <a:srgbClr val="1E6F6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34214" y="5720080"/>
            <a:ext cx="72096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iPerform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30132" y="5629275"/>
            <a:ext cx="3397647" cy="412750"/>
          </a:xfrm>
          <a:prstGeom prst="roundRect">
            <a:avLst>
              <a:gd name="adj" fmla="val 50000"/>
            </a:avLst>
          </a:prstGeom>
          <a:solidFill>
            <a:srgbClr val="2A1B0C"/>
          </a:solidFill>
          <a:ln w="6350">
            <a:solidFill>
              <a:srgbClr val="8A551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22537" y="5720080"/>
            <a:ext cx="310322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0C9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40M vertices · 104M edges · live today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10883392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problems we are solving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815975" y="1233805"/>
            <a:ext cx="3439557" cy="1166019"/>
          </a:xfrm>
          <a:prstGeom prst="roundRect">
            <a:avLst>
              <a:gd name="adj" fmla="val 7352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4" name="Image 0" descr="Lo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70280" y="1388110"/>
            <a:ext cx="190500" cy="190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6980" y="1388428"/>
            <a:ext cx="1688465" cy="21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Logic locked in code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70280" y="1642110"/>
            <a:ext cx="3224875" cy="628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584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hardcoded in SQL</a:t>
            </a:r>
            <a:endParaRPr lang="en-US" sz="1200" dirty="0"/>
          </a:p>
          <a:p>
            <a:pPr marL="182880" indent="-148844" algn="l">
              <a:lnSpc>
                <a:spcPts val="1584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technology can change them</a:t>
            </a:r>
            <a:endParaRPr lang="en-US" sz="1200" dirty="0"/>
          </a:p>
          <a:p>
            <a:pPr marL="182880" indent="-148844" algn="l">
              <a:lnSpc>
                <a:spcPts val="1584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change is a release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376182" y="1233805"/>
            <a:ext cx="3439557" cy="1166019"/>
          </a:xfrm>
          <a:prstGeom prst="roundRect">
            <a:avLst>
              <a:gd name="adj" fmla="val 7352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8" name="Image 1" descr="Clo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30487" y="1388110"/>
            <a:ext cx="190500" cy="190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97187" y="1388428"/>
            <a:ext cx="1671399" cy="21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Inquiries take weeks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30487" y="1642110"/>
            <a:ext cx="3224875" cy="628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584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investigation</a:t>
            </a:r>
            <a:endParaRPr lang="en-US" sz="1200" dirty="0"/>
          </a:p>
          <a:p>
            <a:pPr marL="182880" indent="-148844" algn="l">
              <a:lnSpc>
                <a:spcPts val="1584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Spans several systems</a:t>
            </a:r>
            <a:endParaRPr lang="en-US" sz="1200" dirty="0"/>
          </a:p>
          <a:p>
            <a:pPr marL="182880" indent="-148844" algn="l">
              <a:lnSpc>
                <a:spcPts val="1584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Depends on who knows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936389" y="1233805"/>
            <a:ext cx="3439557" cy="1166019"/>
          </a:xfrm>
          <a:prstGeom prst="roundRect">
            <a:avLst>
              <a:gd name="adj" fmla="val 7352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12" name="Image 2" descr="Chart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90694" y="1388110"/>
            <a:ext cx="190500" cy="1905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57394" y="1388428"/>
            <a:ext cx="1871237" cy="21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Revenue not explained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090694" y="1642110"/>
            <a:ext cx="3224875" cy="628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584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Dashboards show movement</a:t>
            </a:r>
            <a:endParaRPr lang="en-US" sz="1200" dirty="0"/>
          </a:p>
          <a:p>
            <a:pPr marL="182880" indent="-148844" algn="l">
              <a:lnSpc>
                <a:spcPts val="1584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where money flowed</a:t>
            </a:r>
            <a:endParaRPr lang="en-US" sz="1200" dirty="0"/>
          </a:p>
          <a:p>
            <a:pPr marL="182880" indent="-148844" algn="l">
              <a:lnSpc>
                <a:spcPts val="1584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Explained by hand, after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15975" y="2520474"/>
            <a:ext cx="3439557" cy="1845627"/>
          </a:xfrm>
          <a:prstGeom prst="roundRect">
            <a:avLst>
              <a:gd name="adj" fmla="val 4645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16" name="Image 3" descr="Users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70280" y="2674779"/>
            <a:ext cx="190500" cy="1905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6980" y="2675096"/>
            <a:ext cx="1610836" cy="21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Users under-served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970280" y="2928779"/>
            <a:ext cx="3224875" cy="829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584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Advisors, MDWs, DDWs, RDWs</a:t>
            </a:r>
            <a:endParaRPr lang="en-US" sz="1200" dirty="0"/>
          </a:p>
          <a:p>
            <a:pPr marL="182880" indent="-148844" algn="l">
              <a:lnSpc>
                <a:spcPts val="1584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peer comparison</a:t>
            </a:r>
            <a:endParaRPr lang="en-US" sz="1200" dirty="0"/>
          </a:p>
          <a:p>
            <a:pPr marL="182880" indent="-148844" algn="l">
              <a:lnSpc>
                <a:spcPts val="1584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next best action</a:t>
            </a:r>
            <a:endParaRPr lang="en-US" sz="1200" dirty="0"/>
          </a:p>
          <a:p>
            <a:pPr marL="182880" indent="-148844" algn="l">
              <a:lnSpc>
                <a:spcPts val="1584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Opportunities unsurfaced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376182" y="2520474"/>
            <a:ext cx="3439557" cy="1845627"/>
          </a:xfrm>
          <a:prstGeom prst="roundRect">
            <a:avLst>
              <a:gd name="adj" fmla="val 4645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20" name="Image 4" descr="Search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30487" y="2674779"/>
            <a:ext cx="190500" cy="1905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797187" y="2675096"/>
            <a:ext cx="2016273" cy="21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Questions unanswerable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4530487" y="2928779"/>
            <a:ext cx="3224875" cy="628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584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questions span time</a:t>
            </a:r>
            <a:endParaRPr lang="en-US" sz="1200" dirty="0"/>
          </a:p>
          <a:p>
            <a:pPr marL="182880" indent="-148844" algn="l">
              <a:lnSpc>
                <a:spcPts val="1584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relationships</a:t>
            </a:r>
            <a:endParaRPr lang="en-US" sz="1200" dirty="0"/>
          </a:p>
          <a:p>
            <a:pPr marL="182880" indent="-148844" algn="l">
              <a:lnSpc>
                <a:spcPts val="1584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Rows cannot answer them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7933214" y="2517299"/>
            <a:ext cx="3445907" cy="1851977"/>
          </a:xfrm>
          <a:prstGeom prst="roundRect">
            <a:avLst>
              <a:gd name="adj" fmla="val 4800"/>
            </a:avLst>
          </a:prstGeom>
          <a:solidFill>
            <a:srgbClr val="0B1622"/>
          </a:solidFill>
          <a:ln/>
        </p:spPr>
      </p:sp>
      <p:sp>
        <p:nvSpPr>
          <p:cNvPr id="24" name="Text 17"/>
          <p:cNvSpPr/>
          <p:nvPr/>
        </p:nvSpPr>
        <p:spPr>
          <a:xfrm>
            <a:off x="8085614" y="2669699"/>
            <a:ext cx="32353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089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QUESTIONS WE CARRY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8085614" y="2946559"/>
            <a:ext cx="3235340" cy="427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1200" b="1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Simple.</a:t>
            </a:r>
            <a:r>
              <a:rPr lang="en-US" sz="120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How did my revenue change last month, and why?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8085614" y="3412331"/>
            <a:ext cx="3235340" cy="829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1200" b="1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Complex.</a:t>
            </a:r>
            <a:r>
              <a:rPr lang="en-US" sz="120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Which households hold this product, were recommended it while their goal was conservative, and by which advisor?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812800" y="622808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89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one of these is a relationship problem. That is what determines the architecture.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value we deliver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75741"/>
            <a:ext cx="2021840" cy="2468880"/>
          </a:xfrm>
          <a:prstGeom prst="roundRect">
            <a:avLst>
              <a:gd name="adj" fmla="val 4397"/>
            </a:avLst>
          </a:prstGeom>
          <a:solidFill>
            <a:srgbClr val="F5F8F9"/>
          </a:solidFill>
          <a:ln/>
        </p:spPr>
      </p:sp>
      <p:pic>
        <p:nvPicPr>
          <p:cNvPr id="4" name="Image 0" descr="Light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0600" y="1653541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0600" y="1971041"/>
            <a:ext cx="1717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Speed to market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90600" y="2273300"/>
            <a:ext cx="171704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to executable in days</a:t>
            </a:r>
            <a:endParaRPr lang="en-US" sz="1200" dirty="0"/>
          </a:p>
          <a:p>
            <a:pPr marL="182880" indent="-14884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authors in plain language</a:t>
            </a:r>
            <a:endParaRPr lang="en-US" sz="1200" dirty="0"/>
          </a:p>
          <a:p>
            <a:pPr marL="182880" indent="-14884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release cycle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948940" y="1475741"/>
            <a:ext cx="2021840" cy="2468880"/>
          </a:xfrm>
          <a:prstGeom prst="roundRect">
            <a:avLst>
              <a:gd name="adj" fmla="val 4397"/>
            </a:avLst>
          </a:prstGeom>
          <a:solidFill>
            <a:srgbClr val="F5F8F9"/>
          </a:solidFill>
          <a:ln/>
        </p:spPr>
      </p:sp>
      <p:pic>
        <p:nvPicPr>
          <p:cNvPr id="8" name="Image 1" descr="Clo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6740" y="1653541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126740" y="1971041"/>
            <a:ext cx="1717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 to resolution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126740" y="2273300"/>
            <a:ext cx="171704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Ask, do not query</a:t>
            </a:r>
            <a:endParaRPr lang="en-US" sz="1200" dirty="0"/>
          </a:p>
          <a:p>
            <a:pPr marL="182880" indent="-14884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 with evidence attached</a:t>
            </a:r>
            <a:endParaRPr lang="en-US" sz="1200" dirty="0"/>
          </a:p>
          <a:p>
            <a:pPr marL="182880" indent="-14884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Minutes, not weeks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085080" y="1475741"/>
            <a:ext cx="2021840" cy="2468880"/>
          </a:xfrm>
          <a:prstGeom prst="roundRect">
            <a:avLst>
              <a:gd name="adj" fmla="val 4397"/>
            </a:avLst>
          </a:prstGeom>
          <a:solidFill>
            <a:srgbClr val="F5F8F9"/>
          </a:solidFill>
          <a:ln/>
        </p:spPr>
      </p:sp>
      <p:pic>
        <p:nvPicPr>
          <p:cNvPr id="12" name="Image 2" descr="Users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62880" y="1653541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62880" y="1971041"/>
            <a:ext cx="17170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Productivity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262880" y="2273300"/>
            <a:ext cx="1717040" cy="1305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Movement explained monthly</a:t>
            </a:r>
            <a:endParaRPr lang="en-US" sz="1200" dirty="0"/>
          </a:p>
          <a:p>
            <a:pPr marL="182880" indent="-14884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Coaching on own numbers</a:t>
            </a:r>
            <a:endParaRPr lang="en-US" sz="1200" dirty="0"/>
          </a:p>
          <a:p>
            <a:pPr marL="182880" indent="-14884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Acting, not searching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221220" y="1475741"/>
            <a:ext cx="2021840" cy="2468880"/>
          </a:xfrm>
          <a:prstGeom prst="roundRect">
            <a:avLst>
              <a:gd name="adj" fmla="val 4397"/>
            </a:avLst>
          </a:prstGeom>
          <a:solidFill>
            <a:srgbClr val="F5F8F9"/>
          </a:solidFill>
          <a:ln/>
        </p:spPr>
      </p:sp>
      <p:pic>
        <p:nvPicPr>
          <p:cNvPr id="16" name="Image 3" descr="Activity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99020" y="1653541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99020" y="1971041"/>
            <a:ext cx="171704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Revenue and control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7399020" y="2486661"/>
            <a:ext cx="1717040" cy="1305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Opportunities surfaced</a:t>
            </a:r>
            <a:endParaRPr lang="en-US" sz="1200" dirty="0"/>
          </a:p>
          <a:p>
            <a:pPr marL="182880" indent="-14884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Exceptions caught pre-payout</a:t>
            </a:r>
            <a:endParaRPr lang="en-US" sz="1200" dirty="0"/>
          </a:p>
          <a:p>
            <a:pPr marL="182880" indent="-14884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consistent reading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9360535" y="1478916"/>
            <a:ext cx="2015490" cy="2462530"/>
          </a:xfrm>
          <a:prstGeom prst="roundRect">
            <a:avLst>
              <a:gd name="adj" fmla="val 4253"/>
            </a:avLst>
          </a:prstGeom>
          <a:solidFill>
            <a:srgbClr val="E4F1EE"/>
          </a:solidFill>
          <a:ln w="6350">
            <a:solidFill>
              <a:srgbClr val="10897A"/>
            </a:solidFill>
            <a:prstDash val="solid"/>
          </a:ln>
        </p:spPr>
      </p:sp>
      <p:pic>
        <p:nvPicPr>
          <p:cNvPr id="20" name="Image 4" descr="Verified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540240" y="165862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540240" y="1976120"/>
            <a:ext cx="17068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4F4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Trust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9540240" y="2278380"/>
            <a:ext cx="170688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2F5C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number from the graph</a:t>
            </a:r>
            <a:endParaRPr lang="en-US" sz="1200" dirty="0"/>
          </a:p>
          <a:p>
            <a:pPr marL="182880" indent="-14884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2F5C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claim cited</a:t>
            </a:r>
            <a:endParaRPr lang="en-US" sz="1200" dirty="0"/>
          </a:p>
          <a:p>
            <a:pPr marL="182880" indent="-14884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2F5C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run replayable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812800" y="4160520"/>
            <a:ext cx="10566400" cy="1212850"/>
          </a:xfrm>
          <a:prstGeom prst="roundRect">
            <a:avLst>
              <a:gd name="adj" fmla="val 7330"/>
            </a:avLst>
          </a:prstGeom>
          <a:solidFill>
            <a:srgbClr val="0B1622"/>
          </a:solidFill>
          <a:ln/>
        </p:spPr>
      </p:sp>
      <p:pic>
        <p:nvPicPr>
          <p:cNvPr id="24" name="Image 5" descr="rect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92200" y="4525645"/>
            <a:ext cx="50800" cy="4826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71599" y="4401820"/>
            <a:ext cx="7445829" cy="755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75"/>
              </a:lnSpc>
              <a:buNone/>
            </a:pPr>
            <a:r>
              <a:rPr lang="en-US" sz="2300" dirty="0">
                <a:solidFill>
                  <a:srgbClr val="F5F8F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value is not that it is intelligent.</a:t>
            </a:r>
            <a:endParaRPr lang="en-US" sz="2300" dirty="0"/>
          </a:p>
          <a:p>
            <a:pPr marL="0" indent="0" algn="l">
              <a:lnSpc>
                <a:spcPts val="2875"/>
              </a:lnSpc>
              <a:buNone/>
            </a:pPr>
            <a:r>
              <a:rPr lang="en-US" sz="2300" dirty="0">
                <a:solidFill>
                  <a:srgbClr val="F5F8F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It is that it is intelligent </a:t>
            </a:r>
            <a:r>
              <a:rPr lang="en-US" sz="2300" i="1" dirty="0">
                <a:solidFill>
                  <a:srgbClr val="F5F8F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and provable</a:t>
            </a:r>
            <a:r>
              <a:rPr lang="en-US" sz="2300" dirty="0">
                <a:solidFill>
                  <a:srgbClr val="F5F8F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10883392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we solve it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815975" y="1208405"/>
            <a:ext cx="5219700" cy="1687195"/>
          </a:xfrm>
          <a:prstGeom prst="roundRect">
            <a:avLst>
              <a:gd name="adj" fmla="val 5081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4" name="Image 0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2980" y="1367791"/>
            <a:ext cx="203200" cy="20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2380" y="1362711"/>
            <a:ext cx="29459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Rules move from code to content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82980" y="1639570"/>
            <a:ext cx="5032261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608"/>
              </a:lnSpc>
              <a:buSzPct val="100000"/>
              <a:buChar char="•"/>
            </a:pPr>
            <a:r>
              <a:rPr lang="en-US" sz="1200" b="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documents</a:t>
            </a: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extracted with citations to the passage</a:t>
            </a:r>
            <a:endParaRPr lang="en-US" sz="1200" dirty="0"/>
          </a:p>
          <a:p>
            <a:pPr marL="182880" indent="-148844" algn="l">
              <a:lnSpc>
                <a:spcPts val="1608"/>
              </a:lnSpc>
              <a:buSzPct val="100000"/>
              <a:buChar char="•"/>
            </a:pPr>
            <a:r>
              <a:rPr lang="en-US" sz="1200" b="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natural language</a:t>
            </a: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sentence, compiled into a query</a:t>
            </a:r>
            <a:endParaRPr lang="en-US" sz="1200" dirty="0"/>
          </a:p>
          <a:p>
            <a:pPr marL="182880" indent="-148844" algn="l">
              <a:lnSpc>
                <a:spcPts val="1608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Authored by </a:t>
            </a:r>
            <a:r>
              <a:rPr lang="en-US" sz="1200" b="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or technology</a:t>
            </a: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neither writes SQL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56325" y="1208405"/>
            <a:ext cx="5219700" cy="1687195"/>
          </a:xfrm>
          <a:prstGeom prst="roundRect">
            <a:avLst>
              <a:gd name="adj" fmla="val 5081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8" name="Image 1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23330" y="1367791"/>
            <a:ext cx="203200" cy="203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02730" y="1362711"/>
            <a:ext cx="30811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Exceptions and Variances are rules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323330" y="1639570"/>
            <a:ext cx="886619" cy="289560"/>
          </a:xfrm>
          <a:prstGeom prst="roundRect">
            <a:avLst>
              <a:gd name="adj" fmla="val 17544"/>
            </a:avLst>
          </a:prstGeom>
          <a:solidFill>
            <a:srgbClr val="10897A"/>
          </a:solidFill>
          <a:ln/>
        </p:spPr>
      </p:sp>
      <p:sp>
        <p:nvSpPr>
          <p:cNvPr id="11" name="Text 7"/>
          <p:cNvSpPr/>
          <p:nvPr/>
        </p:nvSpPr>
        <p:spPr>
          <a:xfrm>
            <a:off x="6412230" y="1677670"/>
            <a:ext cx="7596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Exception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260749" y="1639570"/>
            <a:ext cx="808117" cy="289560"/>
          </a:xfrm>
          <a:prstGeom prst="roundRect">
            <a:avLst>
              <a:gd name="adj" fmla="val 17544"/>
            </a:avLst>
          </a:prstGeom>
          <a:solidFill>
            <a:srgbClr val="10897A"/>
          </a:solidFill>
          <a:ln/>
        </p:spPr>
      </p:sp>
      <p:sp>
        <p:nvSpPr>
          <p:cNvPr id="13" name="Text 9"/>
          <p:cNvSpPr/>
          <p:nvPr/>
        </p:nvSpPr>
        <p:spPr>
          <a:xfrm>
            <a:off x="7349649" y="1677670"/>
            <a:ext cx="6811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19666" y="1639570"/>
            <a:ext cx="1045845" cy="289560"/>
          </a:xfrm>
          <a:prstGeom prst="roundRect">
            <a:avLst>
              <a:gd name="adj" fmla="val 17544"/>
            </a:avLst>
          </a:prstGeom>
          <a:solidFill>
            <a:srgbClr val="F5F8F9"/>
          </a:solidFill>
          <a:ln/>
        </p:spPr>
      </p:sp>
      <p:sp>
        <p:nvSpPr>
          <p:cNvPr id="15" name="Text 11"/>
          <p:cNvSpPr/>
          <p:nvPr/>
        </p:nvSpPr>
        <p:spPr>
          <a:xfrm>
            <a:off x="8208566" y="1677670"/>
            <a:ext cx="9188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Threshold ±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216311" y="1639570"/>
            <a:ext cx="1101249" cy="289560"/>
          </a:xfrm>
          <a:prstGeom prst="roundRect">
            <a:avLst>
              <a:gd name="adj" fmla="val 17544"/>
            </a:avLst>
          </a:prstGeom>
          <a:solidFill>
            <a:srgbClr val="F5F8F9"/>
          </a:solidFill>
          <a:ln/>
        </p:spPr>
      </p:sp>
      <p:sp>
        <p:nvSpPr>
          <p:cNvPr id="17" name="Text 13"/>
          <p:cNvSpPr/>
          <p:nvPr/>
        </p:nvSpPr>
        <p:spPr>
          <a:xfrm>
            <a:off x="9305211" y="1677670"/>
            <a:ext cx="9742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Denominator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323330" y="1979930"/>
            <a:ext cx="1742758" cy="289560"/>
          </a:xfrm>
          <a:prstGeom prst="roundRect">
            <a:avLst>
              <a:gd name="adj" fmla="val 17544"/>
            </a:avLst>
          </a:prstGeom>
          <a:solidFill>
            <a:srgbClr val="F5F8F9"/>
          </a:solidFill>
          <a:ln/>
        </p:spPr>
      </p:sp>
      <p:sp>
        <p:nvSpPr>
          <p:cNvPr id="19" name="Text 15"/>
          <p:cNvSpPr/>
          <p:nvPr/>
        </p:nvSpPr>
        <p:spPr>
          <a:xfrm>
            <a:off x="6412230" y="2018030"/>
            <a:ext cx="161575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· NNM · NCF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116888" y="1979930"/>
            <a:ext cx="1114901" cy="289560"/>
          </a:xfrm>
          <a:prstGeom prst="roundRect">
            <a:avLst>
              <a:gd name="adj" fmla="val 17544"/>
            </a:avLst>
          </a:prstGeom>
          <a:solidFill>
            <a:srgbClr val="F5F8F9"/>
          </a:solidFill>
          <a:ln/>
        </p:spPr>
      </p:sp>
      <p:sp>
        <p:nvSpPr>
          <p:cNvPr id="21" name="Text 17"/>
          <p:cNvSpPr/>
          <p:nvPr/>
        </p:nvSpPr>
        <p:spPr>
          <a:xfrm>
            <a:off x="8205788" y="2018030"/>
            <a:ext cx="98790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 code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9282589" y="1979930"/>
            <a:ext cx="561419" cy="289560"/>
          </a:xfrm>
          <a:prstGeom prst="roundRect">
            <a:avLst>
              <a:gd name="adj" fmla="val 17544"/>
            </a:avLst>
          </a:prstGeom>
          <a:solidFill>
            <a:srgbClr val="F5F8F9"/>
          </a:solidFill>
          <a:ln/>
        </p:spPr>
      </p:sp>
      <p:sp>
        <p:nvSpPr>
          <p:cNvPr id="23" name="Text 19"/>
          <p:cNvSpPr/>
          <p:nvPr/>
        </p:nvSpPr>
        <p:spPr>
          <a:xfrm>
            <a:off x="9371489" y="2018030"/>
            <a:ext cx="4344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Grain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323330" y="2332991"/>
            <a:ext cx="5032261" cy="433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08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types; everything else configured by the author. A new exception is a rule someone </a:t>
            </a:r>
            <a:r>
              <a:rPr lang="en-US" sz="1200" b="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writes</a:t>
            </a: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not a release.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15975" y="3016250"/>
            <a:ext cx="5219700" cy="1197928"/>
          </a:xfrm>
          <a:prstGeom prst="roundRect">
            <a:avLst>
              <a:gd name="adj" fmla="val 7156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26" name="Image 2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2980" y="3175636"/>
            <a:ext cx="203200" cy="203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62380" y="3170555"/>
            <a:ext cx="29248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Computation moves to the graph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982980" y="3447416"/>
            <a:ext cx="5032261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608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Aggregation, filtering, ranking, traversal and as-of state run in the database</a:t>
            </a:r>
            <a:endParaRPr lang="en-US" sz="1200" dirty="0"/>
          </a:p>
          <a:p>
            <a:pPr marL="182880" indent="-148844" algn="l">
              <a:lnSpc>
                <a:spcPts val="1608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application receives results, not raw data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156325" y="3016250"/>
            <a:ext cx="5219700" cy="1197928"/>
          </a:xfrm>
          <a:prstGeom prst="roundRect">
            <a:avLst>
              <a:gd name="adj" fmla="val 7156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30" name="Image 3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23330" y="3175636"/>
            <a:ext cx="203200" cy="2032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602730" y="3170555"/>
            <a:ext cx="26964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Answers move to conversation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6323330" y="3447416"/>
            <a:ext cx="5032261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608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and business stop writing queries to investigate</a:t>
            </a:r>
            <a:endParaRPr lang="en-US" sz="1200" dirty="0"/>
          </a:p>
          <a:p>
            <a:pPr marL="182880" indent="-148844" algn="l">
              <a:lnSpc>
                <a:spcPts val="1608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ask; the agent traverses and assembles the evidence</a:t>
            </a:r>
            <a:endParaRPr lang="en-US" sz="1200" dirty="0"/>
          </a:p>
          <a:p>
            <a:pPr marL="182880" indent="-148844" algn="l">
              <a:lnSpc>
                <a:spcPts val="1608"/>
              </a:lnSpc>
              <a:buSzPct val="100000"/>
              <a:buChar char="•"/>
            </a:pPr>
            <a:r>
              <a:rPr lang="en-US" sz="1200" b="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Minutes instead of days or weeks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812800" y="4357053"/>
            <a:ext cx="5226050" cy="681672"/>
          </a:xfrm>
          <a:prstGeom prst="roundRect">
            <a:avLst>
              <a:gd name="adj" fmla="val 13041"/>
            </a:avLst>
          </a:prstGeom>
          <a:solidFill>
            <a:srgbClr val="0B1622"/>
          </a:solidFill>
          <a:ln/>
        </p:spPr>
      </p:sp>
      <p:pic>
        <p:nvPicPr>
          <p:cNvPr id="34" name="Image 4" descr="Lightni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90600" y="4583588"/>
            <a:ext cx="228600" cy="2286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346200" y="4496753"/>
            <a:ext cx="4650296" cy="427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1200" b="1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Insights, drivers, opportunities</a:t>
            </a:r>
            <a:r>
              <a:rPr lang="en-US" sz="120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source data completes, generation fires. </a:t>
            </a:r>
            <a:r>
              <a:rPr lang="en-US" sz="1200" dirty="0">
                <a:solidFill>
                  <a:srgbClr val="6FD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human involvement.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6153150" y="4357053"/>
            <a:ext cx="5226050" cy="681672"/>
          </a:xfrm>
          <a:prstGeom prst="roundRect">
            <a:avLst>
              <a:gd name="adj" fmla="val 13041"/>
            </a:avLst>
          </a:prstGeom>
          <a:solidFill>
            <a:srgbClr val="2A1B0C"/>
          </a:solidFill>
          <a:ln/>
        </p:spPr>
      </p:sp>
      <p:pic>
        <p:nvPicPr>
          <p:cNvPr id="37" name="Image 5" descr="Check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30950" y="4583588"/>
            <a:ext cx="228600" cy="2286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686550" y="4496753"/>
            <a:ext cx="4650296" cy="427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1200" b="1" dirty="0">
                <a:solidFill>
                  <a:srgbClr val="E8D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</a:t>
            </a:r>
            <a:r>
              <a:rPr lang="en-US" sz="1200" dirty="0">
                <a:solidFill>
                  <a:srgbClr val="E8D6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document uploaded or rule written. </a:t>
            </a:r>
            <a:r>
              <a:rPr lang="en-US" sz="1200" dirty="0">
                <a:solidFill>
                  <a:srgbClr val="F0C9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Reviewed, then approved before publish.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812800" y="6228082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89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Autonomous where the input is data. Gated where the output changes how people get paid.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4403C"/>
              </a:gs>
              <a:gs pos="58000">
                <a:srgbClr val="0B1622"/>
              </a:gs>
            </a:gsLst>
            <a:path path="circle">
              <a:fillToRect l="88000" t="12000" r="12000" b="88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397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F5F8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a graph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12800" y="1400969"/>
            <a:ext cx="5207000" cy="2221548"/>
          </a:xfrm>
          <a:prstGeom prst="roundRect">
            <a:avLst>
              <a:gd name="adj" fmla="val 4002"/>
            </a:avLst>
          </a:prstGeom>
          <a:solidFill>
            <a:srgbClr val="142639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400969"/>
            <a:ext cx="5207000" cy="2221548"/>
          </a:xfrm>
          <a:custGeom>
            <a:avLst/>
            <a:gdLst/>
            <a:ahLst/>
            <a:cxnLst/>
            <a:rect l="l" t="t" r="r" b="b"/>
            <a:pathLst>
              <a:path w="5207000" h="2221548">
                <a:moveTo>
                  <a:pt x="88900" y="2221548"/>
                </a:moveTo>
                <a:lnTo>
                  <a:pt x="88900" y="2221548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lnTo>
                  <a:pt x="88900" y="0"/>
                </a:lnTo>
                <a:arcTo wR="57150" hR="88900" stAng="16200000" swAng="-5400000"/>
                <a:lnTo>
                  <a:pt x="31750" y="2132648"/>
                </a:lnTo>
                <a:arcTo wR="57150" hR="88900" stAng="10800000" swAng="-5400000"/>
                <a:close/>
              </a:path>
            </a:pathLst>
          </a:custGeom>
          <a:solidFill>
            <a:srgbClr val="10897A"/>
          </a:solidFill>
          <a:ln/>
        </p:spPr>
      </p:sp>
      <p:sp>
        <p:nvSpPr>
          <p:cNvPr id="6" name="Text 4"/>
          <p:cNvSpPr/>
          <p:nvPr/>
        </p:nvSpPr>
        <p:spPr>
          <a:xfrm>
            <a:off x="1046480" y="1604169"/>
            <a:ext cx="4913224" cy="21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3"/>
              </a:lnSpc>
              <a:buNone/>
            </a:pPr>
            <a:r>
              <a:rPr lang="en-US" sz="1052" b="1" kern="0" spc="150" dirty="0">
                <a:solidFill>
                  <a:srgbClr val="6FD3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SIMPLE</a:t>
            </a:r>
            <a:endParaRPr lang="en-US" sz="1052" dirty="0"/>
          </a:p>
        </p:txBody>
      </p:sp>
      <p:sp>
        <p:nvSpPr>
          <p:cNvPr id="7" name="Text 5"/>
          <p:cNvSpPr/>
          <p:nvPr/>
        </p:nvSpPr>
        <p:spPr>
          <a:xfrm>
            <a:off x="1046480" y="1879758"/>
            <a:ext cx="4913224" cy="313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2271"/>
              </a:lnSpc>
              <a:buNone/>
            </a:pPr>
            <a:r>
              <a:rPr lang="en-US" sz="1817" dirty="0">
                <a:solidFill>
                  <a:srgbClr val="F5F8F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How did my revenue change last month, and why?</a:t>
            </a:r>
            <a:endParaRPr lang="en-US" sz="1817" dirty="0"/>
          </a:p>
        </p:txBody>
      </p:sp>
      <p:sp>
        <p:nvSpPr>
          <p:cNvPr id="8" name="Text 6"/>
          <p:cNvSpPr/>
          <p:nvPr/>
        </p:nvSpPr>
        <p:spPr>
          <a:xfrm>
            <a:off x="1046480" y="2256554"/>
            <a:ext cx="4913224" cy="658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5"/>
              </a:lnSpc>
              <a:buNone/>
            </a:pPr>
            <a:r>
              <a:rPr lang="en-US" sz="1155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 this month against last. Decompose into volume and deal size. Attribute across products and accounts. Identify which accounts arrived, left or transferred.</a:t>
            </a:r>
            <a:endParaRPr lang="en-US" sz="1155" dirty="0"/>
          </a:p>
        </p:txBody>
      </p:sp>
      <p:sp>
        <p:nvSpPr>
          <p:cNvPr id="9" name="Text 7"/>
          <p:cNvSpPr/>
          <p:nvPr/>
        </p:nvSpPr>
        <p:spPr>
          <a:xfrm>
            <a:off x="1046480" y="2978150"/>
            <a:ext cx="4913224" cy="466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35"/>
              </a:lnSpc>
              <a:buNone/>
            </a:pPr>
            <a:r>
              <a:rPr lang="en-US" sz="1239" b="1" dirty="0">
                <a:solidFill>
                  <a:srgbClr val="6FD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aggregations and a set comparison — resolved in the database.</a:t>
            </a:r>
            <a:endParaRPr lang="en-US" sz="1239" dirty="0"/>
          </a:p>
        </p:txBody>
      </p:sp>
      <p:sp>
        <p:nvSpPr>
          <p:cNvPr id="10" name="Shape 8"/>
          <p:cNvSpPr/>
          <p:nvPr/>
        </p:nvSpPr>
        <p:spPr>
          <a:xfrm>
            <a:off x="6172200" y="1400969"/>
            <a:ext cx="5207000" cy="2221548"/>
          </a:xfrm>
          <a:prstGeom prst="roundRect">
            <a:avLst>
              <a:gd name="adj" fmla="val 4002"/>
            </a:avLst>
          </a:prstGeom>
          <a:solidFill>
            <a:srgbClr val="2A1B0C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1400969"/>
            <a:ext cx="5207000" cy="2221548"/>
          </a:xfrm>
          <a:custGeom>
            <a:avLst/>
            <a:gdLst/>
            <a:ahLst/>
            <a:cxnLst/>
            <a:rect l="l" t="t" r="r" b="b"/>
            <a:pathLst>
              <a:path w="5207000" h="2221548">
                <a:moveTo>
                  <a:pt x="88900" y="2221548"/>
                </a:moveTo>
                <a:lnTo>
                  <a:pt x="88900" y="2221548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lnTo>
                  <a:pt x="88900" y="0"/>
                </a:lnTo>
                <a:arcTo wR="57150" hR="88900" stAng="16200000" swAng="-5400000"/>
                <a:lnTo>
                  <a:pt x="31750" y="2132648"/>
                </a:lnTo>
                <a:arcTo wR="57150" hR="88900" stAng="10800000" swAng="-5400000"/>
                <a:close/>
              </a:path>
            </a:pathLst>
          </a:custGeom>
          <a:solidFill>
            <a:srgbClr val="D9832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5880" y="1604169"/>
            <a:ext cx="4913224" cy="177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22"/>
              </a:lnSpc>
              <a:buNone/>
            </a:pPr>
            <a:r>
              <a:rPr lang="en-US" sz="873" b="1" kern="0" spc="150" dirty="0">
                <a:solidFill>
                  <a:srgbClr val="F0C99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COMPLEX</a:t>
            </a:r>
            <a:endParaRPr lang="en-US" sz="873" dirty="0"/>
          </a:p>
        </p:txBody>
      </p:sp>
      <p:sp>
        <p:nvSpPr>
          <p:cNvPr id="13" name="Text 11"/>
          <p:cNvSpPr/>
          <p:nvPr/>
        </p:nvSpPr>
        <p:spPr>
          <a:xfrm>
            <a:off x="6405880" y="1844914"/>
            <a:ext cx="4913224" cy="727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2138"/>
              </a:lnSpc>
              <a:buNone/>
            </a:pPr>
            <a:r>
              <a:rPr lang="en-US" sz="171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Which households hold this product, were recommended it while their goal was conservative, and which advisor recommended it?</a:t>
            </a:r>
            <a:endParaRPr lang="en-US" sz="1710" dirty="0"/>
          </a:p>
        </p:txBody>
      </p:sp>
      <p:sp>
        <p:nvSpPr>
          <p:cNvPr id="14" name="Text 12"/>
          <p:cNvSpPr/>
          <p:nvPr/>
        </p:nvSpPr>
        <p:spPr>
          <a:xfrm>
            <a:off x="6405880" y="2636282"/>
            <a:ext cx="4913224" cy="54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9"/>
              </a:lnSpc>
              <a:buNone/>
            </a:pPr>
            <a:r>
              <a:rPr lang="en-US" sz="1193" dirty="0">
                <a:solidFill>
                  <a:srgbClr val="D9C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 → households → accounts → holdings → product. Then recommendation → the goal </a:t>
            </a:r>
            <a:r>
              <a:rPr lang="en-US" sz="1193" b="1" dirty="0">
                <a:solidFill>
                  <a:srgbClr val="D9C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it stood on that date</a:t>
            </a:r>
            <a:r>
              <a:rPr lang="en-US" sz="1193" dirty="0">
                <a:solidFill>
                  <a:srgbClr val="D9C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the advisor.</a:t>
            </a:r>
            <a:endParaRPr lang="en-US" sz="1193" dirty="0"/>
          </a:p>
        </p:txBody>
      </p:sp>
      <p:sp>
        <p:nvSpPr>
          <p:cNvPr id="15" name="Text 13"/>
          <p:cNvSpPr/>
          <p:nvPr/>
        </p:nvSpPr>
        <p:spPr>
          <a:xfrm>
            <a:off x="6405880" y="3239849"/>
            <a:ext cx="4913224" cy="204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2"/>
              </a:lnSpc>
              <a:buNone/>
            </a:pPr>
            <a:r>
              <a:rPr lang="en-US" sz="1016" b="1" dirty="0">
                <a:solidFill>
                  <a:srgbClr val="F0C9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hops and a point-in-time condition.</a:t>
            </a:r>
            <a:endParaRPr lang="en-US" sz="1016" dirty="0"/>
          </a:p>
        </p:txBody>
      </p:sp>
      <p:sp>
        <p:nvSpPr>
          <p:cNvPr id="16" name="Shape 14"/>
          <p:cNvSpPr/>
          <p:nvPr/>
        </p:nvSpPr>
        <p:spPr>
          <a:xfrm>
            <a:off x="812800" y="3838417"/>
            <a:ext cx="10566400" cy="755412"/>
          </a:xfrm>
          <a:prstGeom prst="roundRect">
            <a:avLst>
              <a:gd name="adj" fmla="val 11768"/>
            </a:avLst>
          </a:prstGeom>
          <a:solidFill>
            <a:srgbClr val="142639"/>
          </a:solidFill>
          <a:ln/>
        </p:spPr>
      </p:sp>
      <p:pic>
        <p:nvPicPr>
          <p:cNvPr id="17" name="Image 0" descr="Warning"/>
          <p:cNvPicPr>
            <a:picLocks noChangeAspect="1"/>
          </p:cNvPicPr>
          <p:nvPr/>
        </p:nvPicPr>
        <p:blipFill>
          <a:blip r:embed="rId3"/>
          <a:srcRect t="-185" b="-185"/>
          <a:stretch/>
        </p:blipFill>
        <p:spPr>
          <a:xfrm>
            <a:off x="1041400" y="4089084"/>
            <a:ext cx="215106" cy="2540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08906" y="3976132"/>
            <a:ext cx="10033945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5F8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vector search cannot answer the second question. It retrieves similar text. The question is about </a:t>
            </a:r>
            <a:r>
              <a:rPr lang="en-US" sz="1400" b="1" dirty="0">
                <a:solidFill>
                  <a:srgbClr val="F5F8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is connected to what, and when</a:t>
            </a:r>
            <a:r>
              <a:rPr lang="en-US" sz="1400" dirty="0">
                <a:solidFill>
                  <a:srgbClr val="F5F8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12800" y="4809728"/>
            <a:ext cx="3437414" cy="1032272"/>
          </a:xfrm>
          <a:prstGeom prst="roundRect">
            <a:avLst>
              <a:gd name="adj" fmla="val 8612"/>
            </a:avLst>
          </a:prstGeom>
          <a:solidFill>
            <a:srgbClr val="142639"/>
          </a:solidFill>
          <a:ln/>
        </p:spPr>
      </p:sp>
      <p:sp>
        <p:nvSpPr>
          <p:cNvPr id="20" name="Text 17"/>
          <p:cNvSpPr/>
          <p:nvPr/>
        </p:nvSpPr>
        <p:spPr>
          <a:xfrm>
            <a:off x="1003300" y="4974828"/>
            <a:ext cx="3148106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6FD3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Memory is relationships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003300" y="5244068"/>
            <a:ext cx="314810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fact is useful only linked to its source, what it superseded, and who it applies to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377214" y="4809728"/>
            <a:ext cx="3437493" cy="1032272"/>
          </a:xfrm>
          <a:prstGeom prst="roundRect">
            <a:avLst>
              <a:gd name="adj" fmla="val 8612"/>
            </a:avLst>
          </a:prstGeom>
          <a:solidFill>
            <a:srgbClr val="142639"/>
          </a:solidFill>
          <a:ln/>
        </p:spPr>
      </p:sp>
      <p:sp>
        <p:nvSpPr>
          <p:cNvPr id="23" name="Text 20"/>
          <p:cNvSpPr/>
          <p:nvPr/>
        </p:nvSpPr>
        <p:spPr>
          <a:xfrm>
            <a:off x="4567714" y="4974828"/>
            <a:ext cx="3148188" cy="180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1017" b="1" dirty="0">
                <a:solidFill>
                  <a:srgbClr val="6FD3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Grounding needs traversal</a:t>
            </a:r>
            <a:endParaRPr lang="en-US" sz="1017" dirty="0"/>
          </a:p>
        </p:txBody>
      </p:sp>
      <p:sp>
        <p:nvSpPr>
          <p:cNvPr id="24" name="Text 21"/>
          <p:cNvSpPr/>
          <p:nvPr/>
        </p:nvSpPr>
        <p:spPr>
          <a:xfrm>
            <a:off x="4567714" y="5193664"/>
            <a:ext cx="3148188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4"/>
              </a:lnSpc>
              <a:buNone/>
            </a:pPr>
            <a:r>
              <a:rPr lang="en-US" sz="1110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questions are multi-hop and time-bound; similarity search stops where they begin</a:t>
            </a:r>
            <a:endParaRPr lang="en-US" sz="1110" dirty="0"/>
          </a:p>
        </p:txBody>
      </p:sp>
      <p:sp>
        <p:nvSpPr>
          <p:cNvPr id="25" name="Shape 22"/>
          <p:cNvSpPr/>
          <p:nvPr/>
        </p:nvSpPr>
        <p:spPr>
          <a:xfrm>
            <a:off x="7941707" y="4809728"/>
            <a:ext cx="3437493" cy="1032272"/>
          </a:xfrm>
          <a:prstGeom prst="roundRect">
            <a:avLst>
              <a:gd name="adj" fmla="val 8612"/>
            </a:avLst>
          </a:prstGeom>
          <a:solidFill>
            <a:srgbClr val="142639"/>
          </a:solidFill>
          <a:ln/>
        </p:spPr>
      </p:sp>
      <p:sp>
        <p:nvSpPr>
          <p:cNvPr id="26" name="Text 23"/>
          <p:cNvSpPr/>
          <p:nvPr/>
        </p:nvSpPr>
        <p:spPr>
          <a:xfrm>
            <a:off x="8132207" y="4974828"/>
            <a:ext cx="314818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6FD3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Governance is topology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8132207" y="5244068"/>
            <a:ext cx="31481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Entitlements, lineage and as-of state are all relationship questions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12800" y="5989321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industry converged on graph-augmented retrieval because vector-only retrieval plateaus exactly where relational and temporal questions start.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2805139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TigerGraph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75936" y="756921"/>
            <a:ext cx="339885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Nine capabilities that decide this workload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15975" y="1143636"/>
            <a:ext cx="3448050" cy="1084183"/>
          </a:xfrm>
          <a:prstGeom prst="roundRect">
            <a:avLst>
              <a:gd name="adj" fmla="val 6735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5" name="Image 0" descr="Light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7580" y="1278889"/>
            <a:ext cx="177800" cy="177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98880" y="1272539"/>
            <a:ext cx="140644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Massively parallel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57580" y="1513839"/>
            <a:ext cx="3259785" cy="41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536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query runs on all partitions at once</a:t>
            </a:r>
            <a:endParaRPr lang="en-US" sz="1200" dirty="0"/>
          </a:p>
          <a:p>
            <a:pPr marL="182880" indent="-148844" algn="l">
              <a:lnSpc>
                <a:spcPts val="1536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by adding machines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71975" y="1143636"/>
            <a:ext cx="3448050" cy="1084183"/>
          </a:xfrm>
          <a:prstGeom prst="roundRect">
            <a:avLst>
              <a:gd name="adj" fmla="val 6735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9" name="Image 1" descr="Databa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13580" y="1278889"/>
            <a:ext cx="177800" cy="177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0" y="1272539"/>
            <a:ext cx="115173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Native vectors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13580" y="1513839"/>
            <a:ext cx="3259785" cy="41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536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Embeddings on the vertex, indexed</a:t>
            </a:r>
            <a:endParaRPr lang="en-US" sz="1200" dirty="0"/>
          </a:p>
          <a:p>
            <a:pPr marL="182880" indent="-148844" algn="l">
              <a:lnSpc>
                <a:spcPts val="1536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and graph commit together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27975" y="1143636"/>
            <a:ext cx="3448050" cy="1084183"/>
          </a:xfrm>
          <a:prstGeom prst="roundRect">
            <a:avLst>
              <a:gd name="adj" fmla="val 6735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13" name="Image 2" descr="Lin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69580" y="1278889"/>
            <a:ext cx="177800" cy="177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10880" y="1272539"/>
            <a:ext cx="123174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Hybrid retrieval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8069580" y="1513839"/>
            <a:ext cx="3259785" cy="61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536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scoped by a traversal, then expanded</a:t>
            </a:r>
            <a:endParaRPr lang="en-US" sz="1200" dirty="0"/>
          </a:p>
          <a:p>
            <a:pPr marL="182880" indent="-148844" algn="l">
              <a:lnSpc>
                <a:spcPts val="1536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Elsewhere: two systems, one join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15975" y="2335768"/>
            <a:ext cx="3448050" cy="889159"/>
          </a:xfrm>
          <a:prstGeom prst="roundRect">
            <a:avLst>
              <a:gd name="adj" fmla="val 8213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17" name="Image 3" descr="Activity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57580" y="2471024"/>
            <a:ext cx="177800" cy="177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98880" y="2464674"/>
            <a:ext cx="11061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Accumulators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957580" y="2705974"/>
            <a:ext cx="3259785" cy="41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536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Totals carried as the query walks</a:t>
            </a:r>
            <a:endParaRPr lang="en-US" sz="1200" dirty="0"/>
          </a:p>
          <a:p>
            <a:pPr marL="182880" indent="-148844" algn="l">
              <a:lnSpc>
                <a:spcPts val="1536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Attribution becomes one query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371975" y="2335768"/>
            <a:ext cx="3448050" cy="889159"/>
          </a:xfrm>
          <a:prstGeom prst="roundRect">
            <a:avLst>
              <a:gd name="adj" fmla="val 8213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21" name="Image 4" descr="Chart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13580" y="2471024"/>
            <a:ext cx="177800" cy="1778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754880" y="2464674"/>
            <a:ext cx="121205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50+ algorithms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4513580" y="2705974"/>
            <a:ext cx="3259785" cy="41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536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Centrality, community, ranking, paths</a:t>
            </a:r>
            <a:endParaRPr lang="en-US" sz="1200" dirty="0"/>
          </a:p>
          <a:p>
            <a:pPr marL="182880" indent="-148844" algn="l">
              <a:lnSpc>
                <a:spcPts val="1536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— scope any to a date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927975" y="2335768"/>
            <a:ext cx="3448050" cy="889159"/>
          </a:xfrm>
          <a:prstGeom prst="roundRect">
            <a:avLst>
              <a:gd name="adj" fmla="val 8213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25" name="Image 5" descr="Globe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69580" y="2471024"/>
            <a:ext cx="177800" cy="1778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310880" y="2464674"/>
            <a:ext cx="125428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Multiple graphs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8069580" y="2705974"/>
            <a:ext cx="3259785" cy="41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536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governed views, one dataset</a:t>
            </a:r>
            <a:endParaRPr lang="en-US" sz="1200" dirty="0"/>
          </a:p>
          <a:p>
            <a:pPr marL="182880" indent="-148844" algn="l">
              <a:lnSpc>
                <a:spcPts val="1536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access control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815975" y="3332879"/>
            <a:ext cx="3448050" cy="889159"/>
          </a:xfrm>
          <a:prstGeom prst="roundRect">
            <a:avLst>
              <a:gd name="adj" fmla="val 8213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29" name="Image 6" descr="Clock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57580" y="3468132"/>
            <a:ext cx="177800" cy="1778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198880" y="3461782"/>
            <a:ext cx="94011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Time-aware</a:t>
            </a:r>
            <a:endParaRPr lang="en-US" sz="1250" dirty="0"/>
          </a:p>
        </p:txBody>
      </p:sp>
      <p:sp>
        <p:nvSpPr>
          <p:cNvPr id="31" name="Text 22"/>
          <p:cNvSpPr/>
          <p:nvPr/>
        </p:nvSpPr>
        <p:spPr>
          <a:xfrm>
            <a:off x="957580" y="3703082"/>
            <a:ext cx="3259785" cy="41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536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Relationships carry validity periods</a:t>
            </a:r>
            <a:endParaRPr lang="en-US" sz="1200" dirty="0"/>
          </a:p>
          <a:p>
            <a:pPr marL="182880" indent="-148844" algn="l">
              <a:lnSpc>
                <a:spcPts val="1536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the graph as of any date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4371975" y="3332879"/>
            <a:ext cx="3448050" cy="889159"/>
          </a:xfrm>
          <a:prstGeom prst="roundRect">
            <a:avLst>
              <a:gd name="adj" fmla="val 8213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33" name="Image 7" descr="Code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513580" y="3468132"/>
            <a:ext cx="177800" cy="1778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754880" y="3461782"/>
            <a:ext cx="1408827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SQL-familiar GSQL</a:t>
            </a:r>
            <a:endParaRPr lang="en-US" sz="1250" dirty="0"/>
          </a:p>
        </p:txBody>
      </p:sp>
      <p:sp>
        <p:nvSpPr>
          <p:cNvPr id="35" name="Text 25"/>
          <p:cNvSpPr/>
          <p:nvPr/>
        </p:nvSpPr>
        <p:spPr>
          <a:xfrm>
            <a:off x="4513580" y="3703082"/>
            <a:ext cx="3259785" cy="41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536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conventions — readable day one</a:t>
            </a:r>
            <a:endParaRPr lang="en-US" sz="1200" dirty="0"/>
          </a:p>
          <a:p>
            <a:pPr marL="182880" indent="-148844" algn="l">
              <a:lnSpc>
                <a:spcPts val="1536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on skills we already have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7927975" y="3332879"/>
            <a:ext cx="3448050" cy="889159"/>
          </a:xfrm>
          <a:prstGeom prst="roundRect">
            <a:avLst>
              <a:gd name="adj" fmla="val 8213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37" name="Image 8" descr="Lock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069580" y="3468132"/>
            <a:ext cx="177800" cy="1778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8310880" y="3461782"/>
            <a:ext cx="15195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Enterprise controls</a:t>
            </a:r>
            <a:endParaRPr lang="en-US" sz="1250" dirty="0"/>
          </a:p>
        </p:txBody>
      </p:sp>
      <p:sp>
        <p:nvSpPr>
          <p:cNvPr id="39" name="Text 28"/>
          <p:cNvSpPr/>
          <p:nvPr/>
        </p:nvSpPr>
        <p:spPr>
          <a:xfrm>
            <a:off x="8069580" y="3703082"/>
            <a:ext cx="3259785" cy="41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536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 policies, ACID, HA, replication</a:t>
            </a:r>
            <a:endParaRPr lang="en-US" sz="1200" dirty="0"/>
          </a:p>
          <a:p>
            <a:pPr marL="182880" indent="-148844" algn="l">
              <a:lnSpc>
                <a:spcPts val="1536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schema change · EKS operator</a:t>
            </a:r>
            <a:endParaRPr lang="en-US" sz="1200" dirty="0"/>
          </a:p>
        </p:txBody>
      </p:sp>
      <p:sp>
        <p:nvSpPr>
          <p:cNvPr id="40" name="Text 29"/>
          <p:cNvSpPr/>
          <p:nvPr/>
        </p:nvSpPr>
        <p:spPr>
          <a:xfrm>
            <a:off x="812800" y="6271261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089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Today we use a fraction of what the engine does. The target state uses the capabilities that have no relational equivalent.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784906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TigerGraph vs Neo4j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639866" y="970282"/>
            <a:ext cx="553972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as self-managed deployments on AWS, against this workload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267382"/>
          <a:ext cx="10556240" cy="3771189"/>
        </p:xfrm>
        <a:graphic>
          <a:graphicData uri="http://schemas.openxmlformats.org/drawingml/2006/table">
            <a:tbl>
              <a:tblPr/>
              <a:tblGrid>
                <a:gridCol w="2533498"/>
                <a:gridCol w="4222496"/>
                <a:gridCol w="3800246"/>
              </a:tblGrid>
              <a:tr h="359966"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b="1" dirty="0">
                          <a:solidFill>
                            <a:srgbClr val="9FB3B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 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b="1" dirty="0">
                          <a:solidFill>
                            <a:srgbClr val="6FD3C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TigerGraph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b="1" dirty="0">
                          <a:solidFill>
                            <a:srgbClr val="9FB3B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Neo4j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359966"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Parallel execution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solidFill>
                            <a:srgbClr val="0B16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Native MPP — graph and compute partitioned across the cluster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Topology on a single shard; properties distributed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966"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Audited analytical scale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solidFill>
                            <a:srgbClr val="0B16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Audited at every tested scale, to 10,000× our data volume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audited result at this benchmark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</a:tr>
              <a:tr h="359966"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Query expressiveness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solidFill>
                            <a:srgbClr val="0B16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Accumulators — path-aware aggregation in a single pass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Procedure chains or application-side loops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Vector and graph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solidFill>
                            <a:srgbClr val="0B16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Distributed index per partition, composable with traversal in one query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Vector index queried, then joined separately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</a:tr>
              <a:tr h="359966"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Multiple graphs, one dataset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solidFill>
                            <a:srgbClr val="0B16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Native — shared vertex types across named graphs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Separate databases; entities duplicated or federated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966"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Algorithm library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solidFill>
                            <a:srgbClr val="0B16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Open, customisable, distributed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Fixed procedures, single-machine projection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</a:tr>
              <a:tr h="359966"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Query language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solidFill>
                            <a:srgbClr val="0B16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GSQL — SQL-like syntax, familiar to existing developers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Cypher — a new paradigm, dedicated training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966"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GraphQL API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solidFill>
                            <a:srgbClr val="0B16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Served natively from the database — no resolver tier to build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Library generating a schema and resolvers you host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</a:tr>
              <a:tr h="359966"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Licence model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solidFill>
                            <a:srgbClr val="0B16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By data capacity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 core</a:t>
                      </a:r>
                      <a:endParaRPr lang="en-US" sz="96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2800" y="5203667"/>
            <a:ext cx="10566400" cy="638334"/>
          </a:xfrm>
          <a:prstGeom prst="roundRect">
            <a:avLst>
              <a:gd name="adj" fmla="val 13927"/>
            </a:avLst>
          </a:prstGeom>
          <a:solidFill>
            <a:srgbClr val="E4F1EE"/>
          </a:solidFill>
          <a:ln/>
        </p:spPr>
      </p:sp>
      <p:sp>
        <p:nvSpPr>
          <p:cNvPr id="6" name="Shape 3"/>
          <p:cNvSpPr/>
          <p:nvPr/>
        </p:nvSpPr>
        <p:spPr>
          <a:xfrm>
            <a:off x="812800" y="5203667"/>
            <a:ext cx="10566400" cy="638334"/>
          </a:xfrm>
          <a:custGeom>
            <a:avLst/>
            <a:gdLst/>
            <a:ahLst/>
            <a:cxnLst/>
            <a:rect l="l" t="t" r="r" b="b"/>
            <a:pathLst>
              <a:path w="10566400" h="638334">
                <a:moveTo>
                  <a:pt x="88900" y="638334"/>
                </a:moveTo>
                <a:lnTo>
                  <a:pt x="88900" y="638334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lnTo>
                  <a:pt x="88900" y="0"/>
                </a:lnTo>
                <a:arcTo wR="57150" hR="88900" stAng="16200000" swAng="-5400000"/>
                <a:lnTo>
                  <a:pt x="31750" y="549434"/>
                </a:lnTo>
                <a:arcTo wR="57150" hR="88900" stAng="10800000" swAng="-5400000"/>
                <a:close/>
              </a:path>
            </a:pathLst>
          </a:custGeom>
          <a:solidFill>
            <a:srgbClr val="10897A"/>
          </a:solidFill>
          <a:ln/>
        </p:spPr>
      </p:sp>
      <p:pic>
        <p:nvPicPr>
          <p:cNvPr id="7" name="Image 0" descr="Key"/>
          <p:cNvPicPr>
            <a:picLocks noChangeAspect="1"/>
          </p:cNvPicPr>
          <p:nvPr/>
        </p:nvPicPr>
        <p:blipFill>
          <a:blip r:embed="rId3"/>
          <a:srcRect l="-685" r="-685"/>
          <a:stretch/>
        </p:blipFill>
        <p:spPr>
          <a:xfrm>
            <a:off x="1046480" y="5402185"/>
            <a:ext cx="135176" cy="2413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34056" y="5291693"/>
            <a:ext cx="1013720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0B4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Licensing by </a:t>
            </a:r>
            <a:r>
              <a:rPr lang="en-US" sz="1300" b="1" dirty="0">
                <a:solidFill>
                  <a:srgbClr val="0B4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capacity</a:t>
            </a:r>
            <a:r>
              <a:rPr lang="en-US" sz="1300" dirty="0">
                <a:solidFill>
                  <a:srgbClr val="0B4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rather than per core means analytical headroom does not multiply the licence. Adding compute for month-end processing costs infrastructure, not licence — and the gap widens as cores are added.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12800" y="5971539"/>
            <a:ext cx="10883392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89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Aggregation-heavy, multi-tenant, and joining semantic retrieval to traversal — the stronger fit on capability and the more favourable model on cost.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53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62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TigerGraph capability to our use cases</a:t>
            </a:r>
            <a:endParaRPr lang="en-US" sz="162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774861"/>
          <a:ext cx="9928702" cy="4226560"/>
        </p:xfrm>
        <a:graphic>
          <a:graphicData uri="http://schemas.openxmlformats.org/drawingml/2006/table">
            <a:tbl>
              <a:tblPr/>
              <a:tblGrid>
                <a:gridCol w="3574333"/>
                <a:gridCol w="6354369"/>
              </a:tblGrid>
              <a:tr h="3251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6FD3C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Capability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9FB3B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it enables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6B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MPP execution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Firm-wide evaluation in one pass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6B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Deep traversal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Household discovery · book transfer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6B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Accumulators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Attribution · rule evaluation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6B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Hybrid vector + graph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Q&amp;A grounded in this client's holdings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6B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Ranking · similarity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Peer ranking · advisor cohorts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6B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Centrality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Influence networks · key clients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6B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Community detection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Household resolution · segmentation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6B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Link prediction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Cross-sell · churn · next best action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6B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Temporal · as-of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Client 360 on any date · suitability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6B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Path finding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Why a recommendation was made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6B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Anomaly detection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Fee leakage · variance outliers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6B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Pattern matching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Conflicting rules · orphan accounts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10891362" y="764701"/>
            <a:ext cx="487839" cy="5229701"/>
          </a:xfrm>
          <a:prstGeom prst="roundRect">
            <a:avLst>
              <a:gd name="adj" fmla="val 18223"/>
            </a:avLst>
          </a:prstGeom>
          <a:solidFill>
            <a:srgbClr val="0B1622"/>
          </a:solidFill>
          <a:ln/>
        </p:spPr>
      </p:sp>
      <p:sp>
        <p:nvSpPr>
          <p:cNvPr id="5" name="Text 2"/>
          <p:cNvSpPr/>
          <p:nvPr/>
        </p:nvSpPr>
        <p:spPr>
          <a:xfrm>
            <a:off x="11056462" y="929801"/>
            <a:ext cx="208439" cy="202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720" b="1" kern="0" spc="100" dirty="0">
                <a:solidFill>
                  <a:srgbClr val="D983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WORKED EXAMPLE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11056462" y="1195468"/>
            <a:ext cx="208439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dirty="0">
                <a:solidFill>
                  <a:srgbClr val="F5F8F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Where does this advisor rank against peers, and who moved most this quarter?</a:t>
            </a:r>
            <a:endParaRPr lang="en-US" sz="960" dirty="0"/>
          </a:p>
        </p:txBody>
      </p:sp>
      <p:sp>
        <p:nvSpPr>
          <p:cNvPr id="7" name="Text 4"/>
          <p:cNvSpPr/>
          <p:nvPr/>
        </p:nvSpPr>
        <p:spPr>
          <a:xfrm>
            <a:off x="11056462" y="1999298"/>
            <a:ext cx="208439" cy="593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32500" lnSpcReduction="20000"/>
          </a:bodyPr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20" b="1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Similarity</a:t>
            </a:r>
            <a:r>
              <a:rPr lang="en-US" sz="72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groups advisors into peer cohorts by book, tenure and product mix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11056462" y="2617946"/>
            <a:ext cx="208439" cy="545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20" b="1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Aggregation</a:t>
            </a:r>
            <a:r>
              <a:rPr lang="en-US" sz="72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computes credited revenue per advisor within cohort</a:t>
            </a:r>
            <a:endParaRPr lang="en-US" sz="720" dirty="0"/>
          </a:p>
        </p:txBody>
      </p:sp>
      <p:sp>
        <p:nvSpPr>
          <p:cNvPr id="9" name="Text 6"/>
          <p:cNvSpPr/>
          <p:nvPr/>
        </p:nvSpPr>
        <p:spPr>
          <a:xfrm>
            <a:off x="11056462" y="3189288"/>
            <a:ext cx="208439" cy="534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32500" lnSpcReduction="20000"/>
          </a:bodyPr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20" b="1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Ranking</a:t>
            </a:r>
            <a:r>
              <a:rPr lang="en-US" sz="72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assigns position and percentile inside each cohort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11056462" y="3748804"/>
            <a:ext cx="208439" cy="545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20" b="1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Temporal</a:t>
            </a:r>
            <a:r>
              <a:rPr lang="en-US" sz="72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comparison finds the largest quarter-on-quarter moves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11056462" y="4358246"/>
            <a:ext cx="254000" cy="1471057"/>
          </a:xfrm>
          <a:prstGeom prst="roundRect">
            <a:avLst>
              <a:gd name="adj" fmla="val 25000"/>
            </a:avLst>
          </a:prstGeom>
          <a:solidFill>
            <a:srgbClr val="2A1B0C"/>
          </a:solidFill>
          <a:ln/>
        </p:spPr>
      </p:sp>
      <p:sp>
        <p:nvSpPr>
          <p:cNvPr id="12" name="Text 9"/>
          <p:cNvSpPr/>
          <p:nvPr/>
        </p:nvSpPr>
        <p:spPr>
          <a:xfrm>
            <a:off x="11183462" y="4459846"/>
            <a:ext cx="50800" cy="1293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922"/>
              </a:lnSpc>
              <a:buNone/>
            </a:pPr>
            <a:r>
              <a:rPr lang="en-US" sz="720" b="1" dirty="0">
                <a:solidFill>
                  <a:srgbClr val="F0C9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algorithms · one query · no data leaves the database.</a:t>
            </a:r>
            <a:r>
              <a:rPr lang="en-US" sz="720" dirty="0">
                <a:solidFill>
                  <a:srgbClr val="F0C9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application receives a ranked list, not five thousand rows.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812800" y="6271264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089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Everything on the left ships with the engine. Everything on the right is a product decision.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6247731" cy="835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Temporal graph and context graph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030958" y="853442"/>
            <a:ext cx="4478689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makes agents auditable rather than merely fluent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12800" y="1576307"/>
            <a:ext cx="5207000" cy="4316492"/>
          </a:xfrm>
          <a:prstGeom prst="roundRect">
            <a:avLst>
              <a:gd name="adj" fmla="val 2060"/>
            </a:avLst>
          </a:prstGeom>
          <a:solidFill>
            <a:srgbClr val="F5F8F9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576307"/>
            <a:ext cx="5207000" cy="4316492"/>
          </a:xfrm>
          <a:custGeom>
            <a:avLst/>
            <a:gdLst/>
            <a:ahLst/>
            <a:cxnLst/>
            <a:rect l="l" t="t" r="r" b="b"/>
            <a:pathLst>
              <a:path w="5207000" h="4316492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18100" y="0"/>
                </a:lnTo>
                <a:arcTo wR="88900" hR="88900" stAng="16200000" swAng="5400000"/>
                <a:lnTo>
                  <a:pt x="5207000" y="88900"/>
                </a:lnTo>
                <a:arcTo wR="88900" hR="57150" stAng="0" swAng="-5400000"/>
                <a:lnTo>
                  <a:pt x="88900" y="31750"/>
                </a:lnTo>
                <a:arcTo wR="88900" hR="57150" stAng="16200000" swAng="-5400000"/>
                <a:close/>
              </a:path>
            </a:pathLst>
          </a:custGeom>
          <a:solidFill>
            <a:srgbClr val="10897A"/>
          </a:solidFill>
          <a:ln/>
        </p:spPr>
      </p:sp>
      <p:pic>
        <p:nvPicPr>
          <p:cNvPr id="6" name="Image 0" descr="Clo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16000" y="1788877"/>
            <a:ext cx="254000" cy="254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8900" y="1786334"/>
            <a:ext cx="289654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Temporal knowledge graph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16000" y="2123362"/>
            <a:ext cx="4944618" cy="257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9"/>
              </a:lnSpc>
              <a:buNone/>
            </a:pPr>
            <a:r>
              <a:rPr lang="en-US" sz="1335" dirty="0">
                <a:solidFill>
                  <a:srgbClr val="0B6B5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What was true, and when</a:t>
            </a:r>
            <a:endParaRPr lang="en-US" sz="1335" dirty="0"/>
          </a:p>
        </p:txBody>
      </p:sp>
      <p:sp>
        <p:nvSpPr>
          <p:cNvPr id="9" name="Text 6"/>
          <p:cNvSpPr/>
          <p:nvPr/>
        </p:nvSpPr>
        <p:spPr>
          <a:xfrm>
            <a:off x="1016000" y="2457450"/>
            <a:ext cx="4944618" cy="199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0"/>
              </a:lnSpc>
              <a:buNone/>
            </a:pPr>
            <a:r>
              <a:rPr lang="en-US" sz="979" b="1" dirty="0">
                <a:solidFill>
                  <a:srgbClr val="0B1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 it solves</a:t>
            </a:r>
            <a:endParaRPr lang="en-US" sz="979" dirty="0"/>
          </a:p>
        </p:txBody>
      </p:sp>
      <p:sp>
        <p:nvSpPr>
          <p:cNvPr id="10" name="Text 7"/>
          <p:cNvSpPr/>
          <p:nvPr/>
        </p:nvSpPr>
        <p:spPr>
          <a:xfrm>
            <a:off x="1016000" y="2733439"/>
            <a:ext cx="4944618" cy="1071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180023" indent="-148701" algn="l">
              <a:lnSpc>
                <a:spcPts val="1654"/>
              </a:lnSpc>
              <a:buSzPct val="100000"/>
              <a:buChar char="•"/>
            </a:pPr>
            <a:r>
              <a:rPr lang="en-US" sz="1181" i="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was I paid this in April?</a:t>
            </a:r>
            <a:r>
              <a:rPr lang="en-US" sz="118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plan, hierarchy and rule have all changed since</a:t>
            </a:r>
            <a:endParaRPr lang="en-US" sz="1181" dirty="0"/>
          </a:p>
          <a:p>
            <a:pPr marL="180023" indent="-148701" algn="l">
              <a:lnSpc>
                <a:spcPts val="1654"/>
              </a:lnSpc>
              <a:buSzPct val="100000"/>
              <a:buChar char="•"/>
            </a:pPr>
            <a:r>
              <a:rPr lang="en-US" sz="1181" i="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this recommendation suitable?</a:t>
            </a:r>
            <a:r>
              <a:rPr lang="en-US" sz="118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judged against the goal at the time, not today</a:t>
            </a:r>
            <a:endParaRPr lang="en-US" sz="1181" dirty="0"/>
          </a:p>
          <a:p>
            <a:pPr marL="180023" indent="-148701" algn="l">
              <a:lnSpc>
                <a:spcPts val="1654"/>
              </a:lnSpc>
              <a:buSzPct val="100000"/>
              <a:buChar char="•"/>
            </a:pPr>
            <a:r>
              <a:rPr lang="en-US" sz="1181" i="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did we know when we decided?</a:t>
            </a:r>
            <a:r>
              <a:rPr lang="en-US" sz="118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regulator's question</a:t>
            </a:r>
            <a:endParaRPr lang="en-US" sz="1181" dirty="0"/>
          </a:p>
        </p:txBody>
      </p:sp>
      <p:sp>
        <p:nvSpPr>
          <p:cNvPr id="11" name="Text 8"/>
          <p:cNvSpPr/>
          <p:nvPr/>
        </p:nvSpPr>
        <p:spPr>
          <a:xfrm>
            <a:off x="1016000" y="3881357"/>
            <a:ext cx="4944618" cy="199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0"/>
              </a:lnSpc>
              <a:buNone/>
            </a:pPr>
            <a:r>
              <a:rPr lang="en-US" sz="979" b="1" dirty="0">
                <a:solidFill>
                  <a:srgbClr val="0B1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gives us</a:t>
            </a:r>
            <a:endParaRPr lang="en-US" sz="979" dirty="0"/>
          </a:p>
        </p:txBody>
      </p:sp>
      <p:sp>
        <p:nvSpPr>
          <p:cNvPr id="12" name="Text 9"/>
          <p:cNvSpPr/>
          <p:nvPr/>
        </p:nvSpPr>
        <p:spPr>
          <a:xfrm>
            <a:off x="1016000" y="4157346"/>
            <a:ext cx="4944618" cy="722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0305" indent="-128165" algn="l">
              <a:lnSpc>
                <a:spcPts val="1381"/>
              </a:lnSpc>
              <a:buSzPct val="100000"/>
              <a:buChar char="•"/>
            </a:pPr>
            <a:r>
              <a:rPr lang="en-US" sz="986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360 as it stood on any date</a:t>
            </a:r>
            <a:endParaRPr lang="en-US" sz="986" dirty="0"/>
          </a:p>
          <a:p>
            <a:pPr marL="150305" indent="-128165" algn="l">
              <a:lnSpc>
                <a:spcPts val="1381"/>
              </a:lnSpc>
              <a:buSzPct val="100000"/>
              <a:buChar char="•"/>
            </a:pPr>
            <a:r>
              <a:rPr lang="en-US" sz="986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 and plan version in force when a payment was calculated</a:t>
            </a:r>
            <a:endParaRPr lang="en-US" sz="986" dirty="0"/>
          </a:p>
          <a:p>
            <a:pPr marL="150305" indent="-128165" algn="l">
              <a:lnSpc>
                <a:spcPts val="1381"/>
              </a:lnSpc>
              <a:buSzPct val="100000"/>
              <a:buChar char="•"/>
            </a:pPr>
            <a:r>
              <a:rPr lang="en-US" sz="986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 hierarchy as it existed on a given date</a:t>
            </a:r>
            <a:endParaRPr lang="en-US" sz="986" dirty="0"/>
          </a:p>
          <a:p>
            <a:pPr marL="150305" indent="-128165" algn="l">
              <a:lnSpc>
                <a:spcPts val="1381"/>
              </a:lnSpc>
              <a:buSzPct val="100000"/>
              <a:buChar char="•"/>
            </a:pPr>
            <a:r>
              <a:rPr lang="en-US" sz="986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Money-in-motion across rolling windows</a:t>
            </a:r>
            <a:endParaRPr lang="en-US" sz="986" dirty="0"/>
          </a:p>
        </p:txBody>
      </p:sp>
      <p:sp>
        <p:nvSpPr>
          <p:cNvPr id="13" name="Shape 10"/>
          <p:cNvSpPr/>
          <p:nvPr/>
        </p:nvSpPr>
        <p:spPr>
          <a:xfrm>
            <a:off x="1016000" y="4956491"/>
            <a:ext cx="4800600" cy="733108"/>
          </a:xfrm>
          <a:prstGeom prst="roundRect">
            <a:avLst>
              <a:gd name="adj" fmla="val 8662"/>
            </a:avLst>
          </a:prstGeom>
          <a:solidFill>
            <a:srgbClr val="E4F1EE"/>
          </a:solidFill>
          <a:ln/>
        </p:spPr>
      </p:sp>
      <p:sp>
        <p:nvSpPr>
          <p:cNvPr id="14" name="Text 11"/>
          <p:cNvSpPr/>
          <p:nvPr/>
        </p:nvSpPr>
        <p:spPr>
          <a:xfrm>
            <a:off x="1155700" y="5070791"/>
            <a:ext cx="4656836" cy="529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8"/>
              </a:lnSpc>
              <a:buNone/>
            </a:pPr>
            <a:r>
              <a:rPr lang="en-US" sz="1065" dirty="0">
                <a:solidFill>
                  <a:srgbClr val="0B4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Relationships carry validity periods, so one query asks for the graph </a:t>
            </a:r>
            <a:r>
              <a:rPr lang="en-US" sz="1065" b="1" dirty="0">
                <a:solidFill>
                  <a:srgbClr val="0B4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of</a:t>
            </a:r>
            <a:r>
              <a:rPr lang="en-US" sz="1065" dirty="0">
                <a:solidFill>
                  <a:srgbClr val="0B4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any date. Accumulators apply the filter while traversing, not after.</a:t>
            </a:r>
            <a:endParaRPr lang="en-US" sz="1065" dirty="0"/>
          </a:p>
        </p:txBody>
      </p:sp>
      <p:sp>
        <p:nvSpPr>
          <p:cNvPr id="15" name="Shape 12"/>
          <p:cNvSpPr/>
          <p:nvPr/>
        </p:nvSpPr>
        <p:spPr>
          <a:xfrm>
            <a:off x="6172200" y="1576307"/>
            <a:ext cx="5207000" cy="4316492"/>
          </a:xfrm>
          <a:prstGeom prst="roundRect">
            <a:avLst>
              <a:gd name="adj" fmla="val 2060"/>
            </a:avLst>
          </a:prstGeom>
          <a:solidFill>
            <a:srgbClr val="F5F8F9"/>
          </a:solidFill>
          <a:ln/>
        </p:spPr>
      </p:sp>
      <p:sp>
        <p:nvSpPr>
          <p:cNvPr id="16" name="Shape 13"/>
          <p:cNvSpPr/>
          <p:nvPr/>
        </p:nvSpPr>
        <p:spPr>
          <a:xfrm>
            <a:off x="6172200" y="1576307"/>
            <a:ext cx="5207000" cy="4316492"/>
          </a:xfrm>
          <a:custGeom>
            <a:avLst/>
            <a:gdLst/>
            <a:ahLst/>
            <a:cxnLst/>
            <a:rect l="l" t="t" r="r" b="b"/>
            <a:pathLst>
              <a:path w="5207000" h="4316492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5118100" y="0"/>
                </a:lnTo>
                <a:arcTo wR="88900" hR="88900" stAng="16200000" swAng="5400000"/>
                <a:lnTo>
                  <a:pt x="5207000" y="88900"/>
                </a:lnTo>
                <a:arcTo wR="88900" hR="57150" stAng="0" swAng="-5400000"/>
                <a:lnTo>
                  <a:pt x="88900" y="31750"/>
                </a:lnTo>
                <a:arcTo wR="88900" hR="57150" stAng="16200000" swAng="-5400000"/>
                <a:close/>
              </a:path>
            </a:pathLst>
          </a:custGeom>
          <a:solidFill>
            <a:srgbClr val="D98324"/>
          </a:solidFill>
          <a:ln/>
        </p:spPr>
      </p:sp>
      <p:pic>
        <p:nvPicPr>
          <p:cNvPr id="17" name="Image 1" descr="Boo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75400" y="1800938"/>
            <a:ext cx="254000" cy="2540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718300" y="1798402"/>
            <a:ext cx="156138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Context graph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6375400" y="2147491"/>
            <a:ext cx="4944618" cy="284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2"/>
              </a:lnSpc>
              <a:buNone/>
            </a:pPr>
            <a:r>
              <a:rPr lang="en-US" sz="1480" dirty="0">
                <a:solidFill>
                  <a:srgbClr val="B06A1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What the agent knows, and where it came from</a:t>
            </a:r>
            <a:endParaRPr lang="en-US" sz="1480" dirty="0"/>
          </a:p>
        </p:txBody>
      </p:sp>
      <p:sp>
        <p:nvSpPr>
          <p:cNvPr id="20" name="Text 16"/>
          <p:cNvSpPr/>
          <p:nvPr/>
        </p:nvSpPr>
        <p:spPr>
          <a:xfrm>
            <a:off x="6375400" y="2508095"/>
            <a:ext cx="4944618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70"/>
              </a:lnSpc>
              <a:buNone/>
            </a:pPr>
            <a:r>
              <a:rPr lang="en-US" sz="1121" b="1" dirty="0">
                <a:solidFill>
                  <a:srgbClr val="0B1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 it solves</a:t>
            </a:r>
            <a:endParaRPr lang="en-US" sz="1121" dirty="0"/>
          </a:p>
        </p:txBody>
      </p:sp>
      <p:sp>
        <p:nvSpPr>
          <p:cNvPr id="21" name="Text 17"/>
          <p:cNvSpPr/>
          <p:nvPr/>
        </p:nvSpPr>
        <p:spPr>
          <a:xfrm>
            <a:off x="6375400" y="2804002"/>
            <a:ext cx="4944618" cy="802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6307" indent="-141665" algn="l">
              <a:lnSpc>
                <a:spcPts val="1528"/>
              </a:lnSpc>
              <a:buSzPct val="100000"/>
              <a:buChar char="•"/>
            </a:pPr>
            <a:r>
              <a:rPr lang="en-US" sz="109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that forget what was already discussed</a:t>
            </a:r>
            <a:endParaRPr lang="en-US" sz="1091" dirty="0"/>
          </a:p>
          <a:p>
            <a:pPr marL="166307" indent="-141665" algn="l">
              <a:lnSpc>
                <a:spcPts val="1528"/>
              </a:lnSpc>
              <a:buSzPct val="100000"/>
              <a:buChar char="•"/>
            </a:pPr>
            <a:r>
              <a:rPr lang="en-US" sz="109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 that ignore prior decisions and outcomes</a:t>
            </a:r>
            <a:endParaRPr lang="en-US" sz="1091" dirty="0"/>
          </a:p>
          <a:p>
            <a:pPr marL="166307" indent="-141665" algn="l">
              <a:lnSpc>
                <a:spcPts val="1528"/>
              </a:lnSpc>
              <a:buSzPct val="100000"/>
              <a:buChar char="•"/>
            </a:pPr>
            <a:r>
              <a:rPr lang="en-US" sz="109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Coaching that repeats advice already rejected</a:t>
            </a:r>
            <a:endParaRPr lang="en-US" sz="1091" dirty="0"/>
          </a:p>
          <a:p>
            <a:pPr marL="166307" indent="-141665" algn="l">
              <a:lnSpc>
                <a:spcPts val="1528"/>
              </a:lnSpc>
              <a:buSzPct val="100000"/>
              <a:buChar char="•"/>
            </a:pPr>
            <a:r>
              <a:rPr lang="en-US" sz="109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way to show why the agent said what it said</a:t>
            </a:r>
            <a:endParaRPr lang="en-US" sz="1091" dirty="0"/>
          </a:p>
        </p:txBody>
      </p:sp>
      <p:sp>
        <p:nvSpPr>
          <p:cNvPr id="22" name="Text 18"/>
          <p:cNvSpPr/>
          <p:nvPr/>
        </p:nvSpPr>
        <p:spPr>
          <a:xfrm>
            <a:off x="6375400" y="3682684"/>
            <a:ext cx="4944618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70"/>
              </a:lnSpc>
              <a:buNone/>
            </a:pPr>
            <a:r>
              <a:rPr lang="en-US" sz="1121" b="1" dirty="0">
                <a:solidFill>
                  <a:srgbClr val="0B1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memory types, linked</a:t>
            </a:r>
            <a:endParaRPr lang="en-US" sz="1121" dirty="0"/>
          </a:p>
        </p:txBody>
      </p:sp>
      <p:sp>
        <p:nvSpPr>
          <p:cNvPr id="23" name="Shape 19"/>
          <p:cNvSpPr/>
          <p:nvPr/>
        </p:nvSpPr>
        <p:spPr>
          <a:xfrm>
            <a:off x="6375400" y="3978591"/>
            <a:ext cx="1156891" cy="314960"/>
          </a:xfrm>
          <a:prstGeom prst="roundRect">
            <a:avLst>
              <a:gd name="adj" fmla="val 16129"/>
            </a:avLst>
          </a:prstGeom>
          <a:solidFill>
            <a:srgbClr val="FBF0E2"/>
          </a:solidFill>
          <a:ln/>
        </p:spPr>
      </p:sp>
      <p:sp>
        <p:nvSpPr>
          <p:cNvPr id="24" name="Text 20"/>
          <p:cNvSpPr/>
          <p:nvPr/>
        </p:nvSpPr>
        <p:spPr>
          <a:xfrm>
            <a:off x="6477000" y="4029391"/>
            <a:ext cx="10044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55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7595791" y="3978591"/>
            <a:ext cx="872807" cy="314960"/>
          </a:xfrm>
          <a:prstGeom prst="roundRect">
            <a:avLst>
              <a:gd name="adj" fmla="val 16129"/>
            </a:avLst>
          </a:prstGeom>
          <a:solidFill>
            <a:srgbClr val="FBF0E2"/>
          </a:solidFill>
          <a:ln/>
        </p:spPr>
      </p:sp>
      <p:sp>
        <p:nvSpPr>
          <p:cNvPr id="26" name="Text 22"/>
          <p:cNvSpPr/>
          <p:nvPr/>
        </p:nvSpPr>
        <p:spPr>
          <a:xfrm>
            <a:off x="7697391" y="4029391"/>
            <a:ext cx="72040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55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8532099" y="3978591"/>
            <a:ext cx="814149" cy="314960"/>
          </a:xfrm>
          <a:prstGeom prst="roundRect">
            <a:avLst>
              <a:gd name="adj" fmla="val 16129"/>
            </a:avLst>
          </a:prstGeom>
          <a:solidFill>
            <a:srgbClr val="FBF0E2"/>
          </a:solidFill>
          <a:ln/>
        </p:spPr>
      </p:sp>
      <p:sp>
        <p:nvSpPr>
          <p:cNvPr id="28" name="Text 24"/>
          <p:cNvSpPr/>
          <p:nvPr/>
        </p:nvSpPr>
        <p:spPr>
          <a:xfrm>
            <a:off x="8633699" y="4029391"/>
            <a:ext cx="6617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55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Episodic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9409747" y="3978591"/>
            <a:ext cx="985996" cy="314960"/>
          </a:xfrm>
          <a:prstGeom prst="roundRect">
            <a:avLst>
              <a:gd name="adj" fmla="val 16129"/>
            </a:avLst>
          </a:prstGeom>
          <a:solidFill>
            <a:srgbClr val="FBF0E2"/>
          </a:solidFill>
          <a:ln/>
        </p:spPr>
      </p:sp>
      <p:sp>
        <p:nvSpPr>
          <p:cNvPr id="30" name="Text 26"/>
          <p:cNvSpPr/>
          <p:nvPr/>
        </p:nvSpPr>
        <p:spPr>
          <a:xfrm>
            <a:off x="9511347" y="4029391"/>
            <a:ext cx="8335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55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Procedural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375400" y="4357055"/>
            <a:ext cx="994728" cy="314960"/>
          </a:xfrm>
          <a:prstGeom prst="roundRect">
            <a:avLst>
              <a:gd name="adj" fmla="val 16129"/>
            </a:avLst>
          </a:prstGeom>
          <a:solidFill>
            <a:srgbClr val="FBF0E2"/>
          </a:solidFill>
          <a:ln/>
        </p:spPr>
      </p:sp>
      <p:sp>
        <p:nvSpPr>
          <p:cNvPr id="32" name="Text 28"/>
          <p:cNvSpPr/>
          <p:nvPr/>
        </p:nvSpPr>
        <p:spPr>
          <a:xfrm>
            <a:off x="6477000" y="4407855"/>
            <a:ext cx="8423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55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Preference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6375400" y="4711619"/>
            <a:ext cx="4800600" cy="977979"/>
          </a:xfrm>
          <a:prstGeom prst="roundRect">
            <a:avLst>
              <a:gd name="adj" fmla="val 6493"/>
            </a:avLst>
          </a:prstGeom>
          <a:solidFill>
            <a:srgbClr val="FBF0E2"/>
          </a:solidFill>
          <a:ln/>
        </p:spPr>
      </p:sp>
      <p:sp>
        <p:nvSpPr>
          <p:cNvPr id="34" name="Text 30"/>
          <p:cNvSpPr/>
          <p:nvPr/>
        </p:nvSpPr>
        <p:spPr>
          <a:xfrm>
            <a:off x="6515100" y="4825919"/>
            <a:ext cx="4656836" cy="774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8"/>
              </a:lnSpc>
              <a:buNone/>
            </a:pPr>
            <a:r>
              <a:rPr lang="en-US" sz="1095" dirty="0">
                <a:solidFill>
                  <a:srgbClr val="8A55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is useful only when linked — this fact came from that interaction, superseded this one, applies to that household. A vector store holds memories side by side with </a:t>
            </a:r>
            <a:r>
              <a:rPr lang="en-US" sz="1095" b="1" dirty="0">
                <a:solidFill>
                  <a:srgbClr val="8A55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relationship between them</a:t>
            </a:r>
            <a:r>
              <a:rPr lang="en-US" sz="1095" dirty="0">
                <a:solidFill>
                  <a:srgbClr val="8A55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95" dirty="0"/>
          </a:p>
        </p:txBody>
      </p:sp>
      <p:sp>
        <p:nvSpPr>
          <p:cNvPr id="35" name="Text 31"/>
          <p:cNvSpPr/>
          <p:nvPr/>
        </p:nvSpPr>
        <p:spPr>
          <a:xfrm>
            <a:off x="812800" y="6211571"/>
            <a:ext cx="1088339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89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Temporal answers </a:t>
            </a:r>
            <a:r>
              <a:rPr lang="en-US" sz="1350" b="1" i="1" dirty="0">
                <a:solidFill>
                  <a:srgbClr val="1089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when</a:t>
            </a:r>
            <a:r>
              <a:rPr lang="en-US" sz="1350" b="1" dirty="0">
                <a:solidFill>
                  <a:srgbClr val="1089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 Context answers </a:t>
            </a:r>
            <a:r>
              <a:rPr lang="en-US" sz="1350" b="1" i="1" dirty="0">
                <a:solidFill>
                  <a:srgbClr val="1089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</a:t>
            </a:r>
            <a:r>
              <a:rPr lang="en-US" sz="1350" b="1" dirty="0">
                <a:solidFill>
                  <a:srgbClr val="1089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 Together they turn a fluent assistant into an auditable one.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4403C"/>
              </a:gs>
              <a:gs pos="60000">
                <a:srgbClr val="0B1622"/>
              </a:gs>
            </a:gsLst>
            <a:path path="circle">
              <a:fillToRect l="15000" t="90000" r="85000" b="1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439840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5F8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 and performance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35496" y="970279"/>
            <a:ext cx="443871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where the data is going, not where it is today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12800" y="1435100"/>
            <a:ext cx="2413000" cy="2901315"/>
          </a:xfrm>
          <a:prstGeom prst="roundRect">
            <a:avLst>
              <a:gd name="adj" fmla="val 3684"/>
            </a:avLst>
          </a:prstGeom>
          <a:solidFill>
            <a:srgbClr val="142639"/>
          </a:solidFill>
          <a:ln/>
        </p:spPr>
      </p:sp>
      <p:sp>
        <p:nvSpPr>
          <p:cNvPr id="6" name="Text 4"/>
          <p:cNvSpPr/>
          <p:nvPr/>
        </p:nvSpPr>
        <p:spPr>
          <a:xfrm>
            <a:off x="1003300" y="1625600"/>
            <a:ext cx="2092960" cy="21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kern="0" spc="150" dirty="0">
                <a:solidFill>
                  <a:srgbClr val="6FD3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WE ARE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03300" y="1888492"/>
            <a:ext cx="209296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dirty="0">
                <a:solidFill>
                  <a:srgbClr val="F5F8F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40M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03300" y="2371092"/>
            <a:ext cx="20929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vertices · 104M edges</a:t>
            </a:r>
            <a:endParaRPr lang="en-US" sz="1200" dirty="0"/>
          </a:p>
        </p:txBody>
      </p:sp>
      <p:pic>
        <p:nvPicPr>
          <p:cNvPr id="9" name="Image 0" descr="line"/>
          <p:cNvPicPr>
            <a:picLocks noChangeAspect="1"/>
          </p:cNvPicPr>
          <p:nvPr/>
        </p:nvPicPr>
        <p:blipFill>
          <a:blip r:embed="rId3"/>
          <a:srcRect l="-12500" r="-12500"/>
          <a:stretch/>
        </p:blipFill>
        <p:spPr>
          <a:xfrm>
            <a:off x="1003300" y="2660650"/>
            <a:ext cx="1905000" cy="101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3300" y="2747014"/>
            <a:ext cx="20929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12.4M transactions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3300" y="3036571"/>
            <a:ext cx="20929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Three-month window</a:t>
            </a:r>
            <a:endParaRPr lang="en-US" sz="1200" dirty="0"/>
          </a:p>
        </p:txBody>
      </p:sp>
      <p:pic>
        <p:nvPicPr>
          <p:cNvPr id="12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41700" y="2733359"/>
            <a:ext cx="609600" cy="3048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267200" y="1435100"/>
            <a:ext cx="2413000" cy="2901315"/>
          </a:xfrm>
          <a:prstGeom prst="roundRect">
            <a:avLst>
              <a:gd name="adj" fmla="val 3684"/>
            </a:avLst>
          </a:prstGeom>
          <a:solidFill>
            <a:srgbClr val="2A1B0C"/>
          </a:solidFill>
          <a:ln/>
        </p:spPr>
      </p:sp>
      <p:sp>
        <p:nvSpPr>
          <p:cNvPr id="14" name="Text 10"/>
          <p:cNvSpPr/>
          <p:nvPr/>
        </p:nvSpPr>
        <p:spPr>
          <a:xfrm>
            <a:off x="4457700" y="1625600"/>
            <a:ext cx="2092960" cy="21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kern="0" spc="150" dirty="0">
                <a:solidFill>
                  <a:srgbClr val="F0C99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IT GOES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457700" y="1888492"/>
            <a:ext cx="209296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Billions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4457700" y="2371092"/>
            <a:ext cx="20929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9C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records</a:t>
            </a:r>
            <a:endParaRPr lang="en-US" sz="1200" dirty="0"/>
          </a:p>
        </p:txBody>
      </p:sp>
      <p:pic>
        <p:nvPicPr>
          <p:cNvPr id="17" name="Image 2" descr="line"/>
          <p:cNvPicPr>
            <a:picLocks noChangeAspect="1"/>
          </p:cNvPicPr>
          <p:nvPr/>
        </p:nvPicPr>
        <p:blipFill>
          <a:blip r:embed="rId5"/>
          <a:srcRect l="-12500" r="-12500"/>
          <a:stretch/>
        </p:blipFill>
        <p:spPr>
          <a:xfrm>
            <a:off x="4457700" y="2660650"/>
            <a:ext cx="1905000" cy="101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57700" y="2747014"/>
            <a:ext cx="209296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9C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history, all business lines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457700" y="3249929"/>
            <a:ext cx="20929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9C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Multi-year retention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819900" y="1435100"/>
            <a:ext cx="4559300" cy="2901315"/>
          </a:xfrm>
          <a:prstGeom prst="roundRect">
            <a:avLst>
              <a:gd name="adj" fmla="val 3064"/>
            </a:avLst>
          </a:prstGeom>
          <a:solidFill>
            <a:srgbClr val="142639"/>
          </a:solidFill>
          <a:ln/>
        </p:spPr>
      </p:sp>
      <p:sp>
        <p:nvSpPr>
          <p:cNvPr id="21" name="Shape 16"/>
          <p:cNvSpPr/>
          <p:nvPr/>
        </p:nvSpPr>
        <p:spPr>
          <a:xfrm>
            <a:off x="6819900" y="1435100"/>
            <a:ext cx="4559300" cy="2901315"/>
          </a:xfrm>
          <a:custGeom>
            <a:avLst/>
            <a:gdLst/>
            <a:ahLst/>
            <a:cxnLst/>
            <a:rect l="l" t="t" r="r" b="b"/>
            <a:pathLst>
              <a:path w="4559300" h="2901315">
                <a:moveTo>
                  <a:pt x="88900" y="2901315"/>
                </a:moveTo>
                <a:lnTo>
                  <a:pt x="88900" y="2901315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lnTo>
                  <a:pt x="88900" y="0"/>
                </a:lnTo>
                <a:arcTo wR="57150" hR="88900" stAng="16200000" swAng="-5400000"/>
                <a:lnTo>
                  <a:pt x="31750" y="2812415"/>
                </a:lnTo>
                <a:arcTo wR="57150" hR="88900" stAng="10800000" swAng="-5400000"/>
                <a:close/>
              </a:path>
            </a:pathLst>
          </a:custGeom>
          <a:solidFill>
            <a:srgbClr val="10897A"/>
          </a:solidFill>
          <a:ln/>
        </p:spPr>
      </p:sp>
      <p:sp>
        <p:nvSpPr>
          <p:cNvPr id="22" name="Text 17"/>
          <p:cNvSpPr/>
          <p:nvPr/>
        </p:nvSpPr>
        <p:spPr>
          <a:xfrm>
            <a:off x="7040880" y="1625600"/>
            <a:ext cx="4272255" cy="21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kern="0" spc="150" dirty="0">
                <a:solidFill>
                  <a:srgbClr val="6FD3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THE ENGINE HAS DEMONSTRATED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7040880" y="1901192"/>
            <a:ext cx="4272255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F5F8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Independently audited</a:t>
            </a:r>
            <a:r>
              <a:rPr lang="en-US" sz="1300" dirty="0">
                <a:solidFill>
                  <a:srgbClr val="F5F8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 every published scale — to </a:t>
            </a:r>
            <a:r>
              <a:rPr lang="en-US" sz="1300" b="1" dirty="0">
                <a:solidFill>
                  <a:srgbClr val="F5F8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10,000×</a:t>
            </a:r>
            <a:r>
              <a:rPr lang="en-US" sz="1300" dirty="0">
                <a:solidFill>
                  <a:srgbClr val="F5F8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our data volume. The only graph database with audited results at this benchmark.</a:t>
            </a:r>
            <a:endParaRPr lang="en-US" sz="1300" dirty="0"/>
          </a:p>
        </p:txBody>
      </p:sp>
      <p:pic>
        <p:nvPicPr>
          <p:cNvPr id="24" name="Image 3" descr="line"/>
          <p:cNvPicPr>
            <a:picLocks noChangeAspect="1"/>
          </p:cNvPicPr>
          <p:nvPr/>
        </p:nvPicPr>
        <p:blipFill>
          <a:blip r:embed="rId6"/>
          <a:srcRect l="-12520" r="-12520"/>
          <a:stretch/>
        </p:blipFill>
        <p:spPr>
          <a:xfrm>
            <a:off x="7040880" y="2658746"/>
            <a:ext cx="4147820" cy="101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40880" y="2757804"/>
            <a:ext cx="4272255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F5F8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72.6 billion vertices · 539.6 billion edges · 36 TB</a:t>
            </a:r>
            <a:r>
              <a:rPr lang="en-US" sz="1300" dirty="0">
                <a:solidFill>
                  <a:srgbClr val="F5F8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a 40-machine cluster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040880" y="3292475"/>
            <a:ext cx="4272255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Half of complex analytical queries completed </a:t>
            </a:r>
            <a:r>
              <a:rPr lang="en-US" sz="1200" b="1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one minute</a:t>
            </a:r>
            <a:endParaRPr lang="en-US" sz="1200" dirty="0"/>
          </a:p>
          <a:p>
            <a:pPr marL="182880" indent="-14884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remainder in one to eight minutes</a:t>
            </a:r>
            <a:endParaRPr lang="en-US" sz="1200" dirty="0"/>
          </a:p>
          <a:p>
            <a:pPr marL="182880" indent="-14884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Roughly </a:t>
            </a:r>
            <a:r>
              <a:rPr lang="en-US" sz="1200" b="1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1,800×</a:t>
            </a:r>
            <a:r>
              <a:rPr lang="en-US" sz="1200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our current data volume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812800" y="4539617"/>
            <a:ext cx="2555875" cy="922655"/>
          </a:xfrm>
          <a:prstGeom prst="roundRect">
            <a:avLst>
              <a:gd name="adj" fmla="val 8259"/>
            </a:avLst>
          </a:prstGeom>
          <a:solidFill>
            <a:srgbClr val="142639"/>
          </a:solidFill>
          <a:ln/>
        </p:spPr>
      </p:sp>
      <p:sp>
        <p:nvSpPr>
          <p:cNvPr id="28" name="Text 22"/>
          <p:cNvSpPr/>
          <p:nvPr/>
        </p:nvSpPr>
        <p:spPr>
          <a:xfrm>
            <a:off x="977900" y="4679317"/>
            <a:ext cx="2292445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6FD3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Parallel by default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977900" y="4928239"/>
            <a:ext cx="2292445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query executes across all partitions simultaneously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3482975" y="4539617"/>
            <a:ext cx="2555875" cy="922655"/>
          </a:xfrm>
          <a:prstGeom prst="roundRect">
            <a:avLst>
              <a:gd name="adj" fmla="val 8259"/>
            </a:avLst>
          </a:prstGeom>
          <a:solidFill>
            <a:srgbClr val="142639"/>
          </a:solidFill>
          <a:ln/>
        </p:spPr>
      </p:sp>
      <p:sp>
        <p:nvSpPr>
          <p:cNvPr id="31" name="Text 25"/>
          <p:cNvSpPr/>
          <p:nvPr/>
        </p:nvSpPr>
        <p:spPr>
          <a:xfrm>
            <a:off x="3648075" y="4679317"/>
            <a:ext cx="2292445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6FD3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 by adding machines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3648075" y="4928239"/>
            <a:ext cx="2292445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Repartitioning is an online operation, not a migration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6153150" y="4539617"/>
            <a:ext cx="2555875" cy="922655"/>
          </a:xfrm>
          <a:prstGeom prst="roundRect">
            <a:avLst>
              <a:gd name="adj" fmla="val 8259"/>
            </a:avLst>
          </a:prstGeom>
          <a:solidFill>
            <a:srgbClr val="142639"/>
          </a:solidFill>
          <a:ln/>
        </p:spPr>
      </p:sp>
      <p:sp>
        <p:nvSpPr>
          <p:cNvPr id="34" name="Text 28"/>
          <p:cNvSpPr/>
          <p:nvPr/>
        </p:nvSpPr>
        <p:spPr>
          <a:xfrm>
            <a:off x="6318250" y="4679317"/>
            <a:ext cx="2292445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6FD3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Compression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6318250" y="4928239"/>
            <a:ext cx="2292445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stored graph is typically smaller than the raw input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8823325" y="4539617"/>
            <a:ext cx="2555875" cy="922655"/>
          </a:xfrm>
          <a:prstGeom prst="roundRect">
            <a:avLst>
              <a:gd name="adj" fmla="val 8259"/>
            </a:avLst>
          </a:prstGeom>
          <a:solidFill>
            <a:srgbClr val="142639"/>
          </a:solidFill>
          <a:ln/>
        </p:spPr>
      </p:sp>
      <p:sp>
        <p:nvSpPr>
          <p:cNvPr id="37" name="Text 31"/>
          <p:cNvSpPr/>
          <p:nvPr/>
        </p:nvSpPr>
        <p:spPr>
          <a:xfrm>
            <a:off x="8988425" y="4679317"/>
            <a:ext cx="2292445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6FD3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Workload separation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8988425" y="4928239"/>
            <a:ext cx="2292445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 queries and firm-wide batch on separate capacity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812800" y="5989321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today's volume a modest cluster is sufficient. The reason to choose this engine is that the </a:t>
            </a:r>
            <a:r>
              <a:rPr lang="en-US" sz="1300" b="1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architecture still holds at a thousand times the data</a:t>
            </a:r>
            <a:r>
              <a:rPr lang="en-US" sz="1300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2775543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Cost comparison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47202" y="690879"/>
            <a:ext cx="78422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Enterprise, self-managed on AWS · every figure below is published by the vendor or arithmetic from it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12800" y="956946"/>
            <a:ext cx="2555875" cy="853440"/>
          </a:xfrm>
          <a:prstGeom prst="roundRect">
            <a:avLst>
              <a:gd name="adj" fmla="val 10417"/>
            </a:avLst>
          </a:prstGeom>
          <a:solidFill>
            <a:srgbClr val="E4F1EE"/>
          </a:solidFill>
          <a:ln/>
        </p:spPr>
      </p:sp>
      <p:sp>
        <p:nvSpPr>
          <p:cNvPr id="5" name="Text 3"/>
          <p:cNvSpPr/>
          <p:nvPr/>
        </p:nvSpPr>
        <p:spPr>
          <a:xfrm>
            <a:off x="977900" y="1096646"/>
            <a:ext cx="2292445" cy="398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970" dirty="0">
                <a:solidFill>
                  <a:srgbClr val="0B6B5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30%</a:t>
            </a:r>
            <a:endParaRPr lang="en-US" sz="2970" dirty="0"/>
          </a:p>
        </p:txBody>
      </p:sp>
      <p:sp>
        <p:nvSpPr>
          <p:cNvPr id="6" name="Text 4"/>
          <p:cNvSpPr/>
          <p:nvPr/>
        </p:nvSpPr>
        <p:spPr>
          <a:xfrm>
            <a:off x="977900" y="1495586"/>
            <a:ext cx="2292445" cy="200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0"/>
              </a:lnSpc>
              <a:buNone/>
            </a:pPr>
            <a:r>
              <a:rPr lang="en-US" sz="1136" dirty="0">
                <a:solidFill>
                  <a:srgbClr val="0B4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list rate, standard tier</a:t>
            </a:r>
            <a:endParaRPr lang="en-US" sz="1136" dirty="0"/>
          </a:p>
        </p:txBody>
      </p:sp>
      <p:sp>
        <p:nvSpPr>
          <p:cNvPr id="7" name="Shape 5"/>
          <p:cNvSpPr/>
          <p:nvPr/>
        </p:nvSpPr>
        <p:spPr>
          <a:xfrm>
            <a:off x="3482975" y="956946"/>
            <a:ext cx="2555875" cy="853440"/>
          </a:xfrm>
          <a:prstGeom prst="roundRect">
            <a:avLst>
              <a:gd name="adj" fmla="val 10417"/>
            </a:avLst>
          </a:prstGeom>
          <a:solidFill>
            <a:srgbClr val="E4F1EE"/>
          </a:solidFill>
          <a:ln/>
        </p:spPr>
      </p:sp>
      <p:sp>
        <p:nvSpPr>
          <p:cNvPr id="8" name="Text 6"/>
          <p:cNvSpPr/>
          <p:nvPr/>
        </p:nvSpPr>
        <p:spPr>
          <a:xfrm>
            <a:off x="3648075" y="1096646"/>
            <a:ext cx="2292445" cy="398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970" dirty="0">
                <a:solidFill>
                  <a:srgbClr val="0B6B5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13%</a:t>
            </a:r>
            <a:endParaRPr lang="en-US" sz="2970" dirty="0"/>
          </a:p>
        </p:txBody>
      </p:sp>
      <p:sp>
        <p:nvSpPr>
          <p:cNvPr id="9" name="Text 7"/>
          <p:cNvSpPr/>
          <p:nvPr/>
        </p:nvSpPr>
        <p:spPr>
          <a:xfrm>
            <a:off x="3648075" y="1495586"/>
            <a:ext cx="2292445" cy="200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0"/>
              </a:lnSpc>
              <a:buNone/>
            </a:pPr>
            <a:r>
              <a:rPr lang="en-US" sz="1136" dirty="0">
                <a:solidFill>
                  <a:srgbClr val="0B4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list rate, high availability</a:t>
            </a:r>
            <a:endParaRPr lang="en-US" sz="1136" dirty="0"/>
          </a:p>
        </p:txBody>
      </p:sp>
      <p:sp>
        <p:nvSpPr>
          <p:cNvPr id="10" name="Shape 8"/>
          <p:cNvSpPr/>
          <p:nvPr/>
        </p:nvSpPr>
        <p:spPr>
          <a:xfrm>
            <a:off x="6153150" y="956946"/>
            <a:ext cx="2555875" cy="853440"/>
          </a:xfrm>
          <a:prstGeom prst="roundRect">
            <a:avLst>
              <a:gd name="adj" fmla="val 10417"/>
            </a:avLst>
          </a:prstGeom>
          <a:solidFill>
            <a:srgbClr val="FBF0E2"/>
          </a:solidFill>
          <a:ln/>
        </p:spPr>
      </p:sp>
      <p:sp>
        <p:nvSpPr>
          <p:cNvPr id="11" name="Text 9"/>
          <p:cNvSpPr/>
          <p:nvPr/>
        </p:nvSpPr>
        <p:spPr>
          <a:xfrm>
            <a:off x="6318250" y="1096646"/>
            <a:ext cx="2292445" cy="30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2270" dirty="0">
                <a:solidFill>
                  <a:srgbClr val="8A551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8×</a:t>
            </a:r>
            <a:endParaRPr lang="en-US" sz="2270" dirty="0"/>
          </a:p>
        </p:txBody>
      </p:sp>
      <p:sp>
        <p:nvSpPr>
          <p:cNvPr id="12" name="Text 10"/>
          <p:cNvSpPr/>
          <p:nvPr/>
        </p:nvSpPr>
        <p:spPr>
          <a:xfrm>
            <a:off x="6318250" y="1405179"/>
            <a:ext cx="2292445" cy="290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2"/>
              </a:lnSpc>
              <a:buNone/>
            </a:pPr>
            <a:r>
              <a:rPr lang="en-US" sz="1121" dirty="0">
                <a:solidFill>
                  <a:srgbClr val="8A55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published capacity ceiling</a:t>
            </a:r>
            <a:endParaRPr lang="en-US" sz="1121" dirty="0"/>
          </a:p>
        </p:txBody>
      </p:sp>
      <p:sp>
        <p:nvSpPr>
          <p:cNvPr id="13" name="Shape 11"/>
          <p:cNvSpPr/>
          <p:nvPr/>
        </p:nvSpPr>
        <p:spPr>
          <a:xfrm>
            <a:off x="8823325" y="956946"/>
            <a:ext cx="2555875" cy="853440"/>
          </a:xfrm>
          <a:prstGeom prst="roundRect">
            <a:avLst>
              <a:gd name="adj" fmla="val 10417"/>
            </a:avLst>
          </a:prstGeom>
          <a:solidFill>
            <a:srgbClr val="F5F8F9"/>
          </a:solidFill>
          <a:ln/>
        </p:spPr>
      </p:sp>
      <p:sp>
        <p:nvSpPr>
          <p:cNvPr id="14" name="Text 12"/>
          <p:cNvSpPr/>
          <p:nvPr/>
        </p:nvSpPr>
        <p:spPr>
          <a:xfrm>
            <a:off x="8988425" y="1096646"/>
            <a:ext cx="2292445" cy="30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2270" dirty="0">
                <a:solidFill>
                  <a:srgbClr val="5C6B7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0%</a:t>
            </a:r>
            <a:endParaRPr lang="en-US" sz="2270" dirty="0"/>
          </a:p>
        </p:txBody>
      </p:sp>
      <p:sp>
        <p:nvSpPr>
          <p:cNvPr id="15" name="Text 13"/>
          <p:cNvSpPr/>
          <p:nvPr/>
        </p:nvSpPr>
        <p:spPr>
          <a:xfrm>
            <a:off x="8988425" y="1405179"/>
            <a:ext cx="2292445" cy="290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56"/>
              </a:lnSpc>
              <a:buNone/>
            </a:pPr>
            <a:r>
              <a:rPr lang="en-US" sz="1005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difference in AWS infrastructure cost</a:t>
            </a:r>
            <a:endParaRPr lang="en-US" sz="1005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34849"/>
          <a:ext cx="10556241" cy="1978818"/>
        </p:xfrm>
        <a:graphic>
          <a:graphicData uri="http://schemas.openxmlformats.org/drawingml/2006/table">
            <a:tbl>
              <a:tblPr/>
              <a:tblGrid>
                <a:gridCol w="3377997"/>
                <a:gridCol w="3589122"/>
                <a:gridCol w="3589122"/>
              </a:tblGrid>
              <a:tr h="329803">
                <a:tc>
                  <a:txBody>
                    <a:bodyPr/>
                    <a:lstStyle/>
                    <a:p>
                      <a:pPr marL="0" indent="0">
                        <a:lnSpc>
                          <a:spcPts val="1517"/>
                        </a:lnSpc>
                        <a:buNone/>
                      </a:pPr>
                      <a:r>
                        <a:rPr lang="en-US" sz="1084" b="1" dirty="0">
                          <a:solidFill>
                            <a:srgbClr val="9FB3B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Published by the vendor</a:t>
                      </a:r>
                      <a:endParaRPr lang="en-US" sz="108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17"/>
                        </a:lnSpc>
                        <a:buNone/>
                      </a:pPr>
                      <a:r>
                        <a:rPr lang="en-US" sz="1084" b="1" dirty="0">
                          <a:solidFill>
                            <a:srgbClr val="6FD3C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TigerGraph</a:t>
                      </a:r>
                      <a:endParaRPr lang="en-US" sz="108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17"/>
                        </a:lnSpc>
                        <a:buNone/>
                      </a:pPr>
                      <a:r>
                        <a:rPr lang="en-US" sz="1084" b="1" dirty="0">
                          <a:solidFill>
                            <a:srgbClr val="9FB3B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Neo4j</a:t>
                      </a:r>
                      <a:endParaRPr lang="en-US" sz="108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329803">
                <a:tc>
                  <a:txBody>
                    <a:bodyPr/>
                    <a:lstStyle/>
                    <a:p>
                      <a:pPr marL="0" indent="0">
                        <a:lnSpc>
                          <a:spcPts val="1517"/>
                        </a:lnSpc>
                        <a:buNone/>
                      </a:pPr>
                      <a:r>
                        <a:rPr lang="en-US" sz="1084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Self-managed Enterprise price</a:t>
                      </a:r>
                      <a:endParaRPr lang="en-US" sz="108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17"/>
                        </a:lnSpc>
                        <a:buNone/>
                      </a:pPr>
                      <a:r>
                        <a:rPr lang="en-US" sz="1084" dirty="0">
                          <a:solidFill>
                            <a:srgbClr val="0B16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published — annual licence by data capacity</a:t>
                      </a:r>
                      <a:endParaRPr lang="en-US" sz="108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17"/>
                        </a:lnSpc>
                        <a:buNone/>
                      </a:pPr>
                      <a:r>
                        <a:rPr lang="en-US" sz="1084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published — contact sales</a:t>
                      </a:r>
                      <a:endParaRPr lang="en-US" sz="108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803">
                <a:tc>
                  <a:txBody>
                    <a:bodyPr/>
                    <a:lstStyle/>
                    <a:p>
                      <a:pPr marL="0" indent="0">
                        <a:lnSpc>
                          <a:spcPts val="1517"/>
                        </a:lnSpc>
                        <a:buNone/>
                      </a:pPr>
                      <a:r>
                        <a:rPr lang="en-US" sz="1084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List rate, standard</a:t>
                      </a:r>
                      <a:endParaRPr lang="en-US" sz="108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17"/>
                        </a:lnSpc>
                        <a:buNone/>
                      </a:pPr>
                      <a:r>
                        <a:rPr lang="en-US" sz="1084" dirty="0">
                          <a:solidFill>
                            <a:srgbClr val="0B16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$45.63 per GB-month</a:t>
                      </a:r>
                      <a:endParaRPr lang="en-US" sz="108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17"/>
                        </a:lnSpc>
                        <a:buNone/>
                      </a:pPr>
                      <a:r>
                        <a:rPr lang="en-US" sz="1084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$65.00 per GB-month</a:t>
                      </a:r>
                      <a:endParaRPr lang="en-US" sz="108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</a:tr>
              <a:tr h="329803">
                <a:tc>
                  <a:txBody>
                    <a:bodyPr/>
                    <a:lstStyle/>
                    <a:p>
                      <a:pPr marL="0" indent="0">
                        <a:lnSpc>
                          <a:spcPts val="1517"/>
                        </a:lnSpc>
                        <a:buNone/>
                      </a:pPr>
                      <a:r>
                        <a:rPr lang="en-US" sz="1084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List rate, high availability</a:t>
                      </a:r>
                      <a:endParaRPr lang="en-US" sz="108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17"/>
                        </a:lnSpc>
                        <a:buNone/>
                      </a:pPr>
                      <a:r>
                        <a:rPr lang="en-US" sz="1084" dirty="0">
                          <a:solidFill>
                            <a:srgbClr val="0B16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$127.76 per GB-month</a:t>
                      </a:r>
                      <a:endParaRPr lang="en-US" sz="108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17"/>
                        </a:lnSpc>
                        <a:buNone/>
                      </a:pPr>
                      <a:r>
                        <a:rPr lang="en-US" sz="1084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$146.00 per GB-month</a:t>
                      </a:r>
                      <a:endParaRPr lang="en-US" sz="108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803">
                <a:tc>
                  <a:txBody>
                    <a:bodyPr/>
                    <a:lstStyle/>
                    <a:p>
                      <a:pPr marL="0" indent="0">
                        <a:lnSpc>
                          <a:spcPts val="1517"/>
                        </a:lnSpc>
                        <a:buNone/>
                      </a:pPr>
                      <a:r>
                        <a:rPr lang="en-US" sz="1084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Capacity ceiling published</a:t>
                      </a:r>
                      <a:endParaRPr lang="en-US" sz="108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17"/>
                        </a:lnSpc>
                        <a:buNone/>
                      </a:pPr>
                      <a:r>
                        <a:rPr lang="en-US" sz="1084" dirty="0">
                          <a:solidFill>
                            <a:srgbClr val="0B16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4,096 GB per workspace</a:t>
                      </a:r>
                      <a:endParaRPr lang="en-US" sz="108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17"/>
                        </a:lnSpc>
                        <a:buNone/>
                      </a:pPr>
                      <a:r>
                        <a:rPr lang="en-US" sz="1084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512 GB on AWS · 128 GB standard tier</a:t>
                      </a:r>
                      <a:endParaRPr lang="en-US" sz="108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</a:tr>
              <a:tr h="329803">
                <a:tc>
                  <a:txBody>
                    <a:bodyPr/>
                    <a:lstStyle/>
                    <a:p>
                      <a:pPr marL="0" indent="0">
                        <a:lnSpc>
                          <a:spcPts val="1517"/>
                        </a:lnSpc>
                        <a:buNone/>
                      </a:pPr>
                      <a:r>
                        <a:rPr lang="en-US" sz="1084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Free edition</a:t>
                      </a:r>
                      <a:endParaRPr lang="en-US" sz="108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17"/>
                        </a:lnSpc>
                        <a:buNone/>
                      </a:pPr>
                      <a:r>
                        <a:rPr lang="en-US" sz="1084" dirty="0">
                          <a:solidFill>
                            <a:srgbClr val="0B16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300 GB graph and vector, single server</a:t>
                      </a:r>
                      <a:endParaRPr lang="en-US" sz="108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17"/>
                        </a:lnSpc>
                        <a:buNone/>
                      </a:pPr>
                      <a:r>
                        <a:rPr lang="en-US" sz="1084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Community Edition, no clustering or hot backup</a:t>
                      </a:r>
                      <a:endParaRPr lang="en-US" sz="1084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812800" y="4026061"/>
            <a:ext cx="5226050" cy="1167051"/>
          </a:xfrm>
          <a:prstGeom prst="roundRect">
            <a:avLst>
              <a:gd name="adj" fmla="val 7617"/>
            </a:avLst>
          </a:prstGeom>
          <a:solidFill>
            <a:srgbClr val="F5F8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12800" y="4026061"/>
            <a:ext cx="5226050" cy="1167051"/>
          </a:xfrm>
          <a:custGeom>
            <a:avLst/>
            <a:gdLst/>
            <a:ahLst/>
            <a:cxnLst/>
            <a:rect l="l" t="t" r="r" b="b"/>
            <a:pathLst>
              <a:path w="5226050" h="1167051">
                <a:moveTo>
                  <a:pt x="88900" y="1167051"/>
                </a:moveTo>
                <a:lnTo>
                  <a:pt x="88900" y="1167051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lnTo>
                  <a:pt x="88900" y="0"/>
                </a:lnTo>
                <a:arcTo wR="57150" hR="88900" stAng="16200000" swAng="-5400000"/>
                <a:lnTo>
                  <a:pt x="31750" y="1078151"/>
                </a:lnTo>
                <a:arcTo wR="57150" hR="88900" stAng="10800000" swAng="-5400000"/>
                <a:close/>
              </a:path>
            </a:pathLst>
          </a:custGeom>
          <a:solidFill>
            <a:srgbClr val="10897A"/>
          </a:solidFill>
          <a:ln/>
        </p:spPr>
      </p:sp>
      <p:sp>
        <p:nvSpPr>
          <p:cNvPr id="19" name="Text 16"/>
          <p:cNvSpPr/>
          <p:nvPr/>
        </p:nvSpPr>
        <p:spPr>
          <a:xfrm>
            <a:off x="1008380" y="4153061"/>
            <a:ext cx="5011331" cy="16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the rate is derived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1008380" y="4347611"/>
            <a:ext cx="5011331" cy="743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9"/>
              </a:lnSpc>
              <a:buNone/>
            </a:pPr>
            <a:r>
              <a:rPr lang="en-US" sz="1084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TigerGraph publishes compute by workspace: 2 vCPU / 16 GB at $1 per hour. That is $730 per month, or </a:t>
            </a:r>
            <a:r>
              <a:rPr lang="en-US" sz="1084" b="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$45.63 per GB-month</a:t>
            </a:r>
            <a:r>
              <a:rPr lang="en-US" sz="1084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and the rate is identical at every tier up to 512 vCPU / 4 TB. The HA figure applies the published 2.8 multiplier. Neo4j states $65 and $146 per GB-month directly.</a:t>
            </a:r>
            <a:endParaRPr lang="en-US" sz="1084" dirty="0"/>
          </a:p>
        </p:txBody>
      </p:sp>
      <p:sp>
        <p:nvSpPr>
          <p:cNvPr id="21" name="Shape 18"/>
          <p:cNvSpPr/>
          <p:nvPr/>
        </p:nvSpPr>
        <p:spPr>
          <a:xfrm>
            <a:off x="6153150" y="4026061"/>
            <a:ext cx="5226050" cy="1167051"/>
          </a:xfrm>
          <a:prstGeom prst="roundRect">
            <a:avLst>
              <a:gd name="adj" fmla="val 7617"/>
            </a:avLst>
          </a:prstGeom>
          <a:solidFill>
            <a:srgbClr val="F5F8F9"/>
          </a:solidFill>
          <a:ln/>
        </p:spPr>
      </p:sp>
      <p:sp>
        <p:nvSpPr>
          <p:cNvPr id="22" name="Shape 19"/>
          <p:cNvSpPr/>
          <p:nvPr/>
        </p:nvSpPr>
        <p:spPr>
          <a:xfrm>
            <a:off x="6153150" y="4026061"/>
            <a:ext cx="5226050" cy="1167051"/>
          </a:xfrm>
          <a:custGeom>
            <a:avLst/>
            <a:gdLst/>
            <a:ahLst/>
            <a:cxnLst/>
            <a:rect l="l" t="t" r="r" b="b"/>
            <a:pathLst>
              <a:path w="5226050" h="1167051">
                <a:moveTo>
                  <a:pt x="88900" y="1167051"/>
                </a:moveTo>
                <a:lnTo>
                  <a:pt x="88900" y="1167051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lnTo>
                  <a:pt x="88900" y="0"/>
                </a:lnTo>
                <a:arcTo wR="57150" hR="88900" stAng="16200000" swAng="-5400000"/>
                <a:lnTo>
                  <a:pt x="31750" y="1078151"/>
                </a:lnTo>
                <a:arcTo wR="57150" hR="88900" stAng="10800000" swAng="-5400000"/>
                <a:close/>
              </a:path>
            </a:pathLst>
          </a:custGeom>
          <a:solidFill>
            <a:srgbClr val="5C6B7A"/>
          </a:solidFill>
          <a:ln/>
        </p:spPr>
      </p:sp>
      <p:sp>
        <p:nvSpPr>
          <p:cNvPr id="23" name="Text 20"/>
          <p:cNvSpPr/>
          <p:nvPr/>
        </p:nvSpPr>
        <p:spPr>
          <a:xfrm>
            <a:off x="6348730" y="4153061"/>
            <a:ext cx="5011331" cy="197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5"/>
              </a:lnSpc>
              <a:buNone/>
            </a:pPr>
            <a:r>
              <a:rPr lang="en-US" sz="1146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Example load, identical on both</a:t>
            </a:r>
            <a:endParaRPr lang="en-US" sz="1146" dirty="0"/>
          </a:p>
        </p:txBody>
      </p:sp>
      <p:sp>
        <p:nvSpPr>
          <p:cNvPr id="24" name="Text 21"/>
          <p:cNvSpPr/>
          <p:nvPr/>
        </p:nvSpPr>
        <p:spPr>
          <a:xfrm>
            <a:off x="6348730" y="4376341"/>
            <a:ext cx="5011331" cy="715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GB graph · 3 memory-optimised EC2 nodes on EKS · 48 vCPU, 384 GB RAM · gp3 storage and backup. Infrastructure runs roughly </a:t>
            </a:r>
            <a:r>
              <a:rPr lang="en-US" sz="1050" b="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$25k–30k a year</a:t>
            </a:r>
            <a:r>
              <a:rPr lang="en-US" sz="105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demand, </a:t>
            </a:r>
            <a:r>
              <a:rPr lang="en-US" sz="1050" b="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35–66% less</a:t>
            </a:r>
            <a:r>
              <a:rPr lang="en-US" sz="105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Reserved Instances or a Savings Plan. Neither engine changes that figure.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12800" y="5307409"/>
            <a:ext cx="10566400" cy="737791"/>
          </a:xfrm>
          <a:prstGeom prst="roundRect">
            <a:avLst>
              <a:gd name="adj" fmla="val 12049"/>
            </a:avLst>
          </a:prstGeom>
          <a:solidFill>
            <a:srgbClr val="0B1622"/>
          </a:solidFill>
          <a:ln/>
        </p:spPr>
      </p:sp>
      <p:pic>
        <p:nvPicPr>
          <p:cNvPr id="26" name="Image 0" descr="Key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0600" y="5568317"/>
            <a:ext cx="215900" cy="2159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346200" y="5366786"/>
            <a:ext cx="10150856" cy="644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is not the differentiator — it is the same on both. The licence is, and on the only rates either vendor publishes, </a:t>
            </a:r>
            <a:r>
              <a:rPr lang="en-US" sz="1250" b="1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TigerGraph sits 30% below Neo4j at standard tier and 13% below at high availability</a:t>
            </a:r>
            <a:r>
              <a:rPr lang="en-US" sz="125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with eight times the published capacity ceiling.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812800" y="6101079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9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Rates from tigergraph.com and neo4j.com pricing pages. Self-managed Enterprise is quoted by negotiation at both vendors; published list rates are used here as the vendors' own statement of relative position.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3023591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Cost optimisation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88026" y="741679"/>
            <a:ext cx="279884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levers, applied from day 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15975" y="1116967"/>
            <a:ext cx="3431064" cy="3055620"/>
          </a:xfrm>
          <a:prstGeom prst="roundRect">
            <a:avLst>
              <a:gd name="adj" fmla="val 2805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5" name="Image 0" descr="Databa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2980" y="1280164"/>
            <a:ext cx="203200" cy="20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2380" y="1271271"/>
            <a:ext cx="1030208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TigerGraph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82980" y="1568450"/>
            <a:ext cx="3189965" cy="2475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608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Right-size first — add nodes when measured, not anticipated</a:t>
            </a:r>
            <a:endParaRPr lang="en-US" sz="1200" dirty="0"/>
          </a:p>
          <a:p>
            <a:pPr marL="182880" indent="-148844" algn="l">
              <a:lnSpc>
                <a:spcPts val="1608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Reserved Instances and Savings Plans on committed compute</a:t>
            </a:r>
            <a:endParaRPr lang="en-US" sz="1200" dirty="0"/>
          </a:p>
          <a:p>
            <a:pPr marL="182880" indent="-148844" algn="l">
              <a:lnSpc>
                <a:spcPts val="1608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read capacity so batch stays off the serving tier</a:t>
            </a:r>
            <a:endParaRPr lang="en-US" sz="1200" dirty="0"/>
          </a:p>
          <a:p>
            <a:pPr marL="182880" indent="-148844" algn="l">
              <a:lnSpc>
                <a:spcPts val="1608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 holds relationships; detail stays relational</a:t>
            </a:r>
            <a:endParaRPr lang="en-US" sz="1200" dirty="0"/>
          </a:p>
          <a:p>
            <a:pPr marL="182880" indent="-148844" algn="l">
              <a:lnSpc>
                <a:spcPts val="1608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Off-peak scheduling for algorithms and embeddings</a:t>
            </a:r>
            <a:endParaRPr lang="en-US" sz="1200" dirty="0"/>
          </a:p>
          <a:p>
            <a:pPr marL="182880" indent="-148844" algn="l">
              <a:lnSpc>
                <a:spcPts val="1608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Non-production stopped when idle</a:t>
            </a:r>
            <a:endParaRPr lang="en-US" sz="1200" dirty="0"/>
          </a:p>
          <a:p>
            <a:pPr marL="182880" indent="-148844" algn="l">
              <a:lnSpc>
                <a:spcPts val="1608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Compression cuts storage and memory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0389" y="1116967"/>
            <a:ext cx="3431143" cy="3055620"/>
          </a:xfrm>
          <a:prstGeom prst="roundRect">
            <a:avLst>
              <a:gd name="adj" fmla="val 2805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9" name="Image 1" descr="Lightbulb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47394" y="1280164"/>
            <a:ext cx="203200" cy="203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26794" y="1271271"/>
            <a:ext cx="412512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LLM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547394" y="1568450"/>
            <a:ext cx="3190047" cy="2475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608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Right-size the model per role — small models screen and classify</a:t>
            </a:r>
            <a:endParaRPr lang="en-US" sz="1200" dirty="0"/>
          </a:p>
          <a:p>
            <a:pPr marL="182880" indent="-148844" algn="l">
              <a:lnSpc>
                <a:spcPts val="1608"/>
              </a:lnSpc>
              <a:buSzPct val="100000"/>
              <a:buChar char="•"/>
            </a:pPr>
            <a:r>
              <a:rPr lang="en-US" sz="1200" b="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engineering is cost engineering</a:t>
            </a: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ranking, filtering, pruning and compression happen before the call</a:t>
            </a:r>
            <a:endParaRPr lang="en-US" sz="1200" dirty="0"/>
          </a:p>
          <a:p>
            <a:pPr marL="182880" indent="-148844" algn="l">
              <a:lnSpc>
                <a:spcPts val="1608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once, serve many — insights generated once per advisor</a:t>
            </a:r>
            <a:endParaRPr lang="en-US" sz="1200" dirty="0"/>
          </a:p>
          <a:p>
            <a:pPr marL="182880" indent="-148844" algn="l">
              <a:lnSpc>
                <a:spcPts val="1608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Embeddings at ingest, never per query</a:t>
            </a:r>
            <a:endParaRPr lang="en-US" sz="1200" dirty="0"/>
          </a:p>
          <a:p>
            <a:pPr marL="182880" indent="-148844" algn="l">
              <a:lnSpc>
                <a:spcPts val="1608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Caching for repeated questions</a:t>
            </a:r>
            <a:endParaRPr lang="en-US" sz="1200" dirty="0"/>
          </a:p>
          <a:p>
            <a:pPr marL="182880" indent="-148844" algn="l">
              <a:lnSpc>
                <a:spcPts val="1608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outputs cut retries · batch generation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44882" y="1116967"/>
            <a:ext cx="3431143" cy="3055620"/>
          </a:xfrm>
          <a:prstGeom prst="roundRect">
            <a:avLst>
              <a:gd name="adj" fmla="val 2805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13" name="Image 2" descr="Settings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11887" y="1280164"/>
            <a:ext cx="203200" cy="203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91287" y="1271271"/>
            <a:ext cx="808752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Platform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8111887" y="1568450"/>
            <a:ext cx="3190047" cy="1862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608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in the database — fewer rows move, so the application tier stays small</a:t>
            </a:r>
            <a:endParaRPr lang="en-US" sz="1200" dirty="0"/>
          </a:p>
          <a:p>
            <a:pPr marL="182880" indent="-148844" algn="l">
              <a:lnSpc>
                <a:spcPts val="1608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Asynchronous execution sized to the job, not always-on capacity</a:t>
            </a:r>
            <a:endParaRPr lang="en-US" sz="1200" dirty="0"/>
          </a:p>
          <a:p>
            <a:pPr marL="182880" indent="-148844" algn="l">
              <a:lnSpc>
                <a:spcPts val="1608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Autoscale to zero in non-production</a:t>
            </a:r>
            <a:endParaRPr lang="en-US" sz="1200" dirty="0"/>
          </a:p>
          <a:p>
            <a:pPr marL="182880" indent="-148844" algn="l">
              <a:lnSpc>
                <a:spcPts val="1608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per query, per token and per model tracked alongside latency</a:t>
            </a:r>
            <a:endParaRPr lang="en-US" sz="1200" dirty="0"/>
          </a:p>
          <a:p>
            <a:pPr marL="182880" indent="-148844" algn="l">
              <a:lnSpc>
                <a:spcPts val="1608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platform carries both systems — no second licence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12800" y="4302764"/>
            <a:ext cx="10566400" cy="740569"/>
          </a:xfrm>
          <a:prstGeom prst="roundRect">
            <a:avLst>
              <a:gd name="adj" fmla="val 12004"/>
            </a:avLst>
          </a:prstGeom>
          <a:solidFill>
            <a:srgbClr val="0B1622"/>
          </a:solidFill>
          <a:ln/>
        </p:spPr>
      </p:sp>
      <p:pic>
        <p:nvPicPr>
          <p:cNvPr id="17" name="Image 3" descr="Key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16000" y="4558748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97000" y="4455164"/>
            <a:ext cx="10072370" cy="461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16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largest lever is </a:t>
            </a:r>
            <a:r>
              <a:rPr lang="en-US" sz="1300" b="1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architectural</a:t>
            </a:r>
            <a:r>
              <a:rPr lang="en-US" sz="130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Computing in the graph and engineering the context keeps both the infrastructure and the token bill small as the data grows.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6248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we are building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812268" y="970279"/>
            <a:ext cx="5575449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systems. Different domains. The same architectural approach.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12800" y="1404144"/>
            <a:ext cx="5207000" cy="3449638"/>
          </a:xfrm>
          <a:prstGeom prst="roundRect">
            <a:avLst>
              <a:gd name="adj" fmla="val 2945"/>
            </a:avLst>
          </a:prstGeom>
          <a:solidFill>
            <a:srgbClr val="F5F8F9"/>
          </a:solidFill>
          <a:ln/>
        </p:spPr>
      </p:sp>
      <p:pic>
        <p:nvPicPr>
          <p:cNvPr id="5" name="Image 0" descr="rec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16000" y="1597980"/>
            <a:ext cx="63500" cy="279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8400" y="1600516"/>
            <a:ext cx="378768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Practice Management Dashboard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019175" y="1985485"/>
            <a:ext cx="4794250" cy="1370171"/>
          </a:xfrm>
          <a:prstGeom prst="roundRect">
            <a:avLst>
              <a:gd name="adj" fmla="val 5330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8" name="Image 1" descr="Light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98880" y="2147174"/>
            <a:ext cx="190500" cy="190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5580" y="2131932"/>
            <a:ext cx="997664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Practice AI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2488644" y="2140192"/>
            <a:ext cx="905986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8B99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1198880" y="2408554"/>
            <a:ext cx="4567885" cy="818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2"/>
              </a:lnSpc>
              <a:buNone/>
            </a:pPr>
            <a:r>
              <a:rPr lang="en-US" sz="115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insights, revenue drivers and exceptions at practice and advisor level, triggered when source processing completes. Rules generated on demand from uploaded documents.</a:t>
            </a:r>
            <a:endParaRPr lang="en-US" sz="1151" dirty="0"/>
          </a:p>
        </p:txBody>
      </p:sp>
      <p:sp>
        <p:nvSpPr>
          <p:cNvPr id="12" name="Shape 8"/>
          <p:cNvSpPr/>
          <p:nvPr/>
        </p:nvSpPr>
        <p:spPr>
          <a:xfrm>
            <a:off x="1019175" y="3476309"/>
            <a:ext cx="4794250" cy="1171099"/>
          </a:xfrm>
          <a:prstGeom prst="roundRect">
            <a:avLst>
              <a:gd name="adj" fmla="val 6236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13" name="Image 2" descr="Chat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98880" y="3637837"/>
            <a:ext cx="190500" cy="190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5580" y="3622675"/>
            <a:ext cx="1392952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Practice Coach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2883932" y="3630854"/>
            <a:ext cx="1058863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8B99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conversational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1198880" y="3899142"/>
            <a:ext cx="4567885" cy="619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48"/>
              </a:lnSpc>
              <a:buNone/>
            </a:pPr>
            <a:r>
              <a:rPr lang="en-US" sz="1177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 questions across all data with context-aware reasoning over relationships — not summaries of a dashboard.</a:t>
            </a:r>
            <a:endParaRPr lang="en-US" sz="1177" dirty="0"/>
          </a:p>
        </p:txBody>
      </p:sp>
      <p:sp>
        <p:nvSpPr>
          <p:cNvPr id="17" name="Shape 12"/>
          <p:cNvSpPr/>
          <p:nvPr/>
        </p:nvSpPr>
        <p:spPr>
          <a:xfrm>
            <a:off x="6172200" y="1404144"/>
            <a:ext cx="5207000" cy="3449638"/>
          </a:xfrm>
          <a:prstGeom prst="roundRect">
            <a:avLst>
              <a:gd name="adj" fmla="val 2945"/>
            </a:avLst>
          </a:prstGeom>
          <a:solidFill>
            <a:srgbClr val="F5F8F9"/>
          </a:solidFill>
          <a:ln/>
        </p:spPr>
      </p:sp>
      <p:pic>
        <p:nvPicPr>
          <p:cNvPr id="18" name="Image 3" descr="rect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75400" y="1607344"/>
            <a:ext cx="63500" cy="2794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27800" y="1609886"/>
            <a:ext cx="98829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iPerform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6378575" y="2004219"/>
            <a:ext cx="4794250" cy="1019810"/>
          </a:xfrm>
          <a:prstGeom prst="roundRect">
            <a:avLst>
              <a:gd name="adj" fmla="val 7161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21" name="Image 4" descr="Lightni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58280" y="2173765"/>
            <a:ext cx="190500" cy="1905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24980" y="2158523"/>
            <a:ext cx="1014968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iPerform AI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7865349" y="2166782"/>
            <a:ext cx="905986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8B99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6558280" y="2443007"/>
            <a:ext cx="4567885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Insights, opportunities and recommendations for advisors, generated without user involvement.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378575" y="3144682"/>
            <a:ext cx="4794250" cy="1019810"/>
          </a:xfrm>
          <a:prstGeom prst="roundRect">
            <a:avLst>
              <a:gd name="adj" fmla="val 7161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26" name="Image 5" descr="Chat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58280" y="3314223"/>
            <a:ext cx="190500" cy="1905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24980" y="3298986"/>
            <a:ext cx="1410256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iPerform Coach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8260636" y="3307240"/>
            <a:ext cx="1058863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8B99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conversational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6558280" y="3583465"/>
            <a:ext cx="4567885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Coaching, guidance and Q&amp;A grounded in the advisor's own book and outcomes.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812800" y="5044281"/>
            <a:ext cx="10566400" cy="797719"/>
          </a:xfrm>
          <a:prstGeom prst="roundRect">
            <a:avLst>
              <a:gd name="adj" fmla="val 11144"/>
            </a:avLst>
          </a:prstGeom>
          <a:solidFill>
            <a:srgbClr val="0B1622"/>
          </a:solidFill>
          <a:ln/>
        </p:spPr>
      </p:sp>
      <p:sp>
        <p:nvSpPr>
          <p:cNvPr id="31" name="Text 23"/>
          <p:cNvSpPr/>
          <p:nvPr/>
        </p:nvSpPr>
        <p:spPr>
          <a:xfrm>
            <a:off x="1041400" y="5345354"/>
            <a:ext cx="119380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50" dirty="0">
                <a:solidFill>
                  <a:srgbClr val="1089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THEY SHARE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2349500" y="5212004"/>
            <a:ext cx="906513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graph · agent framework · context engineering · governed data access · verification · observability · security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12800" y="5971542"/>
            <a:ext cx="10883392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89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Each with an autonomous engine and a conversational agent, on the same foundation — so the second costs a fraction of the first.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4403C"/>
              </a:gs>
              <a:gs pos="58000">
                <a:srgbClr val="0B1622"/>
              </a:gs>
            </a:gsLst>
            <a:path path="circle">
              <a:fillToRect l="82000" t="82000" r="18000" b="18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11200"/>
            <a:ext cx="358877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5F8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we have built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449445" y="868679"/>
            <a:ext cx="326142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Running today, against production data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12800" y="1295400"/>
            <a:ext cx="2021840" cy="877570"/>
          </a:xfrm>
          <a:prstGeom prst="roundRect">
            <a:avLst>
              <a:gd name="adj" fmla="val 10130"/>
            </a:avLst>
          </a:prstGeom>
          <a:solidFill>
            <a:srgbClr val="142639"/>
          </a:solidFill>
          <a:ln/>
        </p:spPr>
      </p:sp>
      <p:sp>
        <p:nvSpPr>
          <p:cNvPr id="6" name="Text 4"/>
          <p:cNvSpPr/>
          <p:nvPr/>
        </p:nvSpPr>
        <p:spPr>
          <a:xfrm>
            <a:off x="977900" y="1447800"/>
            <a:ext cx="174244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600" dirty="0">
                <a:solidFill>
                  <a:srgbClr val="6FD3C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40,047,519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77900" y="1816100"/>
            <a:ext cx="174244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 vertices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48940" y="1295400"/>
            <a:ext cx="2021840" cy="877570"/>
          </a:xfrm>
          <a:prstGeom prst="roundRect">
            <a:avLst>
              <a:gd name="adj" fmla="val 10130"/>
            </a:avLst>
          </a:prstGeom>
          <a:solidFill>
            <a:srgbClr val="142639"/>
          </a:solidFill>
          <a:ln/>
        </p:spPr>
      </p:sp>
      <p:sp>
        <p:nvSpPr>
          <p:cNvPr id="9" name="Text 7"/>
          <p:cNvSpPr/>
          <p:nvPr/>
        </p:nvSpPr>
        <p:spPr>
          <a:xfrm>
            <a:off x="3114040" y="1447800"/>
            <a:ext cx="174244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600" dirty="0">
                <a:solidFill>
                  <a:srgbClr val="6FD3C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104,273,975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114040" y="1816100"/>
            <a:ext cx="174244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 edges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85080" y="1295400"/>
            <a:ext cx="2021840" cy="877570"/>
          </a:xfrm>
          <a:prstGeom prst="roundRect">
            <a:avLst>
              <a:gd name="adj" fmla="val 10130"/>
            </a:avLst>
          </a:prstGeom>
          <a:solidFill>
            <a:srgbClr val="142639"/>
          </a:solidFill>
          <a:ln/>
        </p:spPr>
      </p:sp>
      <p:sp>
        <p:nvSpPr>
          <p:cNvPr id="12" name="Text 10"/>
          <p:cNvSpPr/>
          <p:nvPr/>
        </p:nvSpPr>
        <p:spPr>
          <a:xfrm>
            <a:off x="5250180" y="1447800"/>
            <a:ext cx="174244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600" dirty="0">
                <a:solidFill>
                  <a:srgbClr val="6FD3C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12,360,142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250180" y="1816100"/>
            <a:ext cx="174244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221220" y="1295400"/>
            <a:ext cx="2021840" cy="877570"/>
          </a:xfrm>
          <a:prstGeom prst="roundRect">
            <a:avLst>
              <a:gd name="adj" fmla="val 10130"/>
            </a:avLst>
          </a:prstGeom>
          <a:solidFill>
            <a:srgbClr val="142639"/>
          </a:solidFill>
          <a:ln/>
        </p:spPr>
      </p:sp>
      <p:sp>
        <p:nvSpPr>
          <p:cNvPr id="15" name="Text 13"/>
          <p:cNvSpPr/>
          <p:nvPr/>
        </p:nvSpPr>
        <p:spPr>
          <a:xfrm>
            <a:off x="7386320" y="1447800"/>
            <a:ext cx="174244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600" dirty="0">
                <a:solidFill>
                  <a:srgbClr val="6FD3C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5,455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86320" y="1816100"/>
            <a:ext cx="174244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 cohort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357360" y="1295400"/>
            <a:ext cx="2021840" cy="877570"/>
          </a:xfrm>
          <a:prstGeom prst="roundRect">
            <a:avLst>
              <a:gd name="adj" fmla="val 10130"/>
            </a:avLst>
          </a:prstGeom>
          <a:solidFill>
            <a:srgbClr val="142639"/>
          </a:solidFill>
          <a:ln/>
        </p:spPr>
      </p:sp>
      <p:sp>
        <p:nvSpPr>
          <p:cNvPr id="18" name="Text 16"/>
          <p:cNvSpPr/>
          <p:nvPr/>
        </p:nvSpPr>
        <p:spPr>
          <a:xfrm>
            <a:off x="9522460" y="1447800"/>
            <a:ext cx="174244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600" dirty="0">
                <a:solidFill>
                  <a:srgbClr val="6FD3C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62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522460" y="1816100"/>
            <a:ext cx="174244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installed queries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2800" y="2338071"/>
            <a:ext cx="10566400" cy="1037590"/>
          </a:xfrm>
          <a:prstGeom prst="roundRect">
            <a:avLst>
              <a:gd name="adj" fmla="val 8568"/>
            </a:avLst>
          </a:prstGeom>
          <a:solidFill>
            <a:srgbClr val="2A1B0C"/>
          </a:solidFill>
          <a:ln/>
        </p:spPr>
      </p:sp>
      <p:sp>
        <p:nvSpPr>
          <p:cNvPr id="21" name="Shape 19"/>
          <p:cNvSpPr/>
          <p:nvPr/>
        </p:nvSpPr>
        <p:spPr>
          <a:xfrm>
            <a:off x="812800" y="2338071"/>
            <a:ext cx="10566400" cy="1037590"/>
          </a:xfrm>
          <a:custGeom>
            <a:avLst/>
            <a:gdLst/>
            <a:ahLst/>
            <a:cxnLst/>
            <a:rect l="l" t="t" r="r" b="b"/>
            <a:pathLst>
              <a:path w="10566400" h="1037590">
                <a:moveTo>
                  <a:pt x="88900" y="1037590"/>
                </a:moveTo>
                <a:lnTo>
                  <a:pt x="88900" y="1037590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lnTo>
                  <a:pt x="88900" y="0"/>
                </a:lnTo>
                <a:arcTo wR="57150" hR="88900" stAng="16200000" swAng="-5400000"/>
                <a:lnTo>
                  <a:pt x="31750" y="948690"/>
                </a:lnTo>
                <a:arcTo wR="57150" hR="88900" stAng="10800000" swAng="-5400000"/>
                <a:close/>
              </a:path>
            </a:pathLst>
          </a:custGeom>
          <a:solidFill>
            <a:srgbClr val="D98324"/>
          </a:solidFill>
          <a:ln/>
        </p:spPr>
      </p:sp>
      <p:sp>
        <p:nvSpPr>
          <p:cNvPr id="22" name="Text 20"/>
          <p:cNvSpPr/>
          <p:nvPr/>
        </p:nvSpPr>
        <p:spPr>
          <a:xfrm>
            <a:off x="1059180" y="2515871"/>
            <a:ext cx="2433965" cy="21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kern="0" spc="150" dirty="0">
                <a:solidFill>
                  <a:srgbClr val="F0C99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APRIL FIRM BASIS, COMPUTED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59180" y="2740664"/>
            <a:ext cx="243396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$397,389,374.54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226300" y="2523492"/>
            <a:ext cx="4055110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9C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Against the firm's own report of </a:t>
            </a:r>
            <a:r>
              <a:rPr lang="en-US" sz="1250" b="1" dirty="0">
                <a:solidFill>
                  <a:srgbClr val="D9C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$403,533,981.62</a:t>
            </a:r>
            <a:r>
              <a:rPr lang="en-US" sz="1250" dirty="0">
                <a:solidFill>
                  <a:srgbClr val="D9C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difference is advisors outside the defined cohort — verified, explained and reproducible.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2800" y="3540764"/>
            <a:ext cx="5226050" cy="1408430"/>
          </a:xfrm>
          <a:prstGeom prst="roundRect">
            <a:avLst>
              <a:gd name="adj" fmla="val 6312"/>
            </a:avLst>
          </a:prstGeom>
          <a:solidFill>
            <a:srgbClr val="142639"/>
          </a:solidFill>
          <a:ln/>
        </p:spPr>
      </p:sp>
      <p:sp>
        <p:nvSpPr>
          <p:cNvPr id="26" name="Text 24"/>
          <p:cNvSpPr/>
          <p:nvPr/>
        </p:nvSpPr>
        <p:spPr>
          <a:xfrm>
            <a:off x="990600" y="3693164"/>
            <a:ext cx="5016564" cy="21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kern="0" spc="150" dirty="0">
                <a:solidFill>
                  <a:srgbClr val="6FD3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WORKING TODAY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90600" y="3943350"/>
            <a:ext cx="5016564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upload and rule extraction with citations</a:t>
            </a:r>
            <a:endParaRPr lang="en-US" sz="1200" dirty="0"/>
          </a:p>
          <a:p>
            <a:pPr marL="182880" indent="-14884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 compilation, review, publish and versioning</a:t>
            </a:r>
            <a:endParaRPr lang="en-US" sz="1200" dirty="0"/>
          </a:p>
          <a:p>
            <a:pPr marL="182880" indent="-14884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Firm and advisor revenue with driver attribution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53150" y="3540764"/>
            <a:ext cx="5226050" cy="1408430"/>
          </a:xfrm>
          <a:prstGeom prst="roundRect">
            <a:avLst>
              <a:gd name="adj" fmla="val 6312"/>
            </a:avLst>
          </a:prstGeom>
          <a:solidFill>
            <a:srgbClr val="142639"/>
          </a:solidFill>
          <a:ln/>
        </p:spPr>
      </p:sp>
      <p:sp>
        <p:nvSpPr>
          <p:cNvPr id="29" name="Text 27"/>
          <p:cNvSpPr/>
          <p:nvPr/>
        </p:nvSpPr>
        <p:spPr>
          <a:xfrm>
            <a:off x="6330950" y="3943350"/>
            <a:ext cx="5016564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lifecycle — new, lost, retained, transferred</a:t>
            </a:r>
            <a:endParaRPr lang="en-US" sz="1200" dirty="0"/>
          </a:p>
          <a:p>
            <a:pPr marL="182880" indent="-14884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Exception detection across the full cohort</a:t>
            </a:r>
            <a:endParaRPr lang="en-US" sz="1200" dirty="0"/>
          </a:p>
          <a:p>
            <a:pPr marL="182880" indent="-14884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Non-credited revenue analysis by reason code</a:t>
            </a:r>
            <a:endParaRPr lang="en-US" sz="1200" dirty="0"/>
          </a:p>
          <a:p>
            <a:pPr marL="182880" indent="-14884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Conversational assistant with evidence drill-down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2800" y="609600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F5F8F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This is not a prototype. It is the first system of the architecture, running on real data.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2309941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Architecture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207861" y="853442"/>
            <a:ext cx="5417905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 at the top. Data at the bottom. Nothing skips a layer.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15975" y="1259204"/>
            <a:ext cx="450850" cy="4128770"/>
          </a:xfrm>
          <a:prstGeom prst="roundRect">
            <a:avLst>
              <a:gd name="adj" fmla="val 16197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5" name="Image 0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3450" y="1400814"/>
            <a:ext cx="215900" cy="43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7400" y="2509124"/>
            <a:ext cx="5080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</a:t>
            </a:r>
            <a:endParaRPr lang="en-US" sz="1200" dirty="0"/>
          </a:p>
        </p:txBody>
      </p:sp>
      <p:pic>
        <p:nvPicPr>
          <p:cNvPr id="7" name="Image 1" descr="arrow-up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3450" y="3757061"/>
            <a:ext cx="215900" cy="431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7400" y="4865371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0B6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0B6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1400175" y="1259204"/>
            <a:ext cx="9975850" cy="478790"/>
          </a:xfrm>
          <a:prstGeom prst="roundRect">
            <a:avLst>
              <a:gd name="adj" fmla="val 15252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10" name="Image 2" descr="Hom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79880" y="1390650"/>
            <a:ext cx="215900" cy="215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948180" y="1388114"/>
            <a:ext cx="2027555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Presentation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4069080" y="1391921"/>
            <a:ext cx="73410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· advisor view · documents and rules · coaching · trace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1400175" y="1820546"/>
            <a:ext cx="9975850" cy="478790"/>
          </a:xfrm>
          <a:prstGeom prst="roundRect">
            <a:avLst>
              <a:gd name="adj" fmla="val 15252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14" name="Image 3" descr="Settings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79880" y="1951992"/>
            <a:ext cx="215900" cy="2159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948180" y="1949450"/>
            <a:ext cx="2027555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Services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4069080" y="1953264"/>
            <a:ext cx="73410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handling · export · delivery · REST, GraphQL and MCP access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1400175" y="2381889"/>
            <a:ext cx="9975850" cy="478790"/>
          </a:xfrm>
          <a:prstGeom prst="roundRect">
            <a:avLst>
              <a:gd name="adj" fmla="val 15252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18" name="Image 4" descr="Lightbulb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579880" y="2513329"/>
            <a:ext cx="215900" cy="2159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948180" y="2510792"/>
            <a:ext cx="2027555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Agents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4069080" y="2514600"/>
            <a:ext cx="73410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Reasoning, extraction, narration — never calculation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1400175" y="2943225"/>
            <a:ext cx="9975850" cy="478790"/>
          </a:xfrm>
          <a:prstGeom prst="roundRect">
            <a:avLst>
              <a:gd name="adj" fmla="val 15252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22" name="Image 5" descr="Search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579880" y="3074671"/>
            <a:ext cx="215900" cy="2159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948180" y="3072129"/>
            <a:ext cx="2027555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Context Engineering</a:t>
            </a:r>
            <a:endParaRPr lang="en-US" sz="1450" dirty="0"/>
          </a:p>
        </p:txBody>
      </p:sp>
      <p:sp>
        <p:nvSpPr>
          <p:cNvPr id="24" name="Text 16"/>
          <p:cNvSpPr/>
          <p:nvPr/>
        </p:nvSpPr>
        <p:spPr>
          <a:xfrm>
            <a:off x="4069080" y="3075942"/>
            <a:ext cx="73410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 · ranking · filtering · pruning · compression · assembly · citation binding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1400175" y="3504567"/>
            <a:ext cx="9975850" cy="699770"/>
          </a:xfrm>
          <a:prstGeom prst="roundRect">
            <a:avLst>
              <a:gd name="adj" fmla="val 10436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26" name="Image 6" descr="Trust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579880" y="3746500"/>
            <a:ext cx="215900" cy="2159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948180" y="3633471"/>
            <a:ext cx="2027555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Guardrails &amp; Verification</a:t>
            </a:r>
            <a:endParaRPr lang="en-US" sz="1450" dirty="0"/>
          </a:p>
        </p:txBody>
      </p:sp>
      <p:sp>
        <p:nvSpPr>
          <p:cNvPr id="28" name="Text 19"/>
          <p:cNvSpPr/>
          <p:nvPr/>
        </p:nvSpPr>
        <p:spPr>
          <a:xfrm>
            <a:off x="4069080" y="3747771"/>
            <a:ext cx="73410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screened before the answer · every figure verified before display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1400175" y="4286889"/>
            <a:ext cx="9975850" cy="478790"/>
          </a:xfrm>
          <a:prstGeom prst="roundRect">
            <a:avLst>
              <a:gd name="adj" fmla="val 15252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30" name="Image 7" descr="Key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579880" y="4418329"/>
            <a:ext cx="215900" cy="2159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948180" y="4415792"/>
            <a:ext cx="2027555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Access</a:t>
            </a:r>
            <a:endParaRPr lang="en-US" sz="1450" dirty="0"/>
          </a:p>
        </p:txBody>
      </p:sp>
      <p:sp>
        <p:nvSpPr>
          <p:cNvPr id="32" name="Text 22"/>
          <p:cNvSpPr/>
          <p:nvPr/>
        </p:nvSpPr>
        <p:spPr>
          <a:xfrm>
            <a:off x="4069080" y="4419600"/>
            <a:ext cx="73410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Named, governed queries — the only path to data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1397000" y="4845050"/>
            <a:ext cx="9982200" cy="546100"/>
          </a:xfrm>
          <a:prstGeom prst="roundRect">
            <a:avLst>
              <a:gd name="adj" fmla="val 13953"/>
            </a:avLst>
          </a:prstGeom>
          <a:solidFill>
            <a:srgbClr val="0B1622"/>
          </a:solidFill>
          <a:ln/>
        </p:spPr>
      </p:sp>
      <p:pic>
        <p:nvPicPr>
          <p:cNvPr id="34" name="Image 8" descr="Database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574800" y="4997450"/>
            <a:ext cx="241300" cy="24130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968500" y="4999992"/>
            <a:ext cx="1962150" cy="261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Knowledge Graph</a:t>
            </a:r>
            <a:endParaRPr lang="en-US" sz="1550" dirty="0"/>
          </a:p>
        </p:txBody>
      </p:sp>
      <p:sp>
        <p:nvSpPr>
          <p:cNvPr id="36" name="Text 25"/>
          <p:cNvSpPr/>
          <p:nvPr/>
        </p:nvSpPr>
        <p:spPr>
          <a:xfrm>
            <a:off x="4025900" y="5006975"/>
            <a:ext cx="73907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TigerGraph — aggregation, filtering, ranking, traversal and as-of state all execute here</a:t>
            </a:r>
            <a:endParaRPr lang="en-US" sz="1250" dirty="0"/>
          </a:p>
        </p:txBody>
      </p:sp>
      <p:sp>
        <p:nvSpPr>
          <p:cNvPr id="37" name="Text 26"/>
          <p:cNvSpPr/>
          <p:nvPr/>
        </p:nvSpPr>
        <p:spPr>
          <a:xfrm>
            <a:off x="812800" y="6211571"/>
            <a:ext cx="1088339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89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graph computes. The agents interpret. The verification layer decides what is allowed out.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276516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agent layer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37121" y="807721"/>
            <a:ext cx="417373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specialist agents. Each with a defined boundary.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12800" y="1191258"/>
            <a:ext cx="3454400" cy="1490980"/>
          </a:xfrm>
          <a:prstGeom prst="roundRect">
            <a:avLst>
              <a:gd name="adj" fmla="val 5963"/>
            </a:avLst>
          </a:prstGeom>
          <a:solidFill>
            <a:srgbClr val="F5F8F9"/>
          </a:solidFill>
          <a:ln/>
        </p:spPr>
      </p:sp>
      <p:pic>
        <p:nvPicPr>
          <p:cNvPr id="5" name="Image 0" descr="Boo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5200" y="1338585"/>
            <a:ext cx="190500" cy="19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19200" y="1330958"/>
            <a:ext cx="1235234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Rule Extractor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65200" y="1600200"/>
            <a:ext cx="3244088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Reads plan documents, proposes drafts with citations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65200" y="2059942"/>
            <a:ext cx="3149600" cy="292100"/>
          </a:xfrm>
          <a:prstGeom prst="roundRect">
            <a:avLst>
              <a:gd name="adj" fmla="val 17391"/>
            </a:avLst>
          </a:prstGeom>
          <a:solidFill>
            <a:srgbClr val="FBF0E2"/>
          </a:solidFill>
          <a:ln/>
        </p:spPr>
      </p:sp>
      <p:sp>
        <p:nvSpPr>
          <p:cNvPr id="9" name="Text 6"/>
          <p:cNvSpPr/>
          <p:nvPr/>
        </p:nvSpPr>
        <p:spPr>
          <a:xfrm>
            <a:off x="1041400" y="2110742"/>
            <a:ext cx="308711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8A55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Proposes only — never publishes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68800" y="1191258"/>
            <a:ext cx="3454400" cy="1490980"/>
          </a:xfrm>
          <a:prstGeom prst="roundRect">
            <a:avLst>
              <a:gd name="adj" fmla="val 5963"/>
            </a:avLst>
          </a:prstGeom>
          <a:solidFill>
            <a:srgbClr val="F5F8F9"/>
          </a:solidFill>
          <a:ln/>
        </p:spPr>
      </p:sp>
      <p:pic>
        <p:nvPicPr>
          <p:cNvPr id="11" name="Image 1" descr="Wrench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21200" y="1338585"/>
            <a:ext cx="190500" cy="190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75200" y="1330958"/>
            <a:ext cx="1180386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Rule Compiler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21200" y="1600200"/>
            <a:ext cx="3244088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Compiles an approved rule and audits it against published rules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21200" y="2059942"/>
            <a:ext cx="3149600" cy="292100"/>
          </a:xfrm>
          <a:prstGeom prst="roundRect">
            <a:avLst>
              <a:gd name="adj" fmla="val 17391"/>
            </a:avLst>
          </a:prstGeom>
          <a:solidFill>
            <a:srgbClr val="FBF0E2"/>
          </a:solidFill>
          <a:ln/>
        </p:spPr>
      </p:sp>
      <p:sp>
        <p:nvSpPr>
          <p:cNvPr id="15" name="Text 11"/>
          <p:cNvSpPr/>
          <p:nvPr/>
        </p:nvSpPr>
        <p:spPr>
          <a:xfrm>
            <a:off x="4597400" y="2110742"/>
            <a:ext cx="308711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8A55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Once at approval — blocks conflicts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924800" y="1191258"/>
            <a:ext cx="3454400" cy="1490980"/>
          </a:xfrm>
          <a:prstGeom prst="roundRect">
            <a:avLst>
              <a:gd name="adj" fmla="val 5963"/>
            </a:avLst>
          </a:prstGeom>
          <a:solidFill>
            <a:srgbClr val="F5F8F9"/>
          </a:solidFill>
          <a:ln/>
        </p:spPr>
      </p:sp>
      <p:pic>
        <p:nvPicPr>
          <p:cNvPr id="17" name="Image 2" descr="Chart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77200" y="1338585"/>
            <a:ext cx="190500" cy="1905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1200" y="1330958"/>
            <a:ext cx="125706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Insights Agent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077200" y="1600200"/>
            <a:ext cx="3244088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Investigate</a:t>
            </a: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selects catalogued queries · </a:t>
            </a:r>
            <a:r>
              <a:rPr lang="en-US" sz="1200" b="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Narrate</a:t>
            </a: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writes from findings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077200" y="2059942"/>
            <a:ext cx="3149600" cy="482600"/>
          </a:xfrm>
          <a:prstGeom prst="roundRect">
            <a:avLst>
              <a:gd name="adj" fmla="val 10526"/>
            </a:avLst>
          </a:prstGeom>
          <a:solidFill>
            <a:srgbClr val="E4F1EE"/>
          </a:solidFill>
          <a:ln/>
        </p:spPr>
      </p:sp>
      <p:sp>
        <p:nvSpPr>
          <p:cNvPr id="21" name="Text 16"/>
          <p:cNvSpPr/>
          <p:nvPr/>
        </p:nvSpPr>
        <p:spPr>
          <a:xfrm>
            <a:off x="8153400" y="2110742"/>
            <a:ext cx="3087116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0B4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queries, the other writes — never both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12800" y="2783842"/>
            <a:ext cx="3454400" cy="1490980"/>
          </a:xfrm>
          <a:prstGeom prst="roundRect">
            <a:avLst>
              <a:gd name="adj" fmla="val 5963"/>
            </a:avLst>
          </a:prstGeom>
          <a:solidFill>
            <a:srgbClr val="F5F8F9"/>
          </a:solidFill>
          <a:ln/>
        </p:spPr>
      </p:sp>
      <p:pic>
        <p:nvPicPr>
          <p:cNvPr id="23" name="Image 3" descr="Sta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65200" y="2931158"/>
            <a:ext cx="190500" cy="1905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19200" y="2923542"/>
            <a:ext cx="1369536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Guidance Agent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65200" y="3192785"/>
            <a:ext cx="3244088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Coaching and next best action on the individual's own numbers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965200" y="3652527"/>
            <a:ext cx="3149600" cy="482600"/>
          </a:xfrm>
          <a:prstGeom prst="roundRect">
            <a:avLst>
              <a:gd name="adj" fmla="val 10526"/>
            </a:avLst>
          </a:prstGeom>
          <a:solidFill>
            <a:srgbClr val="E4F1EE"/>
          </a:solidFill>
          <a:ln/>
        </p:spPr>
      </p:sp>
      <p:sp>
        <p:nvSpPr>
          <p:cNvPr id="27" name="Text 21"/>
          <p:cNvSpPr/>
          <p:nvPr/>
        </p:nvSpPr>
        <p:spPr>
          <a:xfrm>
            <a:off x="1041400" y="3703327"/>
            <a:ext cx="3087116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0B4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Retrieved guidance — never invented advice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368800" y="2783842"/>
            <a:ext cx="3454400" cy="1490980"/>
          </a:xfrm>
          <a:prstGeom prst="roundRect">
            <a:avLst>
              <a:gd name="adj" fmla="val 5963"/>
            </a:avLst>
          </a:prstGeom>
          <a:solidFill>
            <a:srgbClr val="F5F8F9"/>
          </a:solidFill>
          <a:ln/>
        </p:spPr>
      </p:sp>
      <p:pic>
        <p:nvPicPr>
          <p:cNvPr id="29" name="Image 4" descr="Chat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21200" y="2931158"/>
            <a:ext cx="190500" cy="1905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775200" y="2923542"/>
            <a:ext cx="184401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Practice Coach Agent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4521200" y="3192785"/>
            <a:ext cx="3244088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Conversational answers across data and relationships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4521200" y="3652527"/>
            <a:ext cx="3149600" cy="292100"/>
          </a:xfrm>
          <a:prstGeom prst="roundRect">
            <a:avLst>
              <a:gd name="adj" fmla="val 17391"/>
            </a:avLst>
          </a:prstGeom>
          <a:solidFill>
            <a:srgbClr val="E4F1EE"/>
          </a:solidFill>
          <a:ln/>
        </p:spPr>
      </p:sp>
      <p:sp>
        <p:nvSpPr>
          <p:cNvPr id="33" name="Text 26"/>
          <p:cNvSpPr/>
          <p:nvPr/>
        </p:nvSpPr>
        <p:spPr>
          <a:xfrm>
            <a:off x="4597400" y="3703327"/>
            <a:ext cx="308711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0B4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the user's entitlements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7924800" y="2783842"/>
            <a:ext cx="3454400" cy="1490980"/>
          </a:xfrm>
          <a:prstGeom prst="roundRect">
            <a:avLst>
              <a:gd name="adj" fmla="val 5963"/>
            </a:avLst>
          </a:prstGeom>
          <a:solidFill>
            <a:srgbClr val="0B1622"/>
          </a:solidFill>
          <a:ln/>
        </p:spPr>
      </p:sp>
      <p:pic>
        <p:nvPicPr>
          <p:cNvPr id="35" name="Image 5" descr="Trust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77200" y="2931158"/>
            <a:ext cx="190500" cy="19050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331200" y="2923542"/>
            <a:ext cx="1335961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Guardrail Agent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8077200" y="3192785"/>
            <a:ext cx="3244088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Screens every input; verifies every output before it is shown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8077200" y="3652527"/>
            <a:ext cx="3149600" cy="292100"/>
          </a:xfrm>
          <a:prstGeom prst="roundRect">
            <a:avLst>
              <a:gd name="adj" fmla="val 17391"/>
            </a:avLst>
          </a:prstGeom>
          <a:solidFill>
            <a:srgbClr val="3A1A14"/>
          </a:solidFill>
          <a:ln/>
        </p:spPr>
      </p:sp>
      <p:sp>
        <p:nvSpPr>
          <p:cNvPr id="39" name="Text 31"/>
          <p:cNvSpPr/>
          <p:nvPr/>
        </p:nvSpPr>
        <p:spPr>
          <a:xfrm>
            <a:off x="8153400" y="3703327"/>
            <a:ext cx="308711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FB9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Fails closed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812800" y="4414527"/>
            <a:ext cx="10566400" cy="708660"/>
          </a:xfrm>
          <a:prstGeom prst="roundRect">
            <a:avLst>
              <a:gd name="adj" fmla="val 12545"/>
            </a:avLst>
          </a:prstGeom>
          <a:solidFill>
            <a:srgbClr val="E4F1EE"/>
          </a:solidFill>
          <a:ln/>
        </p:spPr>
      </p:sp>
      <p:sp>
        <p:nvSpPr>
          <p:cNvPr id="41" name="Shape 33"/>
          <p:cNvSpPr/>
          <p:nvPr/>
        </p:nvSpPr>
        <p:spPr>
          <a:xfrm>
            <a:off x="812800" y="4414527"/>
            <a:ext cx="10566400" cy="708660"/>
          </a:xfrm>
          <a:custGeom>
            <a:avLst/>
            <a:gdLst/>
            <a:ahLst/>
            <a:cxnLst/>
            <a:rect l="l" t="t" r="r" b="b"/>
            <a:pathLst>
              <a:path w="10566400" h="708660">
                <a:moveTo>
                  <a:pt x="88900" y="708660"/>
                </a:moveTo>
                <a:lnTo>
                  <a:pt x="88900" y="708660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lnTo>
                  <a:pt x="88900" y="0"/>
                </a:lnTo>
                <a:arcTo wR="57150" hR="88900" stAng="16200000" swAng="-5400000"/>
                <a:lnTo>
                  <a:pt x="31750" y="619760"/>
                </a:lnTo>
                <a:arcTo wR="57150" hR="88900" stAng="10800000" swAng="-5400000"/>
                <a:close/>
              </a:path>
            </a:pathLst>
          </a:custGeom>
          <a:solidFill>
            <a:srgbClr val="10897A"/>
          </a:solidFill>
          <a:ln/>
        </p:spPr>
      </p:sp>
      <p:pic>
        <p:nvPicPr>
          <p:cNvPr id="42" name="Image 6" descr="Verified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21080" y="4654550"/>
            <a:ext cx="228600" cy="22860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389380" y="4554227"/>
            <a:ext cx="10106381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0B4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investigation phase can query but cannot write. The narration phase can write but cannot query. </a:t>
            </a:r>
            <a:r>
              <a:rPr lang="en-US" sz="1300" b="1" dirty="0">
                <a:solidFill>
                  <a:srgbClr val="0B4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separation is why a generated narrative cannot invent a number.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4403C"/>
              </a:gs>
              <a:gs pos="62000">
                <a:srgbClr val="0B1622"/>
              </a:gs>
            </a:gsLst>
            <a:path path="circle">
              <a:fillToRect l="50000" r="5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635000"/>
            <a:ext cx="4145941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F5F8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 Star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990386" y="782327"/>
            <a:ext cx="372792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layers. Each depends on the one below it.</a:t>
            </a:r>
            <a:endParaRPr lang="en-US" sz="1300" dirty="0"/>
          </a:p>
        </p:txBody>
      </p:sp>
      <p:pic>
        <p:nvPicPr>
          <p:cNvPr id="5" name="Image 0" descr="arrow-u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2547627"/>
            <a:ext cx="190500" cy="393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7400" y="3030227"/>
            <a:ext cx="44450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380"/>
              </a:lnSpc>
              <a:buNone/>
            </a:pPr>
            <a:r>
              <a:rPr lang="en-US" sz="1150" dirty="0">
                <a:solidFill>
                  <a:srgbClr val="6FD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</a:t>
            </a:r>
            <a:endParaRPr lang="en-US" sz="1150" dirty="0"/>
          </a:p>
          <a:p>
            <a:pPr marL="0" indent="0" algn="ctr">
              <a:lnSpc>
                <a:spcPts val="1380"/>
              </a:lnSpc>
              <a:buNone/>
            </a:pPr>
            <a:r>
              <a:rPr lang="en-US" sz="1150" dirty="0">
                <a:solidFill>
                  <a:srgbClr val="6FD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1320800" y="1153158"/>
            <a:ext cx="9550400" cy="572770"/>
          </a:xfrm>
          <a:prstGeom prst="roundRect">
            <a:avLst>
              <a:gd name="adj" fmla="val 15521"/>
            </a:avLst>
          </a:prstGeom>
          <a:solidFill>
            <a:srgbClr val="1C3D58"/>
          </a:solidFill>
          <a:ln/>
        </p:spPr>
      </p:sp>
      <p:sp>
        <p:nvSpPr>
          <p:cNvPr id="8" name="Text 5"/>
          <p:cNvSpPr/>
          <p:nvPr/>
        </p:nvSpPr>
        <p:spPr>
          <a:xfrm>
            <a:off x="1485900" y="1337308"/>
            <a:ext cx="85090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b="1" kern="0" spc="100" dirty="0">
                <a:solidFill>
                  <a:srgbClr val="8FC4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LAYER 5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425700" y="1325252"/>
            <a:ext cx="163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F8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Experience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152900" y="1280158"/>
            <a:ext cx="1713865" cy="318770"/>
          </a:xfrm>
          <a:prstGeom prst="roundRect">
            <a:avLst>
              <a:gd name="adj" fmla="val 15936"/>
            </a:avLst>
          </a:prstGeom>
          <a:solidFill>
            <a:srgbClr val="25506F"/>
          </a:solidFill>
          <a:ln/>
        </p:spPr>
      </p:sp>
      <p:sp>
        <p:nvSpPr>
          <p:cNvPr id="11" name="Text 8"/>
          <p:cNvSpPr/>
          <p:nvPr/>
        </p:nvSpPr>
        <p:spPr>
          <a:xfrm>
            <a:off x="4254500" y="1337308"/>
            <a:ext cx="1561465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D6E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Management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930265" y="1280158"/>
            <a:ext cx="796052" cy="318770"/>
          </a:xfrm>
          <a:prstGeom prst="roundRect">
            <a:avLst>
              <a:gd name="adj" fmla="val 15936"/>
            </a:avLst>
          </a:prstGeom>
          <a:solidFill>
            <a:srgbClr val="25506F"/>
          </a:solidFill>
          <a:ln/>
        </p:spPr>
      </p:sp>
      <p:sp>
        <p:nvSpPr>
          <p:cNvPr id="13" name="Text 10"/>
          <p:cNvSpPr/>
          <p:nvPr/>
        </p:nvSpPr>
        <p:spPr>
          <a:xfrm>
            <a:off x="6031865" y="1337308"/>
            <a:ext cx="643652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D6E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iPerform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789817" y="1280158"/>
            <a:ext cx="1742043" cy="318770"/>
          </a:xfrm>
          <a:prstGeom prst="roundRect">
            <a:avLst>
              <a:gd name="adj" fmla="val 15936"/>
            </a:avLst>
          </a:prstGeom>
          <a:solidFill>
            <a:srgbClr val="25506F"/>
          </a:solidFill>
          <a:ln/>
        </p:spPr>
      </p:sp>
      <p:sp>
        <p:nvSpPr>
          <p:cNvPr id="15" name="Text 12"/>
          <p:cNvSpPr/>
          <p:nvPr/>
        </p:nvSpPr>
        <p:spPr>
          <a:xfrm>
            <a:off x="6891417" y="1337308"/>
            <a:ext cx="1589643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D6E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Conversational agents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595360" y="1280158"/>
            <a:ext cx="1378029" cy="318770"/>
          </a:xfrm>
          <a:prstGeom prst="roundRect">
            <a:avLst>
              <a:gd name="adj" fmla="val 15936"/>
            </a:avLst>
          </a:prstGeom>
          <a:solidFill>
            <a:srgbClr val="25506F"/>
          </a:solidFill>
          <a:ln/>
        </p:spPr>
      </p:sp>
      <p:sp>
        <p:nvSpPr>
          <p:cNvPr id="17" name="Text 14"/>
          <p:cNvSpPr/>
          <p:nvPr/>
        </p:nvSpPr>
        <p:spPr>
          <a:xfrm>
            <a:off x="8696960" y="1337308"/>
            <a:ext cx="1225629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D6E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&amp; delivery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1320800" y="1814835"/>
            <a:ext cx="9550400" cy="572770"/>
          </a:xfrm>
          <a:prstGeom prst="roundRect">
            <a:avLst>
              <a:gd name="adj" fmla="val 15521"/>
            </a:avLst>
          </a:prstGeom>
          <a:solidFill>
            <a:srgbClr val="3A2A10"/>
          </a:solidFill>
          <a:ln/>
        </p:spPr>
      </p:sp>
      <p:sp>
        <p:nvSpPr>
          <p:cNvPr id="19" name="Text 16"/>
          <p:cNvSpPr/>
          <p:nvPr/>
        </p:nvSpPr>
        <p:spPr>
          <a:xfrm>
            <a:off x="1485900" y="1998985"/>
            <a:ext cx="85090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b="1" kern="0" spc="100" dirty="0">
                <a:solidFill>
                  <a:srgbClr val="F0C99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LAYER 4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2425700" y="1986917"/>
            <a:ext cx="163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F8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Intelligence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152900" y="1941835"/>
            <a:ext cx="1651714" cy="318770"/>
          </a:xfrm>
          <a:prstGeom prst="roundRect">
            <a:avLst>
              <a:gd name="adj" fmla="val 15936"/>
            </a:avLst>
          </a:prstGeom>
          <a:solidFill>
            <a:srgbClr val="4E3A16"/>
          </a:solidFill>
          <a:ln/>
        </p:spPr>
      </p:sp>
      <p:sp>
        <p:nvSpPr>
          <p:cNvPr id="22" name="Text 19"/>
          <p:cNvSpPr/>
          <p:nvPr/>
        </p:nvSpPr>
        <p:spPr>
          <a:xfrm>
            <a:off x="4254500" y="1998985"/>
            <a:ext cx="1499314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F6E2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insights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868114" y="1941835"/>
            <a:ext cx="2240201" cy="318770"/>
          </a:xfrm>
          <a:prstGeom prst="roundRect">
            <a:avLst>
              <a:gd name="adj" fmla="val 15936"/>
            </a:avLst>
          </a:prstGeom>
          <a:solidFill>
            <a:srgbClr val="4E3A16"/>
          </a:solidFill>
          <a:ln/>
        </p:spPr>
      </p:sp>
      <p:sp>
        <p:nvSpPr>
          <p:cNvPr id="24" name="Text 21"/>
          <p:cNvSpPr/>
          <p:nvPr/>
        </p:nvSpPr>
        <p:spPr>
          <a:xfrm>
            <a:off x="5969714" y="1998985"/>
            <a:ext cx="2098111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F6E2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 &amp; recommendation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171815" y="1941835"/>
            <a:ext cx="861933" cy="318770"/>
          </a:xfrm>
          <a:prstGeom prst="roundRect">
            <a:avLst>
              <a:gd name="adj" fmla="val 15936"/>
            </a:avLst>
          </a:prstGeom>
          <a:solidFill>
            <a:srgbClr val="4E3A16"/>
          </a:solidFill>
          <a:ln/>
        </p:spPr>
      </p:sp>
      <p:sp>
        <p:nvSpPr>
          <p:cNvPr id="26" name="Text 23"/>
          <p:cNvSpPr/>
          <p:nvPr/>
        </p:nvSpPr>
        <p:spPr>
          <a:xfrm>
            <a:off x="8273415" y="1998985"/>
            <a:ext cx="709533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F6E2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Coaching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9097249" y="1941835"/>
            <a:ext cx="1583928" cy="318770"/>
          </a:xfrm>
          <a:prstGeom prst="roundRect">
            <a:avLst>
              <a:gd name="adj" fmla="val 15936"/>
            </a:avLst>
          </a:prstGeom>
          <a:solidFill>
            <a:srgbClr val="4E3A16"/>
          </a:solidFill>
          <a:ln/>
        </p:spPr>
      </p:sp>
      <p:sp>
        <p:nvSpPr>
          <p:cNvPr id="28" name="Text 25"/>
          <p:cNvSpPr/>
          <p:nvPr/>
        </p:nvSpPr>
        <p:spPr>
          <a:xfrm>
            <a:off x="9198849" y="1998985"/>
            <a:ext cx="1431528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F6E2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Opportunity scoring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1320800" y="2476500"/>
            <a:ext cx="9550400" cy="572770"/>
          </a:xfrm>
          <a:prstGeom prst="roundRect">
            <a:avLst>
              <a:gd name="adj" fmla="val 15521"/>
            </a:avLst>
          </a:prstGeom>
          <a:solidFill>
            <a:srgbClr val="2E2350"/>
          </a:solidFill>
          <a:ln/>
        </p:spPr>
      </p:sp>
      <p:sp>
        <p:nvSpPr>
          <p:cNvPr id="30" name="Text 27"/>
          <p:cNvSpPr/>
          <p:nvPr/>
        </p:nvSpPr>
        <p:spPr>
          <a:xfrm>
            <a:off x="1485900" y="2660650"/>
            <a:ext cx="85090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b="1" kern="0" spc="100" dirty="0">
                <a:solidFill>
                  <a:srgbClr val="BDAE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LAYER 3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2425700" y="2648583"/>
            <a:ext cx="163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F8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 platform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4152900" y="2603500"/>
            <a:ext cx="1141333" cy="318770"/>
          </a:xfrm>
          <a:prstGeom prst="roundRect">
            <a:avLst>
              <a:gd name="adj" fmla="val 15936"/>
            </a:avLst>
          </a:prstGeom>
          <a:solidFill>
            <a:srgbClr val="3E3068"/>
          </a:solidFill>
          <a:ln/>
        </p:spPr>
      </p:sp>
      <p:sp>
        <p:nvSpPr>
          <p:cNvPr id="33" name="Text 30"/>
          <p:cNvSpPr/>
          <p:nvPr/>
        </p:nvSpPr>
        <p:spPr>
          <a:xfrm>
            <a:off x="4254500" y="2660650"/>
            <a:ext cx="988933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DCD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Orchestration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5357733" y="2603500"/>
            <a:ext cx="1604089" cy="318770"/>
          </a:xfrm>
          <a:prstGeom prst="roundRect">
            <a:avLst>
              <a:gd name="adj" fmla="val 15936"/>
            </a:avLst>
          </a:prstGeom>
          <a:solidFill>
            <a:srgbClr val="3E3068"/>
          </a:solidFill>
          <a:ln/>
        </p:spPr>
      </p:sp>
      <p:sp>
        <p:nvSpPr>
          <p:cNvPr id="35" name="Text 32"/>
          <p:cNvSpPr/>
          <p:nvPr/>
        </p:nvSpPr>
        <p:spPr>
          <a:xfrm>
            <a:off x="5459333" y="2660650"/>
            <a:ext cx="1451689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DCD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engineering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7025322" y="2603500"/>
            <a:ext cx="1405334" cy="318770"/>
          </a:xfrm>
          <a:prstGeom prst="roundRect">
            <a:avLst>
              <a:gd name="adj" fmla="val 15936"/>
            </a:avLst>
          </a:prstGeom>
          <a:solidFill>
            <a:srgbClr val="3E3068"/>
          </a:solidFill>
          <a:ln/>
        </p:spPr>
      </p:sp>
      <p:sp>
        <p:nvSpPr>
          <p:cNvPr id="37" name="Text 34"/>
          <p:cNvSpPr/>
          <p:nvPr/>
        </p:nvSpPr>
        <p:spPr>
          <a:xfrm>
            <a:off x="7126922" y="2660650"/>
            <a:ext cx="1252934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DCD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&amp; trust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8494157" y="2603500"/>
            <a:ext cx="1706642" cy="318770"/>
          </a:xfrm>
          <a:prstGeom prst="roundRect">
            <a:avLst>
              <a:gd name="adj" fmla="val 15936"/>
            </a:avLst>
          </a:prstGeom>
          <a:solidFill>
            <a:srgbClr val="3E3068"/>
          </a:solidFill>
          <a:ln/>
        </p:spPr>
      </p:sp>
      <p:sp>
        <p:nvSpPr>
          <p:cNvPr id="39" name="Text 36"/>
          <p:cNvSpPr/>
          <p:nvPr/>
        </p:nvSpPr>
        <p:spPr>
          <a:xfrm>
            <a:off x="8595757" y="2660650"/>
            <a:ext cx="1554242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DCD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Governed tool access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1327150" y="3144527"/>
            <a:ext cx="9537700" cy="962660"/>
          </a:xfrm>
          <a:prstGeom prst="roundRect">
            <a:avLst>
              <a:gd name="adj" fmla="val 8575"/>
            </a:avLst>
          </a:prstGeom>
          <a:solidFill>
            <a:srgbClr val="0F4A42"/>
          </a:solidFill>
          <a:ln w="12700">
            <a:solidFill>
              <a:srgbClr val="10897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496060" y="3523617"/>
            <a:ext cx="85090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b="1" kern="0" spc="100" dirty="0">
                <a:solidFill>
                  <a:srgbClr val="6FD3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LAYER 2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2435860" y="3511550"/>
            <a:ext cx="163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F8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Knowledge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4163060" y="3275335"/>
            <a:ext cx="2088594" cy="318770"/>
          </a:xfrm>
          <a:prstGeom prst="roundRect">
            <a:avLst>
              <a:gd name="adj" fmla="val 15936"/>
            </a:avLst>
          </a:prstGeom>
          <a:solidFill>
            <a:srgbClr val="156056"/>
          </a:solidFill>
          <a:ln/>
        </p:spPr>
      </p:sp>
      <p:sp>
        <p:nvSpPr>
          <p:cNvPr id="44" name="Text 41"/>
          <p:cNvSpPr/>
          <p:nvPr/>
        </p:nvSpPr>
        <p:spPr>
          <a:xfrm>
            <a:off x="4264660" y="3332485"/>
            <a:ext cx="1941956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CF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Temporal knowledge graph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15154" y="3275335"/>
            <a:ext cx="1929924" cy="318770"/>
          </a:xfrm>
          <a:prstGeom prst="roundRect">
            <a:avLst>
              <a:gd name="adj" fmla="val 15936"/>
            </a:avLst>
          </a:prstGeom>
          <a:solidFill>
            <a:srgbClr val="156056"/>
          </a:solidFill>
          <a:ln/>
        </p:spPr>
      </p:sp>
      <p:sp>
        <p:nvSpPr>
          <p:cNvPr id="46" name="Text 43"/>
          <p:cNvSpPr/>
          <p:nvPr/>
        </p:nvSpPr>
        <p:spPr>
          <a:xfrm>
            <a:off x="6416754" y="3332485"/>
            <a:ext cx="1778526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CF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graph &amp; memory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8308578" y="3275335"/>
            <a:ext cx="1067832" cy="318770"/>
          </a:xfrm>
          <a:prstGeom prst="roundRect">
            <a:avLst>
              <a:gd name="adj" fmla="val 15936"/>
            </a:avLst>
          </a:prstGeom>
          <a:solidFill>
            <a:srgbClr val="156056"/>
          </a:solidFill>
          <a:ln/>
        </p:spPr>
      </p:sp>
      <p:sp>
        <p:nvSpPr>
          <p:cNvPr id="48" name="Text 45"/>
          <p:cNvSpPr/>
          <p:nvPr/>
        </p:nvSpPr>
        <p:spPr>
          <a:xfrm>
            <a:off x="8410178" y="3332485"/>
            <a:ext cx="915432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CF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index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4163060" y="3657600"/>
            <a:ext cx="1978501" cy="318770"/>
          </a:xfrm>
          <a:prstGeom prst="roundRect">
            <a:avLst>
              <a:gd name="adj" fmla="val 15936"/>
            </a:avLst>
          </a:prstGeom>
          <a:solidFill>
            <a:srgbClr val="156056"/>
          </a:solidFill>
          <a:ln/>
        </p:spPr>
      </p:sp>
      <p:sp>
        <p:nvSpPr>
          <p:cNvPr id="50" name="Text 47"/>
          <p:cNvSpPr/>
          <p:nvPr/>
        </p:nvSpPr>
        <p:spPr>
          <a:xfrm>
            <a:off x="4264660" y="3714750"/>
            <a:ext cx="182856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CF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Algorithms &amp; embeddings</a:t>
            </a:r>
            <a:endParaRPr lang="en-US" sz="1150" dirty="0"/>
          </a:p>
        </p:txBody>
      </p:sp>
      <p:sp>
        <p:nvSpPr>
          <p:cNvPr id="51" name="Shape 48"/>
          <p:cNvSpPr/>
          <p:nvPr/>
        </p:nvSpPr>
        <p:spPr>
          <a:xfrm>
            <a:off x="1320800" y="4202435"/>
            <a:ext cx="9550400" cy="572770"/>
          </a:xfrm>
          <a:prstGeom prst="roundRect">
            <a:avLst>
              <a:gd name="adj" fmla="val 15521"/>
            </a:avLst>
          </a:prstGeom>
          <a:solidFill>
            <a:srgbClr val="192634"/>
          </a:solidFill>
          <a:ln/>
        </p:spPr>
      </p:sp>
      <p:sp>
        <p:nvSpPr>
          <p:cNvPr id="52" name="Text 49"/>
          <p:cNvSpPr/>
          <p:nvPr/>
        </p:nvSpPr>
        <p:spPr>
          <a:xfrm>
            <a:off x="1485900" y="4386585"/>
            <a:ext cx="85090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b="1" kern="0" spc="100" dirty="0">
                <a:solidFill>
                  <a:srgbClr val="9FB3B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LAYER 1</a:t>
            </a:r>
            <a:endParaRPr lang="en-US" sz="1150" dirty="0"/>
          </a:p>
        </p:txBody>
      </p:sp>
      <p:sp>
        <p:nvSpPr>
          <p:cNvPr id="53" name="Text 50"/>
          <p:cNvSpPr/>
          <p:nvPr/>
        </p:nvSpPr>
        <p:spPr>
          <a:xfrm>
            <a:off x="2425700" y="4374517"/>
            <a:ext cx="163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F8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54" name="Shape 51"/>
          <p:cNvSpPr/>
          <p:nvPr/>
        </p:nvSpPr>
        <p:spPr>
          <a:xfrm>
            <a:off x="4152900" y="4329435"/>
            <a:ext cx="2124472" cy="318770"/>
          </a:xfrm>
          <a:prstGeom prst="roundRect">
            <a:avLst>
              <a:gd name="adj" fmla="val 15936"/>
            </a:avLst>
          </a:prstGeom>
          <a:solidFill>
            <a:srgbClr val="26384A"/>
          </a:solidFill>
          <a:ln/>
        </p:spPr>
      </p:sp>
      <p:sp>
        <p:nvSpPr>
          <p:cNvPr id="55" name="Text 52"/>
          <p:cNvSpPr/>
          <p:nvPr/>
        </p:nvSpPr>
        <p:spPr>
          <a:xfrm>
            <a:off x="4254500" y="4386585"/>
            <a:ext cx="197891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CFDA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knowledge ingestion</a:t>
            </a:r>
            <a:endParaRPr lang="en-US" sz="1150" dirty="0"/>
          </a:p>
        </p:txBody>
      </p:sp>
      <p:sp>
        <p:nvSpPr>
          <p:cNvPr id="56" name="Shape 53"/>
          <p:cNvSpPr/>
          <p:nvPr/>
        </p:nvSpPr>
        <p:spPr>
          <a:xfrm>
            <a:off x="6340872" y="4329435"/>
            <a:ext cx="1771729" cy="318770"/>
          </a:xfrm>
          <a:prstGeom prst="roundRect">
            <a:avLst>
              <a:gd name="adj" fmla="val 15936"/>
            </a:avLst>
          </a:prstGeom>
          <a:solidFill>
            <a:srgbClr val="26384A"/>
          </a:solidFill>
          <a:ln/>
        </p:spPr>
      </p:sp>
      <p:sp>
        <p:nvSpPr>
          <p:cNvPr id="57" name="Text 54"/>
          <p:cNvSpPr/>
          <p:nvPr/>
        </p:nvSpPr>
        <p:spPr>
          <a:xfrm>
            <a:off x="6442472" y="4386585"/>
            <a:ext cx="1619329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CFDA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&amp; governance</a:t>
            </a:r>
            <a:endParaRPr lang="en-US" sz="1150" dirty="0"/>
          </a:p>
        </p:txBody>
      </p:sp>
      <p:sp>
        <p:nvSpPr>
          <p:cNvPr id="58" name="Shape 55"/>
          <p:cNvSpPr/>
          <p:nvPr/>
        </p:nvSpPr>
        <p:spPr>
          <a:xfrm>
            <a:off x="8176102" y="4329435"/>
            <a:ext cx="1115457" cy="318770"/>
          </a:xfrm>
          <a:prstGeom prst="roundRect">
            <a:avLst>
              <a:gd name="adj" fmla="val 15936"/>
            </a:avLst>
          </a:prstGeom>
          <a:solidFill>
            <a:srgbClr val="26384A"/>
          </a:solidFill>
          <a:ln/>
        </p:spPr>
      </p:sp>
      <p:sp>
        <p:nvSpPr>
          <p:cNvPr id="59" name="Text 56"/>
          <p:cNvSpPr/>
          <p:nvPr/>
        </p:nvSpPr>
        <p:spPr>
          <a:xfrm>
            <a:off x="8277702" y="4386585"/>
            <a:ext cx="963057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CFDA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</a:t>
            </a:r>
            <a:endParaRPr lang="en-US" sz="1150" dirty="0"/>
          </a:p>
        </p:txBody>
      </p:sp>
      <p:sp>
        <p:nvSpPr>
          <p:cNvPr id="60" name="Shape 57"/>
          <p:cNvSpPr/>
          <p:nvPr/>
        </p:nvSpPr>
        <p:spPr>
          <a:xfrm>
            <a:off x="9355058" y="4329435"/>
            <a:ext cx="1148001" cy="318770"/>
          </a:xfrm>
          <a:prstGeom prst="roundRect">
            <a:avLst>
              <a:gd name="adj" fmla="val 15936"/>
            </a:avLst>
          </a:prstGeom>
          <a:solidFill>
            <a:srgbClr val="26384A"/>
          </a:solidFill>
          <a:ln/>
        </p:spPr>
      </p:sp>
      <p:sp>
        <p:nvSpPr>
          <p:cNvPr id="61" name="Text 58"/>
          <p:cNvSpPr/>
          <p:nvPr/>
        </p:nvSpPr>
        <p:spPr>
          <a:xfrm>
            <a:off x="9456658" y="4386585"/>
            <a:ext cx="995601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CFDA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platform</a:t>
            </a:r>
            <a:endParaRPr lang="en-US" sz="1150" dirty="0"/>
          </a:p>
        </p:txBody>
      </p:sp>
      <p:pic>
        <p:nvPicPr>
          <p:cNvPr id="62" name="Image 1" descr="arrow-down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087100" y="2547627"/>
            <a:ext cx="190500" cy="393700"/>
          </a:xfrm>
          <a:prstGeom prst="rect">
            <a:avLst/>
          </a:prstGeom>
        </p:spPr>
      </p:pic>
      <p:sp>
        <p:nvSpPr>
          <p:cNvPr id="63" name="Text 59"/>
          <p:cNvSpPr/>
          <p:nvPr/>
        </p:nvSpPr>
        <p:spPr>
          <a:xfrm>
            <a:off x="10960100" y="3030227"/>
            <a:ext cx="44450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380"/>
              </a:lnSpc>
              <a:buNone/>
            </a:pPr>
            <a:r>
              <a:rPr lang="en-US" sz="1150" dirty="0">
                <a:solidFill>
                  <a:srgbClr val="F0C9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</a:t>
            </a:r>
            <a:endParaRPr lang="en-US" sz="1150" dirty="0"/>
          </a:p>
          <a:p>
            <a:pPr marL="0" indent="0" algn="ctr">
              <a:lnSpc>
                <a:spcPts val="1380"/>
              </a:lnSpc>
              <a:buNone/>
            </a:pPr>
            <a:r>
              <a:rPr lang="en-US" sz="1150" dirty="0">
                <a:solidFill>
                  <a:srgbClr val="F0C9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</a:t>
            </a:r>
            <a:endParaRPr lang="en-US" sz="1150" dirty="0"/>
          </a:p>
        </p:txBody>
      </p:sp>
      <p:sp>
        <p:nvSpPr>
          <p:cNvPr id="64" name="Text 60"/>
          <p:cNvSpPr/>
          <p:nvPr/>
        </p:nvSpPr>
        <p:spPr>
          <a:xfrm>
            <a:off x="812800" y="6014727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Bottom-up</a:t>
            </a:r>
            <a:r>
              <a:rPr lang="en-US" sz="1300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the build order — nothing above works without what is beneath it. </a:t>
            </a:r>
            <a:r>
              <a:rPr lang="en-US" sz="1300" b="1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Top-down</a:t>
            </a:r>
            <a:r>
              <a:rPr lang="en-US" sz="1300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the value order — the business sees Layer 5; Layer 1 is what makes it trustworthy.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597729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 Star implementation journey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38275"/>
            <a:ext cx="3053477" cy="328041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4" name="Image 0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080" y="165100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643385"/>
            <a:ext cx="47045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Now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21080" y="1988827"/>
            <a:ext cx="27225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and running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21080" y="2303785"/>
            <a:ext cx="2722565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AI and Practice Coach on production data</a:t>
            </a:r>
            <a:endParaRPr lang="en-US" sz="1200" dirty="0"/>
          </a:p>
          <a:p>
            <a:pPr marL="182880" indent="-14884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extracted from documents with citations</a:t>
            </a:r>
            <a:endParaRPr lang="en-US" sz="1200" dirty="0"/>
          </a:p>
          <a:p>
            <a:pPr marL="182880" indent="-14884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Firm and advisor revenue with driver attribution</a:t>
            </a:r>
            <a:endParaRPr lang="en-US" sz="1200" dirty="0"/>
          </a:p>
          <a:p>
            <a:pPr marL="182880" indent="-14884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Exception detection across 5,455 advisors</a:t>
            </a:r>
            <a:endParaRPr lang="en-US" sz="1200" dirty="0"/>
          </a:p>
          <a:p>
            <a:pPr marL="182880" indent="-14884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Conversational assistant with evidence drill-down</a:t>
            </a:r>
            <a:endParaRPr lang="en-US" sz="1200" dirty="0"/>
          </a:p>
        </p:txBody>
      </p:sp>
      <p:pic>
        <p:nvPicPr>
          <p:cNvPr id="8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99627" y="2964185"/>
            <a:ext cx="444500" cy="228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4302" y="1438275"/>
            <a:ext cx="3053556" cy="328041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pic>
        <p:nvPicPr>
          <p:cNvPr id="10" name="Image 2" descr="Tool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79407" y="165100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84207" y="1643385"/>
            <a:ext cx="51125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779407" y="1988827"/>
            <a:ext cx="27226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06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design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779407" y="2303785"/>
            <a:ext cx="2722647" cy="1572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iPerform AI and iPerform Coach on the same platform</a:t>
            </a:r>
            <a:endParaRPr lang="en-US" sz="1200" dirty="0"/>
          </a:p>
          <a:p>
            <a:pPr marL="182880" indent="-14884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Cloud integration for document processing</a:t>
            </a:r>
            <a:endParaRPr lang="en-US" sz="1200" dirty="0"/>
          </a:p>
          <a:p>
            <a:pPr marL="182880" indent="-14884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production deployment</a:t>
            </a:r>
            <a:endParaRPr lang="en-US" sz="1200" dirty="0"/>
          </a:p>
          <a:p>
            <a:pPr marL="182880" indent="-14884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monthly generation</a:t>
            </a:r>
            <a:endParaRPr lang="en-US" sz="1200" dirty="0"/>
          </a:p>
          <a:p>
            <a:pPr marL="182880" indent="-14884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Opportunities and coaching</a:t>
            </a:r>
            <a:endParaRPr lang="en-US" sz="1200" dirty="0"/>
          </a:p>
        </p:txBody>
      </p:sp>
      <p:pic>
        <p:nvPicPr>
          <p:cNvPr id="14" name="Image 3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58033" y="2964185"/>
            <a:ext cx="444500" cy="2286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8329533" y="1435100"/>
            <a:ext cx="3049667" cy="3286760"/>
          </a:xfrm>
          <a:prstGeom prst="roundRect">
            <a:avLst>
              <a:gd name="adj" fmla="val 2915"/>
            </a:avLst>
          </a:prstGeom>
          <a:solidFill>
            <a:srgbClr val="0B1622"/>
          </a:solidFill>
          <a:ln/>
        </p:spPr>
      </p:sp>
      <p:pic>
        <p:nvPicPr>
          <p:cNvPr id="16" name="Image 4" descr="Sta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32733" y="1645927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837533" y="1638300"/>
            <a:ext cx="107315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 Star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8532733" y="1983742"/>
            <a:ext cx="27225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FD3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state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8532733" y="2298700"/>
            <a:ext cx="2722565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 and recommendation engine</a:t>
            </a:r>
            <a:endParaRPr lang="en-US" sz="1200" dirty="0"/>
          </a:p>
          <a:p>
            <a:pPr marL="182880" indent="-14884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 embeddings and behavioural models</a:t>
            </a:r>
            <a:endParaRPr lang="en-US" sz="1200" dirty="0"/>
          </a:p>
          <a:p>
            <a:pPr marL="182880" indent="-14884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temporal knowledge graph with as-of history</a:t>
            </a:r>
            <a:endParaRPr lang="en-US" sz="1200" dirty="0"/>
          </a:p>
          <a:p>
            <a:pPr marL="182880" indent="-14884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memory across conversations and outcomes</a:t>
            </a:r>
            <a:endParaRPr lang="en-US" sz="1200" dirty="0"/>
          </a:p>
          <a:p>
            <a:pPr marL="182880" indent="-148844" algn="l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learning from outcomes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812800" y="4925058"/>
            <a:ext cx="10566400" cy="571500"/>
          </a:xfrm>
          <a:prstGeom prst="roundRect">
            <a:avLst>
              <a:gd name="adj" fmla="val 15556"/>
            </a:avLst>
          </a:prstGeom>
          <a:solidFill>
            <a:srgbClr val="E4F1EE"/>
          </a:solidFill>
          <a:ln/>
        </p:spPr>
      </p:sp>
      <p:sp>
        <p:nvSpPr>
          <p:cNvPr id="21" name="Shape 14"/>
          <p:cNvSpPr/>
          <p:nvPr/>
        </p:nvSpPr>
        <p:spPr>
          <a:xfrm>
            <a:off x="812800" y="4925058"/>
            <a:ext cx="10566400" cy="571500"/>
          </a:xfrm>
          <a:custGeom>
            <a:avLst/>
            <a:gdLst/>
            <a:ahLst/>
            <a:cxnLst/>
            <a:rect l="l" t="t" r="r" b="b"/>
            <a:pathLst>
              <a:path w="10566400" h="571500">
                <a:moveTo>
                  <a:pt x="88900" y="571500"/>
                </a:moveTo>
                <a:lnTo>
                  <a:pt x="88900" y="571500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lnTo>
                  <a:pt x="88900" y="0"/>
                </a:lnTo>
                <a:arcTo wR="57150" hR="88900" stAng="16200000" swAng="-5400000"/>
                <a:lnTo>
                  <a:pt x="31750" y="482600"/>
                </a:lnTo>
                <a:arcTo wR="57150" hR="88900" stAng="10800000" swAng="-5400000"/>
                <a:close/>
              </a:path>
            </a:pathLst>
          </a:custGeom>
          <a:solidFill>
            <a:srgbClr val="10897A"/>
          </a:solidFill>
          <a:ln/>
        </p:spPr>
      </p:sp>
      <p:pic>
        <p:nvPicPr>
          <p:cNvPr id="22" name="Image 5" descr="Lightni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46480" y="5090158"/>
            <a:ext cx="241300" cy="2413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440180" y="5095081"/>
            <a:ext cx="7547410" cy="25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0B4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stage reuses the foundation beneath it. </a:t>
            </a:r>
            <a:r>
              <a:rPr lang="en-US" sz="1350" b="1" dirty="0">
                <a:solidFill>
                  <a:srgbClr val="0B4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is the argument for building it this way.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3490011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Production on AWS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353560" y="853442"/>
            <a:ext cx="463337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the firm's environment, not for a demonstration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278895"/>
          <a:ext cx="6034247" cy="4500880"/>
        </p:xfrm>
        <a:graphic>
          <a:graphicData uri="http://schemas.openxmlformats.org/drawingml/2006/table">
            <a:tbl>
              <a:tblPr/>
              <a:tblGrid>
                <a:gridCol w="2051644"/>
                <a:gridCol w="3982603"/>
              </a:tblGrid>
              <a:tr h="3759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6FD3C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Concern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9FB3B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Production approach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Edge &amp; identity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16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Corporate authentication; entitlements enforced at every layer, including in the database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Application tier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16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Containerised services, independently scaled by workload profile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Long-running analysis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16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Managed asynchronous execution with scheduling, retry and resumption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Knowledge graph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16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TigerGraph on Kubernetes — HA across zones, cross-region replication, point-in-time recovery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Operational state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16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Managed relational store for rules, versions, runs and conversation history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Documents &amp; retrieval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16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Content Cloud parses, chunks, embeds and indexes; consumed through governed API access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C6B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Observability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16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Tracing, metrics, logs and audit across agents, models, queries and 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009606" y="1268735"/>
            <a:ext cx="4369594" cy="1102360"/>
          </a:xfrm>
          <a:prstGeom prst="roundRect">
            <a:avLst>
              <a:gd name="adj" fmla="val 6912"/>
            </a:avLst>
          </a:prstGeom>
          <a:solidFill>
            <a:srgbClr val="E4F1EE"/>
          </a:solidFill>
          <a:ln/>
        </p:spPr>
      </p:sp>
      <p:sp>
        <p:nvSpPr>
          <p:cNvPr id="6" name="Shape 3"/>
          <p:cNvSpPr/>
          <p:nvPr/>
        </p:nvSpPr>
        <p:spPr>
          <a:xfrm>
            <a:off x="7009606" y="1268735"/>
            <a:ext cx="4369594" cy="1102360"/>
          </a:xfrm>
          <a:custGeom>
            <a:avLst/>
            <a:gdLst/>
            <a:ahLst/>
            <a:cxnLst/>
            <a:rect l="l" t="t" r="r" b="b"/>
            <a:pathLst>
              <a:path w="4369594" h="1102360">
                <a:moveTo>
                  <a:pt x="76200" y="1102360"/>
                </a:moveTo>
                <a:lnTo>
                  <a:pt x="76200" y="110236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44450" hR="76200" stAng="16200000" swAng="-5400000"/>
                <a:lnTo>
                  <a:pt x="31750" y="1026160"/>
                </a:lnTo>
                <a:arcTo wR="44450" hR="76200" stAng="10800000" swAng="-5400000"/>
                <a:close/>
              </a:path>
            </a:pathLst>
          </a:custGeom>
          <a:solidFill>
            <a:srgbClr val="10897A"/>
          </a:solidFill>
          <a:ln/>
        </p:spPr>
      </p:sp>
      <p:sp>
        <p:nvSpPr>
          <p:cNvPr id="7" name="Text 4"/>
          <p:cNvSpPr/>
          <p:nvPr/>
        </p:nvSpPr>
        <p:spPr>
          <a:xfrm>
            <a:off x="7205187" y="1408435"/>
            <a:ext cx="4129181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0B4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firm-wide evaluation across </a:t>
            </a:r>
            <a:r>
              <a:rPr lang="en-US" sz="1200" b="1" dirty="0">
                <a:solidFill>
                  <a:srgbClr val="0B4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5,455 advisors</a:t>
            </a:r>
            <a:r>
              <a:rPr lang="en-US" sz="1200" dirty="0">
                <a:solidFill>
                  <a:srgbClr val="0B4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cannot complete inside a web request. In production it does not try to — it runs as managed background work with progress, retry and resumption.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009606" y="2459992"/>
            <a:ext cx="4369594" cy="2074863"/>
          </a:xfrm>
          <a:prstGeom prst="roundRect">
            <a:avLst>
              <a:gd name="adj" fmla="val 3673"/>
            </a:avLst>
          </a:prstGeom>
          <a:solidFill>
            <a:srgbClr val="F5F8F9"/>
          </a:solidFill>
          <a:ln/>
        </p:spPr>
      </p:sp>
      <p:sp>
        <p:nvSpPr>
          <p:cNvPr id="9" name="Text 6"/>
          <p:cNvSpPr/>
          <p:nvPr/>
        </p:nvSpPr>
        <p:spPr>
          <a:xfrm>
            <a:off x="7174706" y="2599692"/>
            <a:ext cx="4160576" cy="21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kern="0" spc="150" dirty="0">
                <a:solidFill>
                  <a:srgbClr val="1089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 STRATEGY</a:t>
            </a:r>
            <a:endParaRPr lang="en-US" sz="1050" dirty="0"/>
          </a:p>
        </p:txBody>
      </p:sp>
      <p:pic>
        <p:nvPicPr>
          <p:cNvPr id="10" name="Image 0" descr="Lin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4706" y="2862585"/>
            <a:ext cx="177800" cy="177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28706" y="2862585"/>
            <a:ext cx="3466465" cy="616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b="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GraphQL</a:t>
            </a:r>
            <a:r>
              <a:rPr lang="en-US" sz="115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served natively from the database. Consumers shape their own queries; no resolver tier to build or maintain</a:t>
            </a:r>
            <a:endParaRPr lang="en-US" sz="1150" dirty="0"/>
          </a:p>
        </p:txBody>
      </p:sp>
      <p:pic>
        <p:nvPicPr>
          <p:cNvPr id="12" name="Image 1" descr="Glob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174706" y="3530290"/>
            <a:ext cx="177800" cy="177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28706" y="3530290"/>
            <a:ext cx="3466465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b="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</a:t>
            </a:r>
            <a:r>
              <a:rPr lang="en-US" sz="115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service endpoints aligned to existing bank standards</a:t>
            </a:r>
            <a:endParaRPr lang="en-US" sz="1150" dirty="0"/>
          </a:p>
        </p:txBody>
      </p:sp>
      <p:pic>
        <p:nvPicPr>
          <p:cNvPr id="14" name="Image 2" descr="Tool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174706" y="4000822"/>
            <a:ext cx="177800" cy="1778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28706" y="4000822"/>
            <a:ext cx="3466465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b="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</a:t>
            </a:r>
            <a:r>
              <a:rPr lang="en-US" sz="115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agents receive governed tools, not query access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812800" y="6220458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089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Detailed AWS design follows separately. Every architectural decision here assumes production.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5072648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GraphQL, served by the graph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77401" y="741685"/>
            <a:ext cx="292442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request where REST needs four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12800" y="760177"/>
            <a:ext cx="10229215" cy="5234226"/>
          </a:xfrm>
          <a:prstGeom prst="roundRect">
            <a:avLst>
              <a:gd name="adj" fmla="val 1698"/>
            </a:avLst>
          </a:prstGeom>
          <a:solidFill>
            <a:srgbClr val="0B1622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912577"/>
            <a:ext cx="101698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6FD3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ADVISOR 360 — ONE CALL, FOUR HOPS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0600" y="1202134"/>
            <a:ext cx="9873615" cy="2971800"/>
          </a:xfrm>
          <a:prstGeom prst="roundRect">
            <a:avLst>
              <a:gd name="adj" fmla="val 2137"/>
            </a:avLst>
          </a:prstGeom>
          <a:solidFill>
            <a:srgbClr val="142639"/>
          </a:solidFill>
          <a:ln/>
        </p:spPr>
      </p:sp>
      <p:sp>
        <p:nvSpPr>
          <p:cNvPr id="7" name="Text 5"/>
          <p:cNvSpPr/>
          <p:nvPr/>
        </p:nvSpPr>
        <p:spPr>
          <a:xfrm>
            <a:off x="1117600" y="1316434"/>
            <a:ext cx="9908204" cy="276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AdvisorBook($sid: String!) {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r>
              <a:rPr lang="en-US" sz="120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Advisor</a:t>
            </a:r>
            <a:r>
              <a:rPr lang="en-US" sz="1200" dirty="0">
                <a:solidFill>
                  <a:srgbClr val="C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(advisor_sid: $sid) {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advisor_name credited_revenue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200" dirty="0">
                <a:solidFill>
                  <a:srgbClr val="F0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advises</a:t>
            </a:r>
            <a:r>
              <a:rPr lang="en-US" sz="1200" dirty="0">
                <a:solidFill>
                  <a:srgbClr val="C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</a:t>
            </a:r>
            <a:r>
              <a:rPr lang="en-US" sz="120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Household</a:t>
            </a:r>
            <a:r>
              <a:rPr lang="en-US" sz="1200" dirty="0">
                <a:solidFill>
                  <a:srgbClr val="C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household_name total_aum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</a:t>
            </a:r>
            <a:r>
              <a:rPr lang="en-US" sz="1200" dirty="0">
                <a:solidFill>
                  <a:srgbClr val="F0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owns</a:t>
            </a:r>
            <a:r>
              <a:rPr lang="en-US" sz="1200" dirty="0">
                <a:solidFill>
                  <a:srgbClr val="C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</a:t>
            </a:r>
            <a:r>
              <a:rPr lang="en-US" sz="120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</a:t>
            </a:r>
            <a:r>
              <a:rPr lang="en-US" sz="1200" dirty="0">
                <a:solidFill>
                  <a:srgbClr val="C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account_key is_managed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r>
              <a:rPr lang="en-US" sz="1200" dirty="0">
                <a:solidFill>
                  <a:srgbClr val="F0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holds</a:t>
            </a:r>
            <a:r>
              <a:rPr lang="en-US" sz="1200" dirty="0">
                <a:solidFill>
                  <a:srgbClr val="C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</a:t>
            </a:r>
            <a:r>
              <a:rPr lang="en-US" sz="1200" dirty="0">
                <a:solidFill>
                  <a:srgbClr val="6F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r>
              <a:rPr lang="en-US" sz="1200" dirty="0">
                <a:solidFill>
                  <a:srgbClr val="C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name } }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} }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} }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}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4250134"/>
            <a:ext cx="10169824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9FB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Returns the advisor, every household, account and product in one document — shaped exactly as the screen needs 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184890" y="763352"/>
            <a:ext cx="308610" cy="1837055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9195" y="892262"/>
            <a:ext cx="50800" cy="189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81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it matters here</a:t>
            </a:r>
            <a:endParaRPr lang="en-US" sz="810" dirty="0"/>
          </a:p>
        </p:txBody>
      </p:sp>
      <p:sp>
        <p:nvSpPr>
          <p:cNvPr id="11" name="Text 9"/>
          <p:cNvSpPr/>
          <p:nvPr/>
        </p:nvSpPr>
        <p:spPr>
          <a:xfrm>
            <a:off x="11339195" y="1107281"/>
            <a:ext cx="50800" cy="1389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109728" indent="-107086" algn="l">
              <a:lnSpc>
                <a:spcPts val="936"/>
              </a:lnSpc>
              <a:buSzPct val="100000"/>
              <a:buChar char="•"/>
            </a:pPr>
            <a:r>
              <a:rPr lang="en-US" sz="72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Relationships in the schema become </a:t>
            </a:r>
            <a:r>
              <a:rPr lang="en-US" sz="720" b="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traversals in the query</a:t>
            </a:r>
            <a:endParaRPr lang="en-US" sz="720" dirty="0"/>
          </a:p>
          <a:p>
            <a:pPr marL="109728" indent="-107086" algn="l">
              <a:lnSpc>
                <a:spcPts val="936"/>
              </a:lnSpc>
              <a:buSzPct val="100000"/>
              <a:buChar char="•"/>
            </a:pPr>
            <a:r>
              <a:rPr lang="en-US" sz="72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from the schema — </a:t>
            </a:r>
            <a:r>
              <a:rPr lang="en-US" sz="720" b="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resolver tier</a:t>
            </a:r>
            <a:r>
              <a:rPr lang="en-US" sz="72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build or host</a:t>
            </a:r>
            <a:endParaRPr lang="en-US" sz="720" dirty="0"/>
          </a:p>
          <a:p>
            <a:pPr marL="109728" indent="-107086" algn="l">
              <a:lnSpc>
                <a:spcPts val="936"/>
              </a:lnSpc>
              <a:buSzPct val="100000"/>
              <a:buChar char="•"/>
            </a:pPr>
            <a:r>
              <a:rPr lang="en-US" sz="72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Included in the licence we are already buying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11184890" y="2695662"/>
            <a:ext cx="308610" cy="161115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9195" y="2824559"/>
            <a:ext cx="50800" cy="147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81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we use it</a:t>
            </a:r>
            <a:endParaRPr lang="en-US" sz="810" dirty="0"/>
          </a:p>
        </p:txBody>
      </p:sp>
      <p:sp>
        <p:nvSpPr>
          <p:cNvPr id="14" name="Text 12"/>
          <p:cNvSpPr/>
          <p:nvPr/>
        </p:nvSpPr>
        <p:spPr>
          <a:xfrm>
            <a:off x="11339195" y="2997919"/>
            <a:ext cx="50800" cy="120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109728" indent="-107086" algn="l">
              <a:lnSpc>
                <a:spcPts val="936"/>
              </a:lnSpc>
              <a:buSzPct val="100000"/>
              <a:buChar char="•"/>
            </a:pPr>
            <a:r>
              <a:rPr lang="en-US" sz="720" b="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 360</a:t>
            </a:r>
            <a:r>
              <a:rPr lang="en-US" sz="72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relationship tree in one call</a:t>
            </a:r>
            <a:endParaRPr lang="en-US" sz="720" dirty="0"/>
          </a:p>
          <a:p>
            <a:pPr marL="109728" indent="-107086" algn="l">
              <a:lnSpc>
                <a:spcPts val="936"/>
              </a:lnSpc>
              <a:buSzPct val="100000"/>
              <a:buChar char="•"/>
            </a:pPr>
            <a:r>
              <a:rPr lang="en-US" sz="720" b="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Downstream teams</a:t>
            </a:r>
            <a:r>
              <a:rPr lang="en-US" sz="72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 new endpoint each time</a:t>
            </a:r>
            <a:endParaRPr lang="en-US" sz="720" dirty="0"/>
          </a:p>
          <a:p>
            <a:pPr marL="109728" indent="-107086" algn="l">
              <a:lnSpc>
                <a:spcPts val="936"/>
              </a:lnSpc>
              <a:buSzPct val="100000"/>
              <a:buChar char="•"/>
            </a:pPr>
            <a:r>
              <a:rPr lang="en-US" sz="720" b="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Federation</a:t>
            </a:r>
            <a:r>
              <a:rPr lang="en-US" sz="72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joins an enterprise layer as a subgraph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11184890" y="4402063"/>
            <a:ext cx="308610" cy="1589167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9195" y="4530961"/>
            <a:ext cx="50800" cy="107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81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Governed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11339195" y="4663442"/>
            <a:ext cx="50800" cy="122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109728" indent="-107086" algn="l">
              <a:lnSpc>
                <a:spcPts val="936"/>
              </a:lnSpc>
              <a:buSzPct val="100000"/>
              <a:buChar char="•"/>
            </a:pPr>
            <a:r>
              <a:rPr lang="en-US" sz="72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and authorisation at the database</a:t>
            </a:r>
            <a:endParaRPr lang="en-US" sz="720" dirty="0"/>
          </a:p>
          <a:p>
            <a:pPr marL="109728" indent="-107086" algn="l">
              <a:lnSpc>
                <a:spcPts val="936"/>
              </a:lnSpc>
              <a:buSzPct val="100000"/>
              <a:buChar char="•"/>
            </a:pPr>
            <a:r>
              <a:rPr lang="en-US" sz="72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 policies beneath the query — scoping cannot be bypassed</a:t>
            </a:r>
            <a:endParaRPr lang="en-US" sz="720" dirty="0"/>
          </a:p>
          <a:p>
            <a:pPr marL="109728" indent="-107086" algn="l">
              <a:lnSpc>
                <a:spcPts val="936"/>
              </a:lnSpc>
              <a:buSzPct val="100000"/>
              <a:buChar char="•"/>
            </a:pPr>
            <a:r>
              <a:rPr lang="en-US" sz="72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depth and complexity limits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812800" y="6271258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089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Graph, vectors, algorithms, MPP and GraphQL in one platform and one licence — rather than assembled from several.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46758"/>
            <a:ext cx="9086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B99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810385" y="609600"/>
            <a:ext cx="3376533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Context engineering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1099827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agent given everything produces noise. An agent given the right context produces a defensible answer.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1475742"/>
            <a:ext cx="1444149" cy="1539557"/>
          </a:xfrm>
          <a:prstGeom prst="roundRect">
            <a:avLst>
              <a:gd name="adj" fmla="val 5276"/>
            </a:avLst>
          </a:prstGeom>
          <a:solidFill>
            <a:srgbClr val="F5F8F9"/>
          </a:solidFill>
          <a:ln/>
        </p:spPr>
      </p:sp>
      <p:sp>
        <p:nvSpPr>
          <p:cNvPr id="6" name="Text 4"/>
          <p:cNvSpPr/>
          <p:nvPr/>
        </p:nvSpPr>
        <p:spPr>
          <a:xfrm>
            <a:off x="927100" y="1602742"/>
            <a:ext cx="12663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89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7100" y="1866900"/>
            <a:ext cx="126634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Retrieval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27100" y="2108200"/>
            <a:ext cx="1266349" cy="805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36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Candidates from graph, documents and memory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33149" y="1475742"/>
            <a:ext cx="1444228" cy="1539557"/>
          </a:xfrm>
          <a:prstGeom prst="roundRect">
            <a:avLst>
              <a:gd name="adj" fmla="val 5276"/>
            </a:avLst>
          </a:prstGeom>
          <a:solidFill>
            <a:srgbClr val="F5F8F9"/>
          </a:solidFill>
          <a:ln/>
        </p:spPr>
      </p:sp>
      <p:sp>
        <p:nvSpPr>
          <p:cNvPr id="10" name="Text 8"/>
          <p:cNvSpPr/>
          <p:nvPr/>
        </p:nvSpPr>
        <p:spPr>
          <a:xfrm>
            <a:off x="2447449" y="1602742"/>
            <a:ext cx="12664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89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47449" y="1866900"/>
            <a:ext cx="126642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Ranking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447449" y="2108200"/>
            <a:ext cx="1266428" cy="805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36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Relevance, recency and business importance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53577" y="1475742"/>
            <a:ext cx="1444149" cy="1539557"/>
          </a:xfrm>
          <a:prstGeom prst="roundRect">
            <a:avLst>
              <a:gd name="adj" fmla="val 5276"/>
            </a:avLst>
          </a:prstGeom>
          <a:solidFill>
            <a:srgbClr val="F5F8F9"/>
          </a:solidFill>
          <a:ln/>
        </p:spPr>
      </p:sp>
      <p:sp>
        <p:nvSpPr>
          <p:cNvPr id="14" name="Text 12"/>
          <p:cNvSpPr/>
          <p:nvPr/>
        </p:nvSpPr>
        <p:spPr>
          <a:xfrm>
            <a:off x="3967877" y="1602742"/>
            <a:ext cx="12663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89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67877" y="1866900"/>
            <a:ext cx="126634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Filtering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967877" y="2108200"/>
            <a:ext cx="1266349" cy="61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36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rules, entitlements, thresholds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73926" y="1475742"/>
            <a:ext cx="1444228" cy="1539557"/>
          </a:xfrm>
          <a:prstGeom prst="roundRect">
            <a:avLst>
              <a:gd name="adj" fmla="val 5276"/>
            </a:avLst>
          </a:prstGeom>
          <a:solidFill>
            <a:srgbClr val="F5F8F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8226" y="1602742"/>
            <a:ext cx="12664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89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8226" y="1866900"/>
            <a:ext cx="126642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Pruning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8226" y="2108200"/>
            <a:ext cx="1266428" cy="805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36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Redundant and superseded content removed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94354" y="1475742"/>
            <a:ext cx="1444149" cy="1539557"/>
          </a:xfrm>
          <a:prstGeom prst="roundRect">
            <a:avLst>
              <a:gd name="adj" fmla="val 5276"/>
            </a:avLst>
          </a:prstGeom>
          <a:solidFill>
            <a:srgbClr val="F5F8F9"/>
          </a:solidFill>
          <a:ln/>
        </p:spPr>
      </p:sp>
      <p:sp>
        <p:nvSpPr>
          <p:cNvPr id="22" name="Text 20"/>
          <p:cNvSpPr/>
          <p:nvPr/>
        </p:nvSpPr>
        <p:spPr>
          <a:xfrm>
            <a:off x="7008654" y="1602742"/>
            <a:ext cx="12663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89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08654" y="1866900"/>
            <a:ext cx="126634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Compression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08654" y="2108200"/>
            <a:ext cx="1266349" cy="61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36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content into high-signal form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414703" y="1475742"/>
            <a:ext cx="1444149" cy="1539557"/>
          </a:xfrm>
          <a:prstGeom prst="roundRect">
            <a:avLst>
              <a:gd name="adj" fmla="val 5276"/>
            </a:avLst>
          </a:prstGeom>
          <a:solidFill>
            <a:srgbClr val="F5F8F9"/>
          </a:solidFill>
          <a:ln/>
        </p:spPr>
      </p:sp>
      <p:sp>
        <p:nvSpPr>
          <p:cNvPr id="26" name="Text 24"/>
          <p:cNvSpPr/>
          <p:nvPr/>
        </p:nvSpPr>
        <p:spPr>
          <a:xfrm>
            <a:off x="8529003" y="1602742"/>
            <a:ext cx="12663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89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29003" y="1866900"/>
            <a:ext cx="126634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Assembly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529003" y="2108200"/>
            <a:ext cx="1266349" cy="61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36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package with structure and metadata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935052" y="1475742"/>
            <a:ext cx="1444149" cy="1539557"/>
          </a:xfrm>
          <a:prstGeom prst="roundRect">
            <a:avLst>
              <a:gd name="adj" fmla="val 5276"/>
            </a:avLst>
          </a:prstGeom>
          <a:solidFill>
            <a:srgbClr val="0B1622"/>
          </a:solidFill>
          <a:ln/>
        </p:spPr>
      </p:sp>
      <p:sp>
        <p:nvSpPr>
          <p:cNvPr id="30" name="Text 28"/>
          <p:cNvSpPr/>
          <p:nvPr/>
        </p:nvSpPr>
        <p:spPr>
          <a:xfrm>
            <a:off x="10049352" y="1602742"/>
            <a:ext cx="12663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FD3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49352" y="1866900"/>
            <a:ext cx="126634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Citation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049352" y="2108200"/>
            <a:ext cx="1266349" cy="61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36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fact carries its source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2800" y="3142295"/>
            <a:ext cx="5219700" cy="1554321"/>
          </a:xfrm>
          <a:prstGeom prst="roundRect">
            <a:avLst>
              <a:gd name="adj" fmla="val 5720"/>
            </a:avLst>
          </a:prstGeom>
          <a:solidFill>
            <a:srgbClr val="F5F8F9"/>
          </a:solidFill>
          <a:ln/>
        </p:spPr>
      </p:sp>
      <p:sp>
        <p:nvSpPr>
          <p:cNvPr id="34" name="Shape 32"/>
          <p:cNvSpPr/>
          <p:nvPr/>
        </p:nvSpPr>
        <p:spPr>
          <a:xfrm>
            <a:off x="812800" y="3142295"/>
            <a:ext cx="5219700" cy="1554321"/>
          </a:xfrm>
          <a:custGeom>
            <a:avLst/>
            <a:gdLst/>
            <a:ahLst/>
            <a:cxnLst/>
            <a:rect l="l" t="t" r="r" b="b"/>
            <a:pathLst>
              <a:path w="5219700" h="1554321">
                <a:moveTo>
                  <a:pt x="88900" y="1554321"/>
                </a:moveTo>
                <a:lnTo>
                  <a:pt x="88900" y="1554321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lnTo>
                  <a:pt x="88900" y="0"/>
                </a:lnTo>
                <a:arcTo wR="57150" hR="88900" stAng="16200000" swAng="-5400000"/>
                <a:lnTo>
                  <a:pt x="31750" y="1465421"/>
                </a:lnTo>
                <a:arcTo wR="57150" hR="88900" stAng="10800000" swAng="-5400000"/>
                <a:close/>
              </a:path>
            </a:pathLst>
          </a:custGeom>
          <a:solidFill>
            <a:srgbClr val="10897A"/>
          </a:solidFill>
          <a:ln/>
        </p:spPr>
      </p:sp>
      <p:sp>
        <p:nvSpPr>
          <p:cNvPr id="35" name="Text 33"/>
          <p:cNvSpPr/>
          <p:nvPr/>
        </p:nvSpPr>
        <p:spPr>
          <a:xfrm>
            <a:off x="1008380" y="3281995"/>
            <a:ext cx="5004791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Context sources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008380" y="3551238"/>
            <a:ext cx="5004791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584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knowledge graph — entities, relationships, as-of state</a:t>
            </a:r>
            <a:endParaRPr lang="en-US" sz="1200" dirty="0"/>
          </a:p>
          <a:p>
            <a:pPr marL="182880" indent="-148844" algn="l">
              <a:lnSpc>
                <a:spcPts val="1584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documents and policies, via governed retrieval</a:t>
            </a:r>
            <a:endParaRPr lang="en-US" sz="1200" dirty="0"/>
          </a:p>
          <a:p>
            <a:pPr marL="182880" indent="-148844" algn="l">
              <a:lnSpc>
                <a:spcPts val="1584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 and agent memory</a:t>
            </a:r>
            <a:endParaRPr lang="en-US" sz="1200" dirty="0"/>
          </a:p>
          <a:p>
            <a:pPr marL="182880" indent="-148844" algn="l">
              <a:lnSpc>
                <a:spcPts val="1584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 and household history · computed insights and outcomes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59500" y="3142295"/>
            <a:ext cx="5219700" cy="1554321"/>
          </a:xfrm>
          <a:prstGeom prst="roundRect">
            <a:avLst>
              <a:gd name="adj" fmla="val 5720"/>
            </a:avLst>
          </a:prstGeom>
          <a:solidFill>
            <a:srgbClr val="F5F8F9"/>
          </a:solidFill>
          <a:ln/>
        </p:spPr>
      </p:sp>
      <p:sp>
        <p:nvSpPr>
          <p:cNvPr id="38" name="Shape 36"/>
          <p:cNvSpPr/>
          <p:nvPr/>
        </p:nvSpPr>
        <p:spPr>
          <a:xfrm>
            <a:off x="6159500" y="3142295"/>
            <a:ext cx="5219700" cy="1554321"/>
          </a:xfrm>
          <a:custGeom>
            <a:avLst/>
            <a:gdLst/>
            <a:ahLst/>
            <a:cxnLst/>
            <a:rect l="l" t="t" r="r" b="b"/>
            <a:pathLst>
              <a:path w="5219700" h="1554321">
                <a:moveTo>
                  <a:pt x="88900" y="1554321"/>
                </a:moveTo>
                <a:lnTo>
                  <a:pt x="88900" y="1554321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lnTo>
                  <a:pt x="88900" y="0"/>
                </a:lnTo>
                <a:arcTo wR="57150" hR="88900" stAng="16200000" swAng="-5400000"/>
                <a:lnTo>
                  <a:pt x="31750" y="1465421"/>
                </a:lnTo>
                <a:arcTo wR="57150" hR="88900" stAng="10800000" swAng="-5400000"/>
                <a:close/>
              </a:path>
            </a:pathLst>
          </a:custGeom>
          <a:solidFill>
            <a:srgbClr val="D98324"/>
          </a:solidFill>
          <a:ln/>
        </p:spPr>
      </p:sp>
      <p:sp>
        <p:nvSpPr>
          <p:cNvPr id="39" name="Text 37"/>
          <p:cNvSpPr/>
          <p:nvPr/>
        </p:nvSpPr>
        <p:spPr>
          <a:xfrm>
            <a:off x="6355080" y="3281995"/>
            <a:ext cx="5004791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it also controls cost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355080" y="3551238"/>
            <a:ext cx="5004791" cy="829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584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Ranking, filtering, pruning and compression run </a:t>
            </a:r>
            <a:r>
              <a:rPr lang="en-US" sz="1200" b="1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model call</a:t>
            </a:r>
            <a:endParaRPr lang="en-US" sz="1200" dirty="0"/>
          </a:p>
          <a:p>
            <a:pPr marL="182880" indent="-148844" algn="l">
              <a:lnSpc>
                <a:spcPts val="1584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sees a fraction of the candidate context</a:t>
            </a:r>
            <a:endParaRPr lang="en-US" sz="1200" dirty="0"/>
          </a:p>
          <a:p>
            <a:pPr marL="182880" indent="-148844" algn="l">
              <a:lnSpc>
                <a:spcPts val="1584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and cost improve together, not in tension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12800" y="6271258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089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claim an agent makes traces to a passage or a query result. Nothing is generated from memory alone.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46758"/>
            <a:ext cx="9086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B99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810385" y="609600"/>
            <a:ext cx="3519525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Trust and verification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1099827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0B162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missing answer is acceptable. A confident wrong number is not.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5975" y="1585602"/>
            <a:ext cx="5213350" cy="2006124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2980" y="1739900"/>
            <a:ext cx="50257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Before the agent answers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2980" y="2029458"/>
            <a:ext cx="50257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message classified, then admitted or blocked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2980" y="2319027"/>
            <a:ext cx="592058" cy="314960"/>
          </a:xfrm>
          <a:prstGeom prst="roundRect">
            <a:avLst>
              <a:gd name="adj" fmla="val 16129"/>
            </a:avLst>
          </a:prstGeom>
          <a:solidFill>
            <a:srgbClr val="E4F1EE"/>
          </a:solidFill>
          <a:ln/>
        </p:spPr>
      </p:sp>
      <p:sp>
        <p:nvSpPr>
          <p:cNvPr id="9" name="Text 7"/>
          <p:cNvSpPr/>
          <p:nvPr/>
        </p:nvSpPr>
        <p:spPr>
          <a:xfrm>
            <a:off x="1071880" y="2369827"/>
            <a:ext cx="46505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B4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25838" y="2319027"/>
            <a:ext cx="1348899" cy="314960"/>
          </a:xfrm>
          <a:prstGeom prst="roundRect">
            <a:avLst>
              <a:gd name="adj" fmla="val 16129"/>
            </a:avLst>
          </a:prstGeom>
          <a:solidFill>
            <a:srgbClr val="FBEAE7"/>
          </a:solidFill>
          <a:ln/>
        </p:spPr>
      </p:sp>
      <p:sp>
        <p:nvSpPr>
          <p:cNvPr id="11" name="Text 9"/>
          <p:cNvSpPr/>
          <p:nvPr/>
        </p:nvSpPr>
        <p:spPr>
          <a:xfrm>
            <a:off x="1714738" y="2369827"/>
            <a:ext cx="12218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C2E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injection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25537" y="2319027"/>
            <a:ext cx="831929" cy="314960"/>
          </a:xfrm>
          <a:prstGeom prst="roundRect">
            <a:avLst>
              <a:gd name="adj" fmla="val 16129"/>
            </a:avLst>
          </a:prstGeom>
          <a:solidFill>
            <a:srgbClr val="FBEAE7"/>
          </a:solidFill>
          <a:ln/>
        </p:spPr>
      </p:sp>
      <p:sp>
        <p:nvSpPr>
          <p:cNvPr id="13" name="Text 11"/>
          <p:cNvSpPr/>
          <p:nvPr/>
        </p:nvSpPr>
        <p:spPr>
          <a:xfrm>
            <a:off x="3114437" y="2369827"/>
            <a:ext cx="7049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C2E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Jailbreak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08266" y="2319027"/>
            <a:ext cx="1269603" cy="314960"/>
          </a:xfrm>
          <a:prstGeom prst="roundRect">
            <a:avLst>
              <a:gd name="adj" fmla="val 16129"/>
            </a:avLst>
          </a:prstGeom>
          <a:solidFill>
            <a:srgbClr val="FBEAE7"/>
          </a:solidFill>
          <a:ln/>
        </p:spPr>
      </p:sp>
      <p:sp>
        <p:nvSpPr>
          <p:cNvPr id="15" name="Text 13"/>
          <p:cNvSpPr/>
          <p:nvPr/>
        </p:nvSpPr>
        <p:spPr>
          <a:xfrm>
            <a:off x="3997166" y="2369827"/>
            <a:ext cx="114260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C2E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injection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82980" y="2684785"/>
            <a:ext cx="1512570" cy="314960"/>
          </a:xfrm>
          <a:prstGeom prst="roundRect">
            <a:avLst>
              <a:gd name="adj" fmla="val 16129"/>
            </a:avLst>
          </a:prstGeom>
          <a:solidFill>
            <a:srgbClr val="FBEAE7"/>
          </a:solidFill>
          <a:ln/>
        </p:spPr>
      </p:sp>
      <p:sp>
        <p:nvSpPr>
          <p:cNvPr id="17" name="Text 15"/>
          <p:cNvSpPr/>
          <p:nvPr/>
        </p:nvSpPr>
        <p:spPr>
          <a:xfrm>
            <a:off x="1071880" y="2735585"/>
            <a:ext cx="13855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C2E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engineering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46350" y="2684785"/>
            <a:ext cx="1317466" cy="314960"/>
          </a:xfrm>
          <a:prstGeom prst="roundRect">
            <a:avLst>
              <a:gd name="adj" fmla="val 16129"/>
            </a:avLst>
          </a:prstGeom>
          <a:solidFill>
            <a:srgbClr val="FBEAE7"/>
          </a:solidFill>
          <a:ln/>
        </p:spPr>
      </p:sp>
      <p:sp>
        <p:nvSpPr>
          <p:cNvPr id="19" name="Text 17"/>
          <p:cNvSpPr/>
          <p:nvPr/>
        </p:nvSpPr>
        <p:spPr>
          <a:xfrm>
            <a:off x="2635250" y="2735585"/>
            <a:ext cx="119046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C2E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exfiltration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14616" y="2684785"/>
            <a:ext cx="801132" cy="314960"/>
          </a:xfrm>
          <a:prstGeom prst="roundRect">
            <a:avLst>
              <a:gd name="adj" fmla="val 16129"/>
            </a:avLst>
          </a:prstGeom>
          <a:solidFill>
            <a:srgbClr val="FBEAE7"/>
          </a:solidFill>
          <a:ln/>
        </p:spPr>
      </p:sp>
      <p:sp>
        <p:nvSpPr>
          <p:cNvPr id="21" name="Text 19"/>
          <p:cNvSpPr/>
          <p:nvPr/>
        </p:nvSpPr>
        <p:spPr>
          <a:xfrm>
            <a:off x="4003516" y="2735585"/>
            <a:ext cx="6741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C2E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 topic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82980" y="3075942"/>
            <a:ext cx="50257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Fails closed — doubt blocks rather than admits.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62675" y="1585602"/>
            <a:ext cx="5213350" cy="2006124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9680" y="1739900"/>
            <a:ext cx="50257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After the agent answers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29680" y="2029458"/>
            <a:ext cx="5025720" cy="1433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584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figure must appear in the retrieved data</a:t>
            </a:r>
            <a:endParaRPr lang="en-US" sz="1200" dirty="0"/>
          </a:p>
          <a:p>
            <a:pPr marL="182880" indent="-148844" algn="l">
              <a:lnSpc>
                <a:spcPts val="1584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Roundings and verified sums or differences permitted</a:t>
            </a:r>
            <a:endParaRPr lang="en-US" sz="1200" dirty="0"/>
          </a:p>
          <a:p>
            <a:pPr marL="182880" indent="-148844" algn="l">
              <a:lnSpc>
                <a:spcPts val="1584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Percentages pass only where numerator and denominator are named together</a:t>
            </a:r>
            <a:endParaRPr lang="en-US" sz="1200" dirty="0"/>
          </a:p>
          <a:p>
            <a:pPr marL="182880" indent="-148844" algn="l">
              <a:lnSpc>
                <a:spcPts val="1584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rows copied from query results, never generated</a:t>
            </a:r>
            <a:endParaRPr lang="en-US" sz="1200" dirty="0"/>
          </a:p>
          <a:p>
            <a:pPr marL="182880" indent="-148844" algn="l">
              <a:lnSpc>
                <a:spcPts val="1584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Coverage computed and flagged when out of range</a:t>
            </a:r>
            <a:endParaRPr lang="en-US" sz="1200" dirty="0"/>
          </a:p>
          <a:p>
            <a:pPr marL="182880" indent="-148844" algn="l">
              <a:lnSpc>
                <a:spcPts val="1584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Literal prompt-leak check on every answer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5975" y="3725069"/>
            <a:ext cx="5218430" cy="133477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2980" y="3866679"/>
            <a:ext cx="5030953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B16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 failure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82980" y="4135921"/>
            <a:ext cx="5030953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48844" algn="l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unverified figure is surfaced, not displayed</a:t>
            </a:r>
            <a:endParaRPr lang="en-US" sz="1200" dirty="0"/>
          </a:p>
          <a:p>
            <a:pPr marL="182880" indent="-148844" algn="l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retry on the fallback route</a:t>
            </a:r>
            <a:endParaRPr lang="en-US" sz="1200" dirty="0"/>
          </a:p>
          <a:p>
            <a:pPr marL="182880" indent="-148844" algn="l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5C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Then an honest failure state, recorded on the run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64580" y="3721894"/>
            <a:ext cx="5214620" cy="1341120"/>
          </a:xfrm>
          <a:prstGeom prst="roundRect">
            <a:avLst>
              <a:gd name="adj" fmla="val 6629"/>
            </a:avLst>
          </a:prstGeom>
          <a:solidFill>
            <a:srgbClr val="0B1622"/>
          </a:solidFill>
          <a:ln/>
        </p:spPr>
      </p:sp>
      <p:sp>
        <p:nvSpPr>
          <p:cNvPr id="30" name="Text 28"/>
          <p:cNvSpPr/>
          <p:nvPr/>
        </p:nvSpPr>
        <p:spPr>
          <a:xfrm>
            <a:off x="6329680" y="3861594"/>
            <a:ext cx="5030953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deterministic, not a judge model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329680" y="4130836"/>
            <a:ext cx="5030953" cy="817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gate reproduces every piece of arithmetic. Anything unreproducible does not pass — no judgement call is involved. In a compensation system that is the only standard that holds up to audit.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4109</Words>
  <Application>Microsoft Office PowerPoint</Application>
  <PresentationFormat>Widescreen</PresentationFormat>
  <Paragraphs>612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Courier New</vt:lpstr>
      <vt:lpstr>Instrument Serif</vt:lpstr>
      <vt:lpstr>Inter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Graph-Powered Intelligence — Architecture Review</dc:title>
  <dc:subject>PptxGenJS Presentation</dc:subject>
  <dc:creator>PptxGenJS</dc:creator>
  <cp:lastModifiedBy>JANAGARAJ MOHAN</cp:lastModifiedBy>
  <cp:revision>2</cp:revision>
  <dcterms:created xsi:type="dcterms:W3CDTF">2026-09-29T16:09:55Z</dcterms:created>
  <dcterms:modified xsi:type="dcterms:W3CDTF">2026-09-29T16:13:02Z</dcterms:modified>
</cp:coreProperties>
</file>